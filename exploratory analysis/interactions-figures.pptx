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1" r:id="rId2"/>
    <p:sldId id="262" r:id="rId3"/>
    <p:sldId id="259" r:id="rId4"/>
    <p:sldId id="264" r:id="rId5"/>
    <p:sldId id="260" r:id="rId6"/>
    <p:sldId id="263" r:id="rId7"/>
    <p:sldId id="265" r:id="rId8"/>
    <p:sldId id="266" r:id="rId9"/>
    <p:sldId id="268" r:id="rId10"/>
    <p:sldId id="267" r:id="rId11"/>
    <p:sldId id="269" r:id="rId12"/>
    <p:sldId id="271" r:id="rId13"/>
    <p:sldId id="272" r:id="rId14"/>
    <p:sldId id="270" r:id="rId15"/>
    <p:sldId id="256" r:id="rId16"/>
    <p:sldId id="257" r:id="rId17"/>
    <p:sldId id="286" r:id="rId18"/>
    <p:sldId id="287" r:id="rId19"/>
    <p:sldId id="280" r:id="rId20"/>
    <p:sldId id="283" r:id="rId21"/>
    <p:sldId id="284" r:id="rId22"/>
    <p:sldId id="285" r:id="rId23"/>
    <p:sldId id="281" r:id="rId24"/>
    <p:sldId id="282" r:id="rId25"/>
    <p:sldId id="288" r:id="rId26"/>
    <p:sldId id="29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E5D6"/>
    <a:srgbClr val="FEF2FE"/>
    <a:srgbClr val="E2F0D9"/>
    <a:srgbClr val="FDD9F8"/>
    <a:srgbClr val="DEEBF7"/>
    <a:srgbClr val="B4C7E7"/>
    <a:srgbClr val="DDFFF4"/>
    <a:srgbClr val="FBE2E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85" autoAdjust="0"/>
    <p:restoredTop sz="94660"/>
  </p:normalViewPr>
  <p:slideViewPr>
    <p:cSldViewPr snapToGrid="0">
      <p:cViewPr varScale="1">
        <p:scale>
          <a:sx n="89" d="100"/>
          <a:sy n="89" d="100"/>
        </p:scale>
        <p:origin x="542" y="36"/>
      </p:cViewPr>
      <p:guideLst>
        <p:guide orient="horz" pos="2160"/>
        <p:guide pos="2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237744" cy="23774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9EE656-39F0-496B-B1A6-77E1AB905078}" type="doc">
      <dgm:prSet loTypeId="urn:microsoft.com/office/officeart/2009/layout/ReverseList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i-FI"/>
        </a:p>
      </dgm:t>
    </dgm:pt>
    <dgm:pt modelId="{1E103A42-6762-46AF-8EC2-D7FC9C1D1B4A}">
      <dgm:prSet phldrT="[Text]" custT="1"/>
      <dgm:spPr/>
      <dgm:t>
        <a:bodyPr/>
        <a:lstStyle/>
        <a:p>
          <a:r>
            <a:rPr lang="en-US" sz="1000" dirty="0">
              <a:latin typeface="Arial Black" panose="020B0A04020102020204" pitchFamily="34" charset="0"/>
            </a:rPr>
            <a:t>App</a:t>
          </a:r>
          <a:r>
            <a:rPr lang="en-US" sz="1000" dirty="0"/>
            <a:t> </a:t>
          </a:r>
          <a:r>
            <a:rPr lang="en-US" sz="1000" b="0" dirty="0">
              <a:latin typeface="Arial Black" panose="020B0A04020102020204" pitchFamily="34" charset="0"/>
            </a:rPr>
            <a:t>Info</a:t>
          </a:r>
          <a:endParaRPr lang="fi-FI" sz="1000" b="0" dirty="0">
            <a:latin typeface="Arial Black" panose="020B0A04020102020204" pitchFamily="34" charset="0"/>
          </a:endParaRPr>
        </a:p>
      </dgm:t>
    </dgm:pt>
    <dgm:pt modelId="{6A487F30-B118-48B7-9B54-3451A75661B4}" type="parTrans" cxnId="{76D2E1DB-CA1C-4E53-811D-517F913E1D0D}">
      <dgm:prSet/>
      <dgm:spPr/>
      <dgm:t>
        <a:bodyPr/>
        <a:lstStyle/>
        <a:p>
          <a:endParaRPr lang="fi-FI"/>
        </a:p>
      </dgm:t>
    </dgm:pt>
    <dgm:pt modelId="{ECC19D2A-C1D4-4E30-9CC9-C24A59B4417B}" type="sibTrans" cxnId="{76D2E1DB-CA1C-4E53-811D-517F913E1D0D}">
      <dgm:prSet/>
      <dgm:spPr/>
      <dgm:t>
        <a:bodyPr/>
        <a:lstStyle/>
        <a:p>
          <a:endParaRPr lang="fi-FI"/>
        </a:p>
      </dgm:t>
    </dgm:pt>
    <dgm:pt modelId="{A38F2350-B1A6-4889-B073-7D2B7153AE4F}">
      <dgm:prSet phldrT="[Text]" custT="1"/>
      <dgm:spPr/>
      <dgm:t>
        <a:bodyPr/>
        <a:lstStyle/>
        <a:p>
          <a:r>
            <a:rPr lang="en-US" sz="1000" dirty="0">
              <a:latin typeface="Arial Black" panose="020B0A04020102020204" pitchFamily="34" charset="0"/>
            </a:rPr>
            <a:t>Countries</a:t>
          </a:r>
          <a:endParaRPr lang="fi-FI" sz="1000" b="0" dirty="0">
            <a:latin typeface="Arial Black" panose="020B0A04020102020204" pitchFamily="34" charset="0"/>
          </a:endParaRPr>
        </a:p>
      </dgm:t>
    </dgm:pt>
    <dgm:pt modelId="{51203964-BE9F-4EF2-AC56-A29DBAE8F7B1}" type="parTrans" cxnId="{F0D50B5B-9F4E-4C99-B37C-6BF8AEF7CE0D}">
      <dgm:prSet/>
      <dgm:spPr/>
      <dgm:t>
        <a:bodyPr/>
        <a:lstStyle/>
        <a:p>
          <a:endParaRPr lang="fi-FI"/>
        </a:p>
      </dgm:t>
    </dgm:pt>
    <dgm:pt modelId="{20688A1C-B994-4D48-951F-03ED97678D80}" type="sibTrans" cxnId="{F0D50B5B-9F4E-4C99-B37C-6BF8AEF7CE0D}">
      <dgm:prSet/>
      <dgm:spPr/>
      <dgm:t>
        <a:bodyPr/>
        <a:lstStyle/>
        <a:p>
          <a:endParaRPr lang="fi-FI"/>
        </a:p>
      </dgm:t>
    </dgm:pt>
    <dgm:pt modelId="{F1AA5D3E-4F0D-47B2-AF94-370D57F6B007}" type="pres">
      <dgm:prSet presAssocID="{059EE656-39F0-496B-B1A6-77E1AB905078}" presName="Name0" presStyleCnt="0">
        <dgm:presLayoutVars>
          <dgm:chMax val="2"/>
          <dgm:chPref val="2"/>
          <dgm:animLvl val="lvl"/>
        </dgm:presLayoutVars>
      </dgm:prSet>
      <dgm:spPr/>
    </dgm:pt>
    <dgm:pt modelId="{1E8C32C8-3954-4FF0-8D51-39016472AD60}" type="pres">
      <dgm:prSet presAssocID="{059EE656-39F0-496B-B1A6-77E1AB905078}" presName="LeftText" presStyleLbl="revTx" presStyleIdx="0" presStyleCnt="0">
        <dgm:presLayoutVars>
          <dgm:bulletEnabled val="1"/>
        </dgm:presLayoutVars>
      </dgm:prSet>
      <dgm:spPr/>
    </dgm:pt>
    <dgm:pt modelId="{CB13122B-3ED3-4EFD-9A12-05D6E5930219}" type="pres">
      <dgm:prSet presAssocID="{059EE656-39F0-496B-B1A6-77E1AB905078}" presName="LeftNode" presStyleLbl="bgImgPlace1" presStyleIdx="0" presStyleCnt="2" custScaleX="155298" custLinFactNeighborX="-62142" custLinFactNeighborY="-2909">
        <dgm:presLayoutVars>
          <dgm:chMax val="2"/>
          <dgm:chPref val="2"/>
        </dgm:presLayoutVars>
      </dgm:prSet>
      <dgm:spPr/>
    </dgm:pt>
    <dgm:pt modelId="{12FBC826-22C3-46AF-9B0C-D796E125F662}" type="pres">
      <dgm:prSet presAssocID="{059EE656-39F0-496B-B1A6-77E1AB905078}" presName="RightText" presStyleLbl="revTx" presStyleIdx="0" presStyleCnt="0" custScaleX="141801" custLinFactNeighborX="-37647" custLinFactNeighborY="-51">
        <dgm:presLayoutVars>
          <dgm:bulletEnabled val="1"/>
        </dgm:presLayoutVars>
      </dgm:prSet>
      <dgm:spPr/>
    </dgm:pt>
    <dgm:pt modelId="{8D614914-C232-4DA5-BD79-40807F81CAE3}" type="pres">
      <dgm:prSet presAssocID="{059EE656-39F0-496B-B1A6-77E1AB905078}" presName="RightNode" presStyleLbl="bgImgPlace1" presStyleIdx="1" presStyleCnt="2" custScaleX="184579" custScaleY="109525" custLinFactNeighborX="-936">
        <dgm:presLayoutVars>
          <dgm:chMax val="0"/>
          <dgm:chPref val="0"/>
        </dgm:presLayoutVars>
      </dgm:prSet>
      <dgm:spPr/>
    </dgm:pt>
    <dgm:pt modelId="{A15BBFA9-02B2-4D95-8AF9-C24CC1096B46}" type="pres">
      <dgm:prSet presAssocID="{059EE656-39F0-496B-B1A6-77E1AB905078}" presName="TopArrow" presStyleLbl="node1" presStyleIdx="0" presStyleCnt="2"/>
      <dgm:spPr/>
    </dgm:pt>
    <dgm:pt modelId="{806172F6-1B96-477A-80C9-475DFA76692C}" type="pres">
      <dgm:prSet presAssocID="{059EE656-39F0-496B-B1A6-77E1AB905078}" presName="BottomArrow" presStyleLbl="node1" presStyleIdx="1" presStyleCnt="2"/>
      <dgm:spPr/>
    </dgm:pt>
  </dgm:ptLst>
  <dgm:cxnLst>
    <dgm:cxn modelId="{9141CC12-AFDB-4989-AEA1-F3214B1F6915}" type="presOf" srcId="{A38F2350-B1A6-4889-B073-7D2B7153AE4F}" destId="{12FBC826-22C3-46AF-9B0C-D796E125F662}" srcOrd="0" destOrd="0" presId="urn:microsoft.com/office/officeart/2009/layout/ReverseList"/>
    <dgm:cxn modelId="{A9F22125-6DF2-4393-B6D1-25F8518D219A}" type="presOf" srcId="{A38F2350-B1A6-4889-B073-7D2B7153AE4F}" destId="{8D614914-C232-4DA5-BD79-40807F81CAE3}" srcOrd="1" destOrd="0" presId="urn:microsoft.com/office/officeart/2009/layout/ReverseList"/>
    <dgm:cxn modelId="{F0D50B5B-9F4E-4C99-B37C-6BF8AEF7CE0D}" srcId="{059EE656-39F0-496B-B1A6-77E1AB905078}" destId="{A38F2350-B1A6-4889-B073-7D2B7153AE4F}" srcOrd="1" destOrd="0" parTransId="{51203964-BE9F-4EF2-AC56-A29DBAE8F7B1}" sibTransId="{20688A1C-B994-4D48-951F-03ED97678D80}"/>
    <dgm:cxn modelId="{425586B6-C78B-47D5-A8F4-5E938526B7CC}" type="presOf" srcId="{1E103A42-6762-46AF-8EC2-D7FC9C1D1B4A}" destId="{1E8C32C8-3954-4FF0-8D51-39016472AD60}" srcOrd="0" destOrd="0" presId="urn:microsoft.com/office/officeart/2009/layout/ReverseList"/>
    <dgm:cxn modelId="{09A4BEB6-1DE2-433F-8CC4-A8FB404E514F}" type="presOf" srcId="{059EE656-39F0-496B-B1A6-77E1AB905078}" destId="{F1AA5D3E-4F0D-47B2-AF94-370D57F6B007}" srcOrd="0" destOrd="0" presId="urn:microsoft.com/office/officeart/2009/layout/ReverseList"/>
    <dgm:cxn modelId="{76D2E1DB-CA1C-4E53-811D-517F913E1D0D}" srcId="{059EE656-39F0-496B-B1A6-77E1AB905078}" destId="{1E103A42-6762-46AF-8EC2-D7FC9C1D1B4A}" srcOrd="0" destOrd="0" parTransId="{6A487F30-B118-48B7-9B54-3451A75661B4}" sibTransId="{ECC19D2A-C1D4-4E30-9CC9-C24A59B4417B}"/>
    <dgm:cxn modelId="{AD6282F1-8136-4BFA-9910-EEB9BA9F121A}" type="presOf" srcId="{1E103A42-6762-46AF-8EC2-D7FC9C1D1B4A}" destId="{CB13122B-3ED3-4EFD-9A12-05D6E5930219}" srcOrd="1" destOrd="0" presId="urn:microsoft.com/office/officeart/2009/layout/ReverseList"/>
    <dgm:cxn modelId="{2B7B3C2C-7C90-4D13-8BE4-1D377523F5EB}" type="presParOf" srcId="{F1AA5D3E-4F0D-47B2-AF94-370D57F6B007}" destId="{1E8C32C8-3954-4FF0-8D51-39016472AD60}" srcOrd="0" destOrd="0" presId="urn:microsoft.com/office/officeart/2009/layout/ReverseList"/>
    <dgm:cxn modelId="{078834C9-DB4D-46B0-BB1F-8B53B31B2995}" type="presParOf" srcId="{F1AA5D3E-4F0D-47B2-AF94-370D57F6B007}" destId="{CB13122B-3ED3-4EFD-9A12-05D6E5930219}" srcOrd="1" destOrd="0" presId="urn:microsoft.com/office/officeart/2009/layout/ReverseList"/>
    <dgm:cxn modelId="{0906A975-59DA-4E90-BA4B-71AF148ECD74}" type="presParOf" srcId="{F1AA5D3E-4F0D-47B2-AF94-370D57F6B007}" destId="{12FBC826-22C3-46AF-9B0C-D796E125F662}" srcOrd="2" destOrd="0" presId="urn:microsoft.com/office/officeart/2009/layout/ReverseList"/>
    <dgm:cxn modelId="{FDE03ED1-CA84-454F-89A0-EBE83173A46D}" type="presParOf" srcId="{F1AA5D3E-4F0D-47B2-AF94-370D57F6B007}" destId="{8D614914-C232-4DA5-BD79-40807F81CAE3}" srcOrd="3" destOrd="0" presId="urn:microsoft.com/office/officeart/2009/layout/ReverseList"/>
    <dgm:cxn modelId="{71DFF8DD-14FD-4E7A-85D5-5AF96B1536AC}" type="presParOf" srcId="{F1AA5D3E-4F0D-47B2-AF94-370D57F6B007}" destId="{A15BBFA9-02B2-4D95-8AF9-C24CC1096B46}" srcOrd="4" destOrd="0" presId="urn:microsoft.com/office/officeart/2009/layout/ReverseList"/>
    <dgm:cxn modelId="{6F383AEE-3088-483E-BE5B-D7325E9A17C1}" type="presParOf" srcId="{F1AA5D3E-4F0D-47B2-AF94-370D57F6B007}" destId="{806172F6-1B96-477A-80C9-475DFA76692C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3122B-3ED3-4EFD-9A12-05D6E5930219}">
      <dsp:nvSpPr>
        <dsp:cNvPr id="0" name=""/>
        <dsp:cNvSpPr/>
      </dsp:nvSpPr>
      <dsp:spPr>
        <a:xfrm rot="16200000">
          <a:off x="638180" y="205686"/>
          <a:ext cx="750144" cy="711913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63500" rIns="57150" bIns="635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 Black" panose="020B0A04020102020204" pitchFamily="34" charset="0"/>
            </a:rPr>
            <a:t>App</a:t>
          </a:r>
          <a:r>
            <a:rPr lang="en-US" sz="1000" kern="1200" dirty="0"/>
            <a:t> </a:t>
          </a:r>
          <a:r>
            <a:rPr lang="en-US" sz="1000" b="0" kern="1200" dirty="0">
              <a:latin typeface="Arial Black" panose="020B0A04020102020204" pitchFamily="34" charset="0"/>
            </a:rPr>
            <a:t>Info</a:t>
          </a:r>
          <a:endParaRPr lang="fi-FI" sz="1000" b="0" kern="1200" dirty="0">
            <a:latin typeface="Arial Black" panose="020B0A04020102020204" pitchFamily="34" charset="0"/>
          </a:endParaRPr>
        </a:p>
      </dsp:txBody>
      <dsp:txXfrm rot="5400000">
        <a:off x="692055" y="221330"/>
        <a:ext cx="677154" cy="680626"/>
      </dsp:txXfrm>
    </dsp:sp>
    <dsp:sp modelId="{8D614914-C232-4DA5-BD79-40807F81CAE3}">
      <dsp:nvSpPr>
        <dsp:cNvPr id="0" name=""/>
        <dsp:cNvSpPr/>
      </dsp:nvSpPr>
      <dsp:spPr>
        <a:xfrm rot="5400000">
          <a:off x="1362267" y="160393"/>
          <a:ext cx="821596" cy="846143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tint val="50000"/>
            <a:hueOff val="-880662"/>
            <a:satOff val="-76170"/>
            <a:lumOff val="87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63500" rIns="38100" bIns="635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 Black" panose="020B0A04020102020204" pitchFamily="34" charset="0"/>
            </a:rPr>
            <a:t>Countries</a:t>
          </a:r>
          <a:endParaRPr lang="fi-FI" sz="1000" b="0" kern="1200" dirty="0">
            <a:latin typeface="Arial Black" panose="020B0A04020102020204" pitchFamily="34" charset="0"/>
          </a:endParaRPr>
        </a:p>
      </dsp:txBody>
      <dsp:txXfrm rot="-5400000">
        <a:off x="1349994" y="212780"/>
        <a:ext cx="806029" cy="741368"/>
      </dsp:txXfrm>
    </dsp:sp>
    <dsp:sp modelId="{A15BBFA9-02B2-4D95-8AF9-C24CC1096B46}">
      <dsp:nvSpPr>
        <dsp:cNvPr id="0" name=""/>
        <dsp:cNvSpPr/>
      </dsp:nvSpPr>
      <dsp:spPr>
        <a:xfrm>
          <a:off x="1298075" y="0"/>
          <a:ext cx="479233" cy="479210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172F6-1B96-477A-80C9-475DFA76692C}">
      <dsp:nvSpPr>
        <dsp:cNvPr id="0" name=""/>
        <dsp:cNvSpPr/>
      </dsp:nvSpPr>
      <dsp:spPr>
        <a:xfrm rot="10800000">
          <a:off x="1298075" y="687603"/>
          <a:ext cx="479233" cy="479210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F630B-DB2C-4CEA-B8A3-CD38AC10CDEF}" type="datetimeFigureOut">
              <a:rPr lang="fi-FI" smtClean="0"/>
              <a:t>25.9.2026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F2ECE-3F12-4132-949F-72FD2E9C945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6780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2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5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4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0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9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7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48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8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03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8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0BDE3-4869-41B6-8FF7-86B9DD0EDB1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6BDC6-5F92-4213-A8BF-80EB2E99E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diagramLayout" Target="../diagrams/layout1.xml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diagramData" Target="../diagrams/data1.xml"/><Relationship Id="rId16" Type="http://schemas.openxmlformats.org/officeDocument/2006/relationships/image" Target="../media/image19.png"/><Relationship Id="rId20" Type="http://schemas.openxmlformats.org/officeDocument/2006/relationships/image" Target="../media/image23.jpe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jpe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jpe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/>
          <p:cNvCxnSpPr/>
          <p:nvPr/>
        </p:nvCxnSpPr>
        <p:spPr>
          <a:xfrm flipH="1">
            <a:off x="1881266" y="200025"/>
            <a:ext cx="24371" cy="3054626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4264702" y="200025"/>
            <a:ext cx="42687" cy="305462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6809441" y="200025"/>
            <a:ext cx="29721" cy="306414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9235179" y="200025"/>
            <a:ext cx="39781" cy="30117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4492996" y="2013311"/>
            <a:ext cx="2203812" cy="1060823"/>
          </a:xfrm>
          <a:prstGeom prst="rect">
            <a:avLst/>
          </a:prstGeom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4694426" y="897884"/>
            <a:ext cx="1910414" cy="1006933"/>
          </a:xfrm>
          <a:prstGeom prst="rect">
            <a:avLst/>
          </a:prstGeom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1175671" y="1103987"/>
            <a:ext cx="485344" cy="441158"/>
          </a:xfrm>
          <a:prstGeom prst="ellipse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29666" y="1103987"/>
            <a:ext cx="485344" cy="44115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94" y="897437"/>
            <a:ext cx="8178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Feature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985" y="888776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Feature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005" y="2830552"/>
            <a:ext cx="9140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Outcome Y</a:t>
            </a:r>
          </a:p>
        </p:txBody>
      </p:sp>
      <p:cxnSp>
        <p:nvCxnSpPr>
          <p:cNvPr id="31" name="Elbow Connector 30"/>
          <p:cNvCxnSpPr>
            <a:stCxn id="2" idx="4"/>
            <a:endCxn id="51" idx="0"/>
          </p:cNvCxnSpPr>
          <p:nvPr/>
        </p:nvCxnSpPr>
        <p:spPr>
          <a:xfrm rot="5400000">
            <a:off x="1051317" y="1538173"/>
            <a:ext cx="360055" cy="37399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36773" y="2412835"/>
            <a:ext cx="485344" cy="441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ounded Rectangle 51"/>
          <p:cNvSpPr/>
          <p:nvPr/>
        </p:nvSpPr>
        <p:spPr>
          <a:xfrm>
            <a:off x="469257" y="1905200"/>
            <a:ext cx="1117759" cy="276999"/>
          </a:xfrm>
          <a:prstGeom prst="roundRect">
            <a:avLst/>
          </a:prstGeom>
          <a:solidFill>
            <a:srgbClr val="FAB4B4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Elbow Connector 56"/>
          <p:cNvCxnSpPr>
            <a:stCxn id="5" idx="4"/>
            <a:endCxn id="51" idx="0"/>
          </p:cNvCxnSpPr>
          <p:nvPr/>
        </p:nvCxnSpPr>
        <p:spPr>
          <a:xfrm rot="16200000" flipH="1">
            <a:off x="528314" y="1389169"/>
            <a:ext cx="360055" cy="67200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0765" y="1905200"/>
            <a:ext cx="1087157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Probabilities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78745" y="927377"/>
            <a:ext cx="1914307" cy="2616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Additive Interaction (Add)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47514" y="2046861"/>
            <a:ext cx="2337499" cy="2616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Multiplicative Interaction (Multi)</a:t>
            </a:r>
          </a:p>
        </p:txBody>
      </p:sp>
      <p:sp>
        <p:nvSpPr>
          <p:cNvPr id="91" name="Oval 90"/>
          <p:cNvSpPr/>
          <p:nvPr/>
        </p:nvSpPr>
        <p:spPr>
          <a:xfrm>
            <a:off x="5271647" y="1162784"/>
            <a:ext cx="206277" cy="207594"/>
          </a:xfrm>
          <a:prstGeom prst="ellipse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/>
          <p:cNvSpPr/>
          <p:nvPr/>
        </p:nvSpPr>
        <p:spPr>
          <a:xfrm>
            <a:off x="5614502" y="1162784"/>
            <a:ext cx="206277" cy="207594"/>
          </a:xfrm>
          <a:prstGeom prst="ellipse">
            <a:avLst/>
          </a:prstGeom>
          <a:ln w="190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5423330" y="1112429"/>
            <a:ext cx="264816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+</a:t>
            </a:r>
          </a:p>
        </p:txBody>
      </p:sp>
      <p:sp>
        <p:nvSpPr>
          <p:cNvPr id="94" name="Oval 93"/>
          <p:cNvSpPr/>
          <p:nvPr/>
        </p:nvSpPr>
        <p:spPr>
          <a:xfrm>
            <a:off x="6063401" y="1161804"/>
            <a:ext cx="206277" cy="207594"/>
          </a:xfrm>
          <a:prstGeom prst="ellipse">
            <a:avLst/>
          </a:prstGeom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5869489" y="1265601"/>
            <a:ext cx="1452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5321120" y="2292494"/>
            <a:ext cx="206277" cy="207594"/>
          </a:xfrm>
          <a:prstGeom prst="ellipse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5683025" y="2292494"/>
            <a:ext cx="206277" cy="207594"/>
          </a:xfrm>
          <a:prstGeom prst="ellipse">
            <a:avLst/>
          </a:prstGeom>
          <a:ln w="190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5472803" y="2242139"/>
            <a:ext cx="261610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x</a:t>
            </a:r>
          </a:p>
        </p:txBody>
      </p:sp>
      <p:sp>
        <p:nvSpPr>
          <p:cNvPr id="100" name="Oval 99"/>
          <p:cNvSpPr/>
          <p:nvPr/>
        </p:nvSpPr>
        <p:spPr>
          <a:xfrm>
            <a:off x="6112874" y="2291514"/>
            <a:ext cx="206277" cy="207594"/>
          </a:xfrm>
          <a:prstGeom prst="ellipse">
            <a:avLst/>
          </a:prstGeom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5928487" y="2395311"/>
            <a:ext cx="1452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4768406" y="1539200"/>
            <a:ext cx="1574470" cy="307777"/>
          </a:xfrm>
          <a:prstGeom prst="rect">
            <a:avLst/>
          </a:prstGeom>
          <a:ln w="19050">
            <a:solidFill>
              <a:srgbClr val="F33F3F"/>
            </a:solidFill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Microsoft JhengHei" panose="020B0604030504040204" pitchFamily="34" charset="-120"/>
              </a:rPr>
              <a:t>p₁₁ − p₁₀ − p₀₁ + p₀₀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41181" y="2671473"/>
            <a:ext cx="1725671" cy="307777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(p₁₁ x </a:t>
            </a:r>
            <a:r>
              <a:rPr lang="en-US" sz="1400" dirty="0">
                <a:solidFill>
                  <a:srgbClr val="FF0000"/>
                </a:solidFill>
                <a:ea typeface="Microsoft JhengHei" panose="020B0604030504040204" pitchFamily="34" charset="-120"/>
              </a:rPr>
              <a:t>p₀₀</a:t>
            </a:r>
            <a:r>
              <a:rPr lang="en-US" sz="1400" dirty="0">
                <a:solidFill>
                  <a:srgbClr val="FF0000"/>
                </a:solidFill>
              </a:rPr>
              <a:t>) / (p₁₀ × p₀₁)</a:t>
            </a:r>
            <a:endParaRPr lang="en-US" sz="1400" i="1" dirty="0">
              <a:solidFill>
                <a:srgbClr val="FF0000"/>
              </a:solidFill>
            </a:endParaRPr>
          </a:p>
        </p:txBody>
      </p:sp>
      <p:cxnSp>
        <p:nvCxnSpPr>
          <p:cNvPr id="124" name="Straight Arrow Connector 123"/>
          <p:cNvCxnSpPr>
            <a:stCxn id="114" idx="0"/>
            <a:endCxn id="93" idx="2"/>
          </p:cNvCxnSpPr>
          <p:nvPr/>
        </p:nvCxnSpPr>
        <p:spPr>
          <a:xfrm flipV="1">
            <a:off x="5555641" y="1389428"/>
            <a:ext cx="97" cy="1497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118" idx="0"/>
            <a:endCxn id="99" idx="2"/>
          </p:cNvCxnSpPr>
          <p:nvPr/>
        </p:nvCxnSpPr>
        <p:spPr>
          <a:xfrm flipH="1" flipV="1">
            <a:off x="5603608" y="2519138"/>
            <a:ext cx="409" cy="1523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Elbow Connector 67"/>
          <p:cNvCxnSpPr>
            <a:stCxn id="50" idx="6"/>
            <a:endCxn id="52" idx="2"/>
          </p:cNvCxnSpPr>
          <p:nvPr/>
        </p:nvCxnSpPr>
        <p:spPr>
          <a:xfrm flipV="1">
            <a:off x="922117" y="2182199"/>
            <a:ext cx="106020" cy="45121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7918077" y="1781959"/>
            <a:ext cx="349769" cy="314730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Elbow Connector 53"/>
          <p:cNvCxnSpPr>
            <a:stCxn id="10" idx="0"/>
            <a:endCxn id="1040" idx="3"/>
          </p:cNvCxnSpPr>
          <p:nvPr/>
        </p:nvCxnSpPr>
        <p:spPr>
          <a:xfrm rot="5400000" flipH="1" flipV="1">
            <a:off x="7863294" y="1417163"/>
            <a:ext cx="594464" cy="13512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/>
          <p:cNvCxnSpPr>
            <a:stCxn id="10" idx="2"/>
            <a:endCxn id="1036" idx="1"/>
          </p:cNvCxnSpPr>
          <p:nvPr/>
        </p:nvCxnSpPr>
        <p:spPr>
          <a:xfrm rot="16200000" flipH="1">
            <a:off x="7893715" y="2295935"/>
            <a:ext cx="530842" cy="13234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807283" y="1023275"/>
            <a:ext cx="1627369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 Add &gt; 0 &amp; Multi</a:t>
            </a:r>
            <a:r>
              <a:rPr lang="fr-FR" sz="1050" b="1" dirty="0">
                <a:latin typeface="Segoe UI Variable Small Semibol" pitchFamily="2" charset="0"/>
              </a:rPr>
              <a:t> &gt;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Positive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807283" y="2407468"/>
            <a:ext cx="1627369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(Add &lt; 0 &amp; Multi</a:t>
            </a:r>
            <a:r>
              <a:rPr lang="fr-FR" sz="1050" b="1" dirty="0">
                <a:latin typeface="Segoe UI Variable Small Semibol" pitchFamily="2" charset="0"/>
              </a:rPr>
              <a:t> &lt;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Negative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948878" y="1651897"/>
            <a:ext cx="1590500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(Add = 0 &amp; Multi</a:t>
            </a:r>
            <a:r>
              <a:rPr lang="fr-FR" sz="1050" b="1" dirty="0">
                <a:latin typeface="Segoe UI Variable Small Semibol" pitchFamily="2" charset="0"/>
              </a:rPr>
              <a:t> =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No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pic>
        <p:nvPicPr>
          <p:cNvPr id="1028" name="Picture 4" descr="Red cross not OK vector symbol | Free SV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486" y="1812491"/>
            <a:ext cx="192423" cy="192423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umbs down Generic Outline Color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311" y="2496562"/>
            <a:ext cx="261938" cy="261938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humb up - free icon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85" r="13507" b="3750"/>
          <a:stretch/>
        </p:blipFill>
        <p:spPr bwMode="auto">
          <a:xfrm flipH="1">
            <a:off x="8228090" y="1016045"/>
            <a:ext cx="387037" cy="342900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" name="Elbow Connector 104"/>
          <p:cNvCxnSpPr>
            <a:stCxn id="111" idx="3"/>
            <a:endCxn id="141" idx="1"/>
          </p:cNvCxnSpPr>
          <p:nvPr/>
        </p:nvCxnSpPr>
        <p:spPr>
          <a:xfrm>
            <a:off x="6604840" y="1401351"/>
            <a:ext cx="461528" cy="53797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167" idx="3"/>
            <a:endCxn id="141" idx="1"/>
          </p:cNvCxnSpPr>
          <p:nvPr/>
        </p:nvCxnSpPr>
        <p:spPr>
          <a:xfrm flipV="1">
            <a:off x="6696808" y="1939324"/>
            <a:ext cx="369560" cy="60439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082111" y="1273718"/>
            <a:ext cx="1904967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P₀₀ =&gt; </a:t>
            </a:r>
            <a:r>
              <a:rPr lang="es-ES" sz="1300" b="1" dirty="0"/>
              <a:t>Y = 1 | A = 0, B = 0</a:t>
            </a:r>
            <a:endParaRPr lang="en-US" sz="1300" b="1" dirty="0"/>
          </a:p>
        </p:txBody>
      </p:sp>
      <p:sp>
        <p:nvSpPr>
          <p:cNvPr id="55" name="Rectangle 54"/>
          <p:cNvSpPr/>
          <p:nvPr/>
        </p:nvSpPr>
        <p:spPr>
          <a:xfrm>
            <a:off x="2074559" y="1682131"/>
            <a:ext cx="1911897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P₁₀ =&gt; </a:t>
            </a:r>
            <a:r>
              <a:rPr lang="es-ES" sz="1300" b="1" dirty="0"/>
              <a:t>Y = 1 | A = 1, B = 0</a:t>
            </a:r>
            <a:endParaRPr lang="en-US" sz="1300" b="1" dirty="0"/>
          </a:p>
        </p:txBody>
      </p:sp>
      <p:sp>
        <p:nvSpPr>
          <p:cNvPr id="58" name="Rectangle 57"/>
          <p:cNvSpPr/>
          <p:nvPr/>
        </p:nvSpPr>
        <p:spPr>
          <a:xfrm>
            <a:off x="2068906" y="2123277"/>
            <a:ext cx="1917085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P₀₁ =&gt; </a:t>
            </a:r>
            <a:r>
              <a:rPr lang="es-ES" sz="1300" b="1" dirty="0"/>
              <a:t>Y = 1 | A = 0, B = 1</a:t>
            </a:r>
            <a:endParaRPr lang="en-US" sz="1300" b="1" dirty="0"/>
          </a:p>
        </p:txBody>
      </p:sp>
      <p:sp>
        <p:nvSpPr>
          <p:cNvPr id="59" name="Rectangle 58"/>
          <p:cNvSpPr/>
          <p:nvPr/>
        </p:nvSpPr>
        <p:spPr>
          <a:xfrm>
            <a:off x="2065135" y="2534433"/>
            <a:ext cx="1921276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P₁₁ =&gt; </a:t>
            </a:r>
            <a:r>
              <a:rPr lang="es-ES" sz="1300" b="1" dirty="0"/>
              <a:t>Y = 1 | A = 1, B = 1</a:t>
            </a:r>
            <a:endParaRPr lang="en-US" sz="1300" b="1" dirty="0"/>
          </a:p>
        </p:txBody>
      </p:sp>
      <p:sp>
        <p:nvSpPr>
          <p:cNvPr id="78" name="Rectangle 77"/>
          <p:cNvSpPr/>
          <p:nvPr/>
        </p:nvSpPr>
        <p:spPr>
          <a:xfrm>
            <a:off x="1978941" y="1208450"/>
            <a:ext cx="2058555" cy="16823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Arrow Connector 111"/>
          <p:cNvCxnSpPr>
            <a:stCxn id="52" idx="3"/>
            <a:endCxn id="78" idx="1"/>
          </p:cNvCxnSpPr>
          <p:nvPr/>
        </p:nvCxnSpPr>
        <p:spPr>
          <a:xfrm>
            <a:off x="1587016" y="2043700"/>
            <a:ext cx="391925" cy="59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78" idx="3"/>
            <a:endCxn id="111" idx="1"/>
          </p:cNvCxnSpPr>
          <p:nvPr/>
        </p:nvCxnSpPr>
        <p:spPr>
          <a:xfrm flipV="1">
            <a:off x="4037496" y="1401351"/>
            <a:ext cx="656930" cy="64828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Elbow Connector 119"/>
          <p:cNvCxnSpPr>
            <a:stCxn id="78" idx="3"/>
            <a:endCxn id="167" idx="1"/>
          </p:cNvCxnSpPr>
          <p:nvPr/>
        </p:nvCxnSpPr>
        <p:spPr>
          <a:xfrm>
            <a:off x="4037496" y="2049633"/>
            <a:ext cx="455500" cy="49409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7066368" y="1800825"/>
            <a:ext cx="700453" cy="276998"/>
          </a:xfrm>
          <a:prstGeom prst="roundRect">
            <a:avLst/>
          </a:prstGeom>
          <a:solidFill>
            <a:srgbClr val="FAB4B4"/>
          </a:solidFill>
          <a:ln w="19050">
            <a:solidFill>
              <a:srgbClr val="F7898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7078615" y="1794115"/>
            <a:ext cx="700833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95 % CI</a:t>
            </a:r>
          </a:p>
        </p:txBody>
      </p:sp>
      <p:cxnSp>
        <p:nvCxnSpPr>
          <p:cNvPr id="184" name="Straight Arrow Connector 183"/>
          <p:cNvCxnSpPr>
            <a:stCxn id="141" idx="3"/>
            <a:endCxn id="10" idx="1"/>
          </p:cNvCxnSpPr>
          <p:nvPr/>
        </p:nvCxnSpPr>
        <p:spPr>
          <a:xfrm>
            <a:off x="7766821" y="1939324"/>
            <a:ext cx="1512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-57285" y="15868"/>
            <a:ext cx="1963480" cy="7386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Microsoft JhengHei UI" panose="020B0604030504040204" pitchFamily="34" charset="-120"/>
                <a:cs typeface="Nirmala UI" panose="020B0502040204020203" pitchFamily="34" charset="0"/>
              </a:rPr>
              <a:t>Step 1 :  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Microsoft JhengHei UI" panose="020B0604030504040204" pitchFamily="34" charset="-120"/>
              </a:rPr>
              <a:t>Generate Feature Outcome Combinations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ea typeface="Microsoft JhengHei UI" panose="020B0604030504040204" pitchFamily="34" charset="-120"/>
              <a:cs typeface="Nirmala UI" panose="020B0502040204020203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171355" y="20988"/>
            <a:ext cx="1847942" cy="73866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Step 2 :  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 Observed 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Outcome Probabilities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212333" y="22263"/>
            <a:ext cx="2696756" cy="7386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Step 3 :  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Evaluate Additive &amp; Multiplicative Interaction Effects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759761" y="22263"/>
            <a:ext cx="2585388" cy="73866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Step 4 :  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Compute 95% Confidence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Intervals for Interaction Metrics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447510" y="7815"/>
            <a:ext cx="1721432" cy="7386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Step 5 :  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Interpret the 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Interaction Results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903078" y="1088069"/>
            <a:ext cx="1257240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If not Includes 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24768" y="2495234"/>
            <a:ext cx="1198234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If Includes 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34936" y="834475"/>
            <a:ext cx="104290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Significant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34829" y="2657120"/>
            <a:ext cx="1042901" cy="41549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Not Significant</a:t>
            </a:r>
          </a:p>
        </p:txBody>
      </p:sp>
      <p:cxnSp>
        <p:nvCxnSpPr>
          <p:cNvPr id="115" name="Straight Arrow Connector 114"/>
          <p:cNvCxnSpPr/>
          <p:nvPr/>
        </p:nvCxnSpPr>
        <p:spPr>
          <a:xfrm flipH="1">
            <a:off x="9334819" y="864947"/>
            <a:ext cx="11896" cy="22091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 flipH="1">
            <a:off x="9330833" y="1893937"/>
            <a:ext cx="14664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 flipH="1">
            <a:off x="9328462" y="1659778"/>
            <a:ext cx="14664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 flipH="1">
            <a:off x="9192754" y="2142990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-1</a:t>
            </a:r>
          </a:p>
        </p:txBody>
      </p:sp>
      <p:sp>
        <p:nvSpPr>
          <p:cNvPr id="143" name="TextBox 142"/>
          <p:cNvSpPr txBox="1"/>
          <p:nvPr/>
        </p:nvSpPr>
        <p:spPr>
          <a:xfrm flipH="1">
            <a:off x="9204568" y="2438668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-2</a:t>
            </a:r>
          </a:p>
        </p:txBody>
      </p:sp>
      <p:sp>
        <p:nvSpPr>
          <p:cNvPr id="144" name="TextBox 143"/>
          <p:cNvSpPr txBox="1"/>
          <p:nvPr/>
        </p:nvSpPr>
        <p:spPr>
          <a:xfrm flipH="1">
            <a:off x="9232778" y="1325954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 flipH="1">
            <a:off x="9234153" y="1059467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 flipH="1">
            <a:off x="9192043" y="2665663"/>
            <a:ext cx="33673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-3</a:t>
            </a:r>
          </a:p>
        </p:txBody>
      </p:sp>
      <p:sp>
        <p:nvSpPr>
          <p:cNvPr id="147" name="TextBox 146"/>
          <p:cNvSpPr txBox="1"/>
          <p:nvPr/>
        </p:nvSpPr>
        <p:spPr>
          <a:xfrm flipH="1">
            <a:off x="9275473" y="794720"/>
            <a:ext cx="385555" cy="261610"/>
          </a:xfrm>
          <a:prstGeom prst="rect">
            <a:avLst/>
          </a:prstGeom>
          <a:noFill/>
          <a:ln w="19050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…</a:t>
            </a:r>
          </a:p>
        </p:txBody>
      </p:sp>
      <p:sp>
        <p:nvSpPr>
          <p:cNvPr id="148" name="TextBox 147"/>
          <p:cNvSpPr txBox="1"/>
          <p:nvPr/>
        </p:nvSpPr>
        <p:spPr>
          <a:xfrm flipH="1">
            <a:off x="9297707" y="2936109"/>
            <a:ext cx="385555" cy="261610"/>
          </a:xfrm>
          <a:prstGeom prst="rect">
            <a:avLst/>
          </a:prstGeom>
          <a:noFill/>
          <a:ln w="19050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…</a:t>
            </a:r>
          </a:p>
        </p:txBody>
      </p:sp>
      <p:cxnSp>
        <p:nvCxnSpPr>
          <p:cNvPr id="149" name="Elbow Connector 148"/>
          <p:cNvCxnSpPr>
            <a:stCxn id="1040" idx="1"/>
            <a:endCxn id="138" idx="3"/>
          </p:cNvCxnSpPr>
          <p:nvPr/>
        </p:nvCxnSpPr>
        <p:spPr>
          <a:xfrm>
            <a:off x="8615127" y="1187495"/>
            <a:ext cx="715706" cy="83724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Right Brace 151"/>
          <p:cNvSpPr/>
          <p:nvPr/>
        </p:nvSpPr>
        <p:spPr>
          <a:xfrm>
            <a:off x="9512326" y="914125"/>
            <a:ext cx="202330" cy="756971"/>
          </a:xfrm>
          <a:prstGeom prst="rightBrace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ight Brace 157"/>
          <p:cNvSpPr/>
          <p:nvPr/>
        </p:nvSpPr>
        <p:spPr>
          <a:xfrm>
            <a:off x="9544073" y="2268887"/>
            <a:ext cx="217413" cy="805247"/>
          </a:xfrm>
          <a:prstGeom prst="rightBrace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ight Brace 152"/>
          <p:cNvSpPr/>
          <p:nvPr/>
        </p:nvSpPr>
        <p:spPr>
          <a:xfrm>
            <a:off x="9513693" y="1792232"/>
            <a:ext cx="116459" cy="240824"/>
          </a:xfrm>
          <a:prstGeom prst="rightBrace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1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Oval 168"/>
          <p:cNvSpPr/>
          <p:nvPr/>
        </p:nvSpPr>
        <p:spPr>
          <a:xfrm>
            <a:off x="3808045" y="1203319"/>
            <a:ext cx="1784000" cy="1076459"/>
          </a:xfrm>
          <a:prstGeom prst="ellipse">
            <a:avLst/>
          </a:prstGeom>
          <a:solidFill>
            <a:srgbClr val="ECC5FF">
              <a:alpha val="4100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 rot="10183401">
            <a:off x="3622385" y="72333"/>
            <a:ext cx="2068797" cy="1075634"/>
          </a:xfrm>
          <a:prstGeom prst="ellipse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788972" y="210233"/>
            <a:ext cx="485344" cy="44115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71045" y="191102"/>
            <a:ext cx="485344" cy="44115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1434" y="260451"/>
            <a:ext cx="2808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636" y="301163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B</a:t>
            </a:r>
          </a:p>
        </p:txBody>
      </p:sp>
      <p:cxnSp>
        <p:nvCxnSpPr>
          <p:cNvPr id="31" name="Elbow Connector 30"/>
          <p:cNvCxnSpPr>
            <a:stCxn id="2" idx="4"/>
            <a:endCxn id="51" idx="0"/>
          </p:cNvCxnSpPr>
          <p:nvPr/>
        </p:nvCxnSpPr>
        <p:spPr>
          <a:xfrm rot="5400000">
            <a:off x="669473" y="673728"/>
            <a:ext cx="384508" cy="339835"/>
          </a:xfrm>
          <a:prstGeom prst="bentConnector3">
            <a:avLst>
              <a:gd name="adj1" fmla="val 2156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26184" y="1544352"/>
            <a:ext cx="485344" cy="4411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ounded Rectangle 51"/>
          <p:cNvSpPr/>
          <p:nvPr/>
        </p:nvSpPr>
        <p:spPr>
          <a:xfrm>
            <a:off x="90581" y="1028606"/>
            <a:ext cx="1117759" cy="27699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Elbow Connector 56"/>
          <p:cNvCxnSpPr>
            <a:stCxn id="5" idx="4"/>
            <a:endCxn id="51" idx="0"/>
          </p:cNvCxnSpPr>
          <p:nvPr/>
        </p:nvCxnSpPr>
        <p:spPr>
          <a:xfrm rot="16200000" flipH="1">
            <a:off x="350944" y="695033"/>
            <a:ext cx="403639" cy="278092"/>
          </a:xfrm>
          <a:prstGeom prst="bentConnector3">
            <a:avLst>
              <a:gd name="adj1" fmla="val 2537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8628" y="1035899"/>
            <a:ext cx="1206361" cy="27699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Combinations</a:t>
            </a:r>
          </a:p>
        </p:txBody>
      </p:sp>
      <p:sp>
        <p:nvSpPr>
          <p:cNvPr id="91" name="Oval 90"/>
          <p:cNvSpPr/>
          <p:nvPr/>
        </p:nvSpPr>
        <p:spPr>
          <a:xfrm>
            <a:off x="4297915" y="308864"/>
            <a:ext cx="206277" cy="2075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/>
          <p:cNvSpPr/>
          <p:nvPr/>
        </p:nvSpPr>
        <p:spPr>
          <a:xfrm>
            <a:off x="4640770" y="308864"/>
            <a:ext cx="206277" cy="20759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4449598" y="258509"/>
            <a:ext cx="264816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+</a:t>
            </a:r>
          </a:p>
        </p:txBody>
      </p:sp>
      <p:sp>
        <p:nvSpPr>
          <p:cNvPr id="94" name="Oval 93"/>
          <p:cNvSpPr/>
          <p:nvPr/>
        </p:nvSpPr>
        <p:spPr>
          <a:xfrm>
            <a:off x="5089669" y="307884"/>
            <a:ext cx="206277" cy="20759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4895757" y="411681"/>
            <a:ext cx="1452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4296861" y="1270072"/>
            <a:ext cx="206277" cy="2075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4658766" y="1270072"/>
            <a:ext cx="206277" cy="20759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4448544" y="1219717"/>
            <a:ext cx="261610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x</a:t>
            </a:r>
          </a:p>
        </p:txBody>
      </p:sp>
      <p:sp>
        <p:nvSpPr>
          <p:cNvPr id="100" name="Oval 99"/>
          <p:cNvSpPr/>
          <p:nvPr/>
        </p:nvSpPr>
        <p:spPr>
          <a:xfrm>
            <a:off x="5088615" y="1269092"/>
            <a:ext cx="206277" cy="20759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4904228" y="1372889"/>
            <a:ext cx="1452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3853076" y="645747"/>
            <a:ext cx="1458602" cy="477054"/>
          </a:xfrm>
          <a:prstGeom prst="rect">
            <a:avLst/>
          </a:prstGeom>
          <a:ln w="12700"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Additive (Add)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  <a:ea typeface="Microsoft JhengHei" panose="020B0604030504040204" pitchFamily="34" charset="-120"/>
            </a:endParaRPr>
          </a:p>
          <a:p>
            <a:pPr algn="ctr"/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ea typeface="Microsoft JhengHei" panose="020B0604030504040204" pitchFamily="34" charset="-120"/>
              </a:rPr>
              <a:t>p₁₁ − p₁₀ − p₀₁ + p₀₀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729484" y="1599561"/>
            <a:ext cx="1705786" cy="477054"/>
          </a:xfrm>
          <a:prstGeom prst="rect">
            <a:avLst/>
          </a:prstGeom>
          <a:ln w="12700"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Multiplicative (Multi)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(p₁₁ x </a:t>
            </a: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ea typeface="Microsoft JhengHei" panose="020B0604030504040204" pitchFamily="34" charset="-120"/>
              </a:rPr>
              <a:t>p₀₀</a:t>
            </a: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/ (p₁₀ × p₀₁)</a:t>
            </a:r>
            <a:endParaRPr lang="en-US" sz="13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24" name="Straight Arrow Connector 123"/>
          <p:cNvCxnSpPr>
            <a:stCxn id="114" idx="0"/>
          </p:cNvCxnSpPr>
          <p:nvPr/>
        </p:nvCxnSpPr>
        <p:spPr>
          <a:xfrm flipV="1">
            <a:off x="4582377" y="530709"/>
            <a:ext cx="8278" cy="1150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118" idx="0"/>
          </p:cNvCxnSpPr>
          <p:nvPr/>
        </p:nvCxnSpPr>
        <p:spPr>
          <a:xfrm flipH="1" flipV="1">
            <a:off x="4581585" y="1485844"/>
            <a:ext cx="792" cy="11371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Elbow Connector 67"/>
          <p:cNvCxnSpPr>
            <a:stCxn id="50" idx="0"/>
            <a:endCxn id="52" idx="2"/>
          </p:cNvCxnSpPr>
          <p:nvPr/>
        </p:nvCxnSpPr>
        <p:spPr>
          <a:xfrm rot="16200000" flipV="1">
            <a:off x="589786" y="1365281"/>
            <a:ext cx="238747" cy="11939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6335331" y="910488"/>
            <a:ext cx="269099" cy="263415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Elbow Connector 53"/>
          <p:cNvCxnSpPr>
            <a:stCxn id="10" idx="0"/>
            <a:endCxn id="1040" idx="3"/>
          </p:cNvCxnSpPr>
          <p:nvPr/>
        </p:nvCxnSpPr>
        <p:spPr>
          <a:xfrm rot="5400000" flipH="1" flipV="1">
            <a:off x="6501997" y="674380"/>
            <a:ext cx="203993" cy="26822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/>
          <p:cNvCxnSpPr>
            <a:stCxn id="10" idx="2"/>
            <a:endCxn id="1036" idx="1"/>
          </p:cNvCxnSpPr>
          <p:nvPr/>
        </p:nvCxnSpPr>
        <p:spPr>
          <a:xfrm rot="16200000" flipH="1">
            <a:off x="6392060" y="1251724"/>
            <a:ext cx="269964" cy="11432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082244" y="196174"/>
            <a:ext cx="1627369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 Add &gt; 0 &amp; Multi</a:t>
            </a:r>
            <a:r>
              <a:rPr lang="fr-FR" sz="1050" b="1" dirty="0">
                <a:latin typeface="Segoe UI Variable Small Semibol" pitchFamily="2" charset="0"/>
              </a:rPr>
              <a:t> &gt;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Positive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082244" y="1580367"/>
            <a:ext cx="1627369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(Add &lt; 0 &amp; Multi</a:t>
            </a:r>
            <a:r>
              <a:rPr lang="fr-FR" sz="1050" b="1" dirty="0">
                <a:latin typeface="Segoe UI Variable Small Semibol" pitchFamily="2" charset="0"/>
              </a:rPr>
              <a:t> &lt;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Negative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223839" y="824796"/>
            <a:ext cx="1590500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(Add = 0 &amp; Multi</a:t>
            </a:r>
            <a:r>
              <a:rPr lang="fr-FR" sz="1050" b="1" dirty="0">
                <a:latin typeface="Segoe UI Variable Small Semibol" pitchFamily="2" charset="0"/>
              </a:rPr>
              <a:t> =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No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pic>
        <p:nvPicPr>
          <p:cNvPr id="1028" name="Picture 4" descr="Red cross not OK vector symbol | Free SV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447" y="985390"/>
            <a:ext cx="192423" cy="192423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umbs down Generic Outline Color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203" y="1312898"/>
            <a:ext cx="261938" cy="261938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humb up - free icon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85" r="13507" b="3750"/>
          <a:stretch/>
        </p:blipFill>
        <p:spPr bwMode="auto">
          <a:xfrm flipH="1">
            <a:off x="6738106" y="535045"/>
            <a:ext cx="387037" cy="342900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Rectangle 52"/>
          <p:cNvSpPr/>
          <p:nvPr/>
        </p:nvSpPr>
        <p:spPr>
          <a:xfrm>
            <a:off x="1439602" y="403923"/>
            <a:ext cx="1904967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P₀₀ =&gt; </a:t>
            </a:r>
            <a:r>
              <a:rPr lang="es-ES" sz="1300" b="1" dirty="0"/>
              <a:t>Y = 1 | A = 0, B = 0</a:t>
            </a:r>
            <a:endParaRPr lang="en-US" sz="1300" b="1" dirty="0"/>
          </a:p>
        </p:txBody>
      </p:sp>
      <p:sp>
        <p:nvSpPr>
          <p:cNvPr id="55" name="Rectangle 54"/>
          <p:cNvSpPr/>
          <p:nvPr/>
        </p:nvSpPr>
        <p:spPr>
          <a:xfrm>
            <a:off x="1432050" y="812336"/>
            <a:ext cx="1911897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P₁₀ =&gt; </a:t>
            </a:r>
            <a:r>
              <a:rPr lang="es-ES" sz="1300" b="1" dirty="0"/>
              <a:t>Y = 1 | A = 1, B = 0</a:t>
            </a:r>
            <a:endParaRPr lang="en-US" sz="1300" b="1" dirty="0"/>
          </a:p>
        </p:txBody>
      </p:sp>
      <p:sp>
        <p:nvSpPr>
          <p:cNvPr id="58" name="Rectangle 57"/>
          <p:cNvSpPr/>
          <p:nvPr/>
        </p:nvSpPr>
        <p:spPr>
          <a:xfrm>
            <a:off x="1426397" y="1253482"/>
            <a:ext cx="1917085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P₀₁ =&gt; </a:t>
            </a:r>
            <a:r>
              <a:rPr lang="es-ES" sz="1300" b="1" dirty="0"/>
              <a:t>Y = 1 | A = 0, B = 1</a:t>
            </a:r>
            <a:endParaRPr lang="en-US" sz="1300" b="1" dirty="0"/>
          </a:p>
        </p:txBody>
      </p:sp>
      <p:sp>
        <p:nvSpPr>
          <p:cNvPr id="59" name="Rectangle 58"/>
          <p:cNvSpPr/>
          <p:nvPr/>
        </p:nvSpPr>
        <p:spPr>
          <a:xfrm>
            <a:off x="1422626" y="1664638"/>
            <a:ext cx="1921276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P₁₁ =&gt; </a:t>
            </a:r>
            <a:r>
              <a:rPr lang="es-ES" sz="1300" b="1" dirty="0"/>
              <a:t>Y = 1 | A = 1, B = 1</a:t>
            </a:r>
            <a:endParaRPr lang="en-US" sz="1300" b="1" dirty="0"/>
          </a:p>
        </p:txBody>
      </p:sp>
      <p:sp>
        <p:nvSpPr>
          <p:cNvPr id="141" name="Rounded Rectangle 140"/>
          <p:cNvSpPr/>
          <p:nvPr/>
        </p:nvSpPr>
        <p:spPr>
          <a:xfrm>
            <a:off x="5582772" y="902082"/>
            <a:ext cx="605005" cy="2799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5534826" y="891996"/>
            <a:ext cx="700833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95 % CI</a:t>
            </a:r>
          </a:p>
        </p:txBody>
      </p:sp>
      <p:cxnSp>
        <p:nvCxnSpPr>
          <p:cNvPr id="184" name="Straight Arrow Connector 183"/>
          <p:cNvCxnSpPr>
            <a:stCxn id="141" idx="3"/>
            <a:endCxn id="10" idx="1"/>
          </p:cNvCxnSpPr>
          <p:nvPr/>
        </p:nvCxnSpPr>
        <p:spPr>
          <a:xfrm>
            <a:off x="6187777" y="1042070"/>
            <a:ext cx="147554" cy="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107121" y="605254"/>
            <a:ext cx="38978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∉</a:t>
            </a:r>
            <a:r>
              <a:rPr lang="en-US" sz="11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 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75401" y="1283553"/>
            <a:ext cx="420165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∈</a:t>
            </a:r>
            <a:r>
              <a:rPr lang="en-US" sz="11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 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41837" y="353389"/>
            <a:ext cx="104290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Significant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29623" y="1436704"/>
            <a:ext cx="1042901" cy="41549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Not Significant</a:t>
            </a:r>
          </a:p>
        </p:txBody>
      </p:sp>
      <p:cxnSp>
        <p:nvCxnSpPr>
          <p:cNvPr id="115" name="Straight Arrow Connector 114"/>
          <p:cNvCxnSpPr/>
          <p:nvPr/>
        </p:nvCxnSpPr>
        <p:spPr>
          <a:xfrm flipH="1">
            <a:off x="7609780" y="37846"/>
            <a:ext cx="11896" cy="22091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 flipH="1">
            <a:off x="7605794" y="1066836"/>
            <a:ext cx="14664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 flipH="1">
            <a:off x="7603423" y="832677"/>
            <a:ext cx="14664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 flipH="1">
            <a:off x="7467715" y="1315889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-1</a:t>
            </a:r>
          </a:p>
        </p:txBody>
      </p:sp>
      <p:sp>
        <p:nvSpPr>
          <p:cNvPr id="143" name="TextBox 142"/>
          <p:cNvSpPr txBox="1"/>
          <p:nvPr/>
        </p:nvSpPr>
        <p:spPr>
          <a:xfrm flipH="1">
            <a:off x="7479529" y="1611567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-2</a:t>
            </a:r>
          </a:p>
        </p:txBody>
      </p:sp>
      <p:sp>
        <p:nvSpPr>
          <p:cNvPr id="144" name="TextBox 143"/>
          <p:cNvSpPr txBox="1"/>
          <p:nvPr/>
        </p:nvSpPr>
        <p:spPr>
          <a:xfrm flipH="1">
            <a:off x="7507739" y="498853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 flipH="1">
            <a:off x="7509114" y="232366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 flipH="1">
            <a:off x="7467004" y="1838562"/>
            <a:ext cx="33673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-3</a:t>
            </a:r>
          </a:p>
        </p:txBody>
      </p:sp>
      <p:sp>
        <p:nvSpPr>
          <p:cNvPr id="147" name="TextBox 146"/>
          <p:cNvSpPr txBox="1"/>
          <p:nvPr/>
        </p:nvSpPr>
        <p:spPr>
          <a:xfrm flipH="1">
            <a:off x="7550434" y="-32381"/>
            <a:ext cx="385555" cy="261610"/>
          </a:xfrm>
          <a:prstGeom prst="rect">
            <a:avLst/>
          </a:prstGeom>
          <a:noFill/>
          <a:ln w="19050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…</a:t>
            </a:r>
          </a:p>
        </p:txBody>
      </p:sp>
      <p:sp>
        <p:nvSpPr>
          <p:cNvPr id="148" name="TextBox 147"/>
          <p:cNvSpPr txBox="1"/>
          <p:nvPr/>
        </p:nvSpPr>
        <p:spPr>
          <a:xfrm flipH="1">
            <a:off x="7572668" y="2109008"/>
            <a:ext cx="385555" cy="261610"/>
          </a:xfrm>
          <a:prstGeom prst="rect">
            <a:avLst/>
          </a:prstGeom>
          <a:noFill/>
          <a:ln w="19050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…</a:t>
            </a:r>
          </a:p>
        </p:txBody>
      </p:sp>
      <p:cxnSp>
        <p:nvCxnSpPr>
          <p:cNvPr id="149" name="Elbow Connector 148"/>
          <p:cNvCxnSpPr>
            <a:stCxn id="1040" idx="2"/>
            <a:endCxn id="138" idx="3"/>
          </p:cNvCxnSpPr>
          <p:nvPr/>
        </p:nvCxnSpPr>
        <p:spPr>
          <a:xfrm rot="16200000" flipH="1">
            <a:off x="7108861" y="700708"/>
            <a:ext cx="319696" cy="67417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Right Brace 151"/>
          <p:cNvSpPr/>
          <p:nvPr/>
        </p:nvSpPr>
        <p:spPr>
          <a:xfrm>
            <a:off x="7787287" y="87024"/>
            <a:ext cx="202330" cy="756971"/>
          </a:xfrm>
          <a:prstGeom prst="rightBrace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ight Brace 157"/>
          <p:cNvSpPr/>
          <p:nvPr/>
        </p:nvSpPr>
        <p:spPr>
          <a:xfrm>
            <a:off x="7819034" y="1441786"/>
            <a:ext cx="217413" cy="805247"/>
          </a:xfrm>
          <a:prstGeom prst="rightBrace">
            <a:avLst/>
          </a:prstGeom>
          <a:effectLst>
            <a:glow rad="228600">
              <a:srgbClr val="F05261"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ight Brace 152"/>
          <p:cNvSpPr/>
          <p:nvPr/>
        </p:nvSpPr>
        <p:spPr>
          <a:xfrm>
            <a:off x="7788654" y="965131"/>
            <a:ext cx="116459" cy="240824"/>
          </a:xfrm>
          <a:prstGeom prst="rightBrace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/>
          <p:cNvSpPr/>
          <p:nvPr/>
        </p:nvSpPr>
        <p:spPr>
          <a:xfrm>
            <a:off x="1637191" y="165460"/>
            <a:ext cx="13756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Outcome Probabilities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9686" y="1604904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Y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" y="781673"/>
            <a:ext cx="5677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Step1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277" name="Rectangle 276"/>
          <p:cNvSpPr/>
          <p:nvPr/>
        </p:nvSpPr>
        <p:spPr>
          <a:xfrm rot="18773322">
            <a:off x="984638" y="479225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Step2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281" name="Rectangle 280"/>
          <p:cNvSpPr/>
          <p:nvPr/>
        </p:nvSpPr>
        <p:spPr>
          <a:xfrm>
            <a:off x="3358218" y="654397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Step3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347" name="Right Brace 346"/>
          <p:cNvSpPr/>
          <p:nvPr/>
        </p:nvSpPr>
        <p:spPr>
          <a:xfrm>
            <a:off x="3359427" y="649923"/>
            <a:ext cx="112366" cy="1143298"/>
          </a:xfrm>
          <a:prstGeom prst="rightBrace">
            <a:avLst>
              <a:gd name="adj1" fmla="val 42419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Left Brace 348"/>
          <p:cNvSpPr/>
          <p:nvPr/>
        </p:nvSpPr>
        <p:spPr>
          <a:xfrm>
            <a:off x="1276687" y="649924"/>
            <a:ext cx="155086" cy="1143298"/>
          </a:xfrm>
          <a:prstGeom prst="leftBrace">
            <a:avLst>
              <a:gd name="adj1" fmla="val 39636"/>
              <a:gd name="adj2" fmla="val 4405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3" name="Straight Arrow Connector 432"/>
          <p:cNvCxnSpPr>
            <a:endCxn id="114" idx="1"/>
          </p:cNvCxnSpPr>
          <p:nvPr/>
        </p:nvCxnSpPr>
        <p:spPr>
          <a:xfrm flipV="1">
            <a:off x="3556570" y="884274"/>
            <a:ext cx="296506" cy="3354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6" name="Straight Arrow Connector 435"/>
          <p:cNvCxnSpPr>
            <a:endCxn id="118" idx="1"/>
          </p:cNvCxnSpPr>
          <p:nvPr/>
        </p:nvCxnSpPr>
        <p:spPr>
          <a:xfrm>
            <a:off x="3546107" y="1219717"/>
            <a:ext cx="183377" cy="6183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5" name="Right Brace 444"/>
          <p:cNvSpPr/>
          <p:nvPr/>
        </p:nvSpPr>
        <p:spPr>
          <a:xfrm>
            <a:off x="5389642" y="493112"/>
            <a:ext cx="112366" cy="1143298"/>
          </a:xfrm>
          <a:prstGeom prst="rightBrace">
            <a:avLst>
              <a:gd name="adj1" fmla="val 42419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Rectangle 445"/>
          <p:cNvSpPr/>
          <p:nvPr/>
        </p:nvSpPr>
        <p:spPr>
          <a:xfrm>
            <a:off x="5578171" y="637999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Step4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447" name="Rectangle 446"/>
          <p:cNvSpPr/>
          <p:nvPr/>
        </p:nvSpPr>
        <p:spPr>
          <a:xfrm>
            <a:off x="7016344" y="947043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Step5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911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62159" y="1906261"/>
            <a:ext cx="1228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/>
              <a:t>Downloads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5855" y="1872410"/>
            <a:ext cx="866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/>
              <a:t>Ratings</a:t>
            </a:r>
          </a:p>
        </p:txBody>
      </p:sp>
      <p:sp>
        <p:nvSpPr>
          <p:cNvPr id="6" name="Oval 5"/>
          <p:cNvSpPr/>
          <p:nvPr/>
        </p:nvSpPr>
        <p:spPr>
          <a:xfrm>
            <a:off x="1034415" y="176727"/>
            <a:ext cx="178551" cy="140901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6126" y="133199"/>
            <a:ext cx="20072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S1: Add=-0.024, Multi=0.935</a:t>
            </a:r>
          </a:p>
        </p:txBody>
      </p:sp>
      <p:sp>
        <p:nvSpPr>
          <p:cNvPr id="8" name="Oval 7"/>
          <p:cNvSpPr/>
          <p:nvPr/>
        </p:nvSpPr>
        <p:spPr>
          <a:xfrm>
            <a:off x="1034415" y="330038"/>
            <a:ext cx="180762" cy="150743"/>
          </a:xfrm>
          <a:prstGeom prst="ellipse">
            <a:avLst/>
          </a:prstGeom>
          <a:solidFill>
            <a:srgbClr val="FFB6C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6126" y="295587"/>
            <a:ext cx="20072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S2: Add=-0.037, Multi=0.955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6126" y="440664"/>
            <a:ext cx="19607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S3: Add=0.002, Multi=1.001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0179" y="703702"/>
            <a:ext cx="19607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S7: Add=0.008, Multi=0.973</a:t>
            </a:r>
          </a:p>
        </p:txBody>
      </p:sp>
      <p:sp>
        <p:nvSpPr>
          <p:cNvPr id="14" name="Oval 13"/>
          <p:cNvSpPr/>
          <p:nvPr/>
        </p:nvSpPr>
        <p:spPr>
          <a:xfrm>
            <a:off x="1046077" y="911047"/>
            <a:ext cx="183926" cy="148470"/>
          </a:xfrm>
          <a:prstGeom prst="ellipse">
            <a:avLst/>
          </a:prstGeom>
          <a:solidFill>
            <a:srgbClr val="D3D3D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0179" y="826131"/>
            <a:ext cx="19607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S8: Add=0.018, Multi=1.016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9" y="961963"/>
            <a:ext cx="19607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S9: Add=0.012, Multi=1.012</a:t>
            </a:r>
          </a:p>
        </p:txBody>
      </p:sp>
      <p:sp>
        <p:nvSpPr>
          <p:cNvPr id="18" name="Oval 17"/>
          <p:cNvSpPr/>
          <p:nvPr/>
        </p:nvSpPr>
        <p:spPr>
          <a:xfrm>
            <a:off x="1036710" y="1308370"/>
            <a:ext cx="190150" cy="166652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4181" y="1258600"/>
            <a:ext cx="20393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S13: Add=0.130, Multi=1.133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904" y="1412131"/>
            <a:ext cx="20393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S14: Add=0.008, Multi=1.001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211" y="1578053"/>
            <a:ext cx="20858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S15: Add=-0.003, Multi=0.996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2499" y="109552"/>
            <a:ext cx="19607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S4: Add=0.102, Multi=1.311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2911" y="251045"/>
            <a:ext cx="19607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S5: Add=0.208, Multi=1.330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9923" y="379035"/>
            <a:ext cx="19607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S6: Add=0.183, Multi=1.244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3444" y="694425"/>
            <a:ext cx="20393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S10: Add=0.243, Multi=1.948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5833" y="848631"/>
            <a:ext cx="20393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S11: Add=0.193, Multi=1.291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5833" y="993213"/>
            <a:ext cx="20393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S12: Add=0.068, Multi=1.078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0394" y="1311968"/>
            <a:ext cx="20393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S16: Add=0.127, Multi=1.421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3444" y="1447103"/>
            <a:ext cx="20393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S17: Add=0.226, Multi=1.359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65833" y="1580276"/>
            <a:ext cx="20393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/>
              <a:t>S18: Add=0.180, Multi=1.240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23" y="306757"/>
            <a:ext cx="95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/>
              <a:t>Ads + IAP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574" y="848557"/>
            <a:ext cx="1085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/>
              <a:t>Free + Ads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78" y="1367982"/>
            <a:ext cx="10020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/>
              <a:t>Free + IAP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933453" y="129693"/>
            <a:ext cx="16768" cy="1763308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951358" y="1880008"/>
            <a:ext cx="5352370" cy="19687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47578" y="673840"/>
            <a:ext cx="6029372" cy="4901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426961" y="37650"/>
            <a:ext cx="1483902" cy="1920249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6527688" y="37650"/>
            <a:ext cx="15139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Interaction Type</a:t>
            </a:r>
            <a:endParaRPr sz="11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6511985" y="1288033"/>
            <a:ext cx="15221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Symbol Meaning</a:t>
            </a:r>
            <a:endParaRPr sz="1100" b="1" dirty="0"/>
          </a:p>
        </p:txBody>
      </p:sp>
      <p:sp>
        <p:nvSpPr>
          <p:cNvPr id="52" name="Oval 51"/>
          <p:cNvSpPr/>
          <p:nvPr/>
        </p:nvSpPr>
        <p:spPr>
          <a:xfrm>
            <a:off x="6572670" y="1608433"/>
            <a:ext cx="252335" cy="70783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800" b="1" dirty="0"/>
              <a:t>✓</a:t>
            </a:r>
          </a:p>
        </p:txBody>
      </p:sp>
      <p:sp>
        <p:nvSpPr>
          <p:cNvPr id="53" name="Oval 52"/>
          <p:cNvSpPr/>
          <p:nvPr/>
        </p:nvSpPr>
        <p:spPr>
          <a:xfrm>
            <a:off x="6605587" y="1694474"/>
            <a:ext cx="147856" cy="2468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800" b="1" dirty="0"/>
              <a:t>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1428" y="1496335"/>
            <a:ext cx="8320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Significant</a:t>
            </a:r>
            <a:endParaRPr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6728531" y="1680900"/>
            <a:ext cx="13101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Non-Significant</a:t>
            </a:r>
            <a:endParaRPr sz="1000" dirty="0"/>
          </a:p>
        </p:txBody>
      </p:sp>
      <p:sp>
        <p:nvSpPr>
          <p:cNvPr id="56" name="Oval 55"/>
          <p:cNvSpPr/>
          <p:nvPr/>
        </p:nvSpPr>
        <p:spPr>
          <a:xfrm>
            <a:off x="6489461" y="315279"/>
            <a:ext cx="213800" cy="189838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 b="1" dirty="0"/>
          </a:p>
        </p:txBody>
      </p:sp>
      <p:sp>
        <p:nvSpPr>
          <p:cNvPr id="57" name="Oval 56"/>
          <p:cNvSpPr/>
          <p:nvPr/>
        </p:nvSpPr>
        <p:spPr>
          <a:xfrm>
            <a:off x="6489240" y="530770"/>
            <a:ext cx="213800" cy="189838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 b="1" dirty="0"/>
          </a:p>
        </p:txBody>
      </p:sp>
      <p:sp>
        <p:nvSpPr>
          <p:cNvPr id="58" name="Oval 57"/>
          <p:cNvSpPr/>
          <p:nvPr/>
        </p:nvSpPr>
        <p:spPr>
          <a:xfrm>
            <a:off x="6494368" y="756122"/>
            <a:ext cx="213800" cy="189838"/>
          </a:xfrm>
          <a:prstGeom prst="ellipse">
            <a:avLst/>
          </a:prstGeom>
          <a:solidFill>
            <a:srgbClr val="FFB6C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 b="1" dirty="0"/>
          </a:p>
        </p:txBody>
      </p:sp>
      <p:sp>
        <p:nvSpPr>
          <p:cNvPr id="59" name="Oval 58"/>
          <p:cNvSpPr/>
          <p:nvPr/>
        </p:nvSpPr>
        <p:spPr>
          <a:xfrm>
            <a:off x="6493806" y="957816"/>
            <a:ext cx="213800" cy="189838"/>
          </a:xfrm>
          <a:prstGeom prst="ellipse">
            <a:avLst/>
          </a:prstGeom>
          <a:solidFill>
            <a:srgbClr val="D3D3D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6689706" y="279246"/>
            <a:ext cx="12165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Sig + Both Scales</a:t>
            </a:r>
            <a:endParaRPr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6664767" y="505959"/>
            <a:ext cx="12165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Sig - Both Scales</a:t>
            </a:r>
            <a:endParaRPr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6664767" y="727647"/>
            <a:ext cx="12165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Sig - Multi</a:t>
            </a:r>
            <a:endParaRPr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6661386" y="928156"/>
            <a:ext cx="13101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Non-Sig</a:t>
            </a:r>
            <a:endParaRPr sz="1000" dirty="0"/>
          </a:p>
        </p:txBody>
      </p:sp>
      <p:cxnSp>
        <p:nvCxnSpPr>
          <p:cNvPr id="64" name="Straight Connector 63"/>
          <p:cNvCxnSpPr/>
          <p:nvPr/>
        </p:nvCxnSpPr>
        <p:spPr>
          <a:xfrm flipH="1">
            <a:off x="6533219" y="1264680"/>
            <a:ext cx="1235410" cy="409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45707" y="1063351"/>
            <a:ext cx="183926" cy="148470"/>
          </a:xfrm>
          <a:prstGeom prst="ellipse">
            <a:avLst/>
          </a:prstGeom>
          <a:solidFill>
            <a:srgbClr val="D3D3D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✕</a:t>
            </a:r>
          </a:p>
        </p:txBody>
      </p:sp>
      <p:sp>
        <p:nvSpPr>
          <p:cNvPr id="67" name="Oval 66"/>
          <p:cNvSpPr/>
          <p:nvPr/>
        </p:nvSpPr>
        <p:spPr>
          <a:xfrm>
            <a:off x="1044601" y="760203"/>
            <a:ext cx="183926" cy="148470"/>
          </a:xfrm>
          <a:prstGeom prst="ellipse">
            <a:avLst/>
          </a:prstGeom>
          <a:solidFill>
            <a:srgbClr val="D3D3D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✕</a:t>
            </a:r>
          </a:p>
        </p:txBody>
      </p:sp>
      <p:sp>
        <p:nvSpPr>
          <p:cNvPr id="68" name="Oval 67"/>
          <p:cNvSpPr/>
          <p:nvPr/>
        </p:nvSpPr>
        <p:spPr>
          <a:xfrm>
            <a:off x="1034415" y="504120"/>
            <a:ext cx="183926" cy="148470"/>
          </a:xfrm>
          <a:prstGeom prst="ellipse">
            <a:avLst/>
          </a:prstGeom>
          <a:solidFill>
            <a:srgbClr val="D3D3D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✕</a:t>
            </a:r>
          </a:p>
        </p:txBody>
      </p:sp>
      <p:sp>
        <p:nvSpPr>
          <p:cNvPr id="69" name="Oval 68"/>
          <p:cNvSpPr/>
          <p:nvPr/>
        </p:nvSpPr>
        <p:spPr>
          <a:xfrm>
            <a:off x="1045887" y="1473197"/>
            <a:ext cx="183926" cy="148470"/>
          </a:xfrm>
          <a:prstGeom prst="ellipse">
            <a:avLst/>
          </a:prstGeom>
          <a:solidFill>
            <a:srgbClr val="D3D3D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✕</a:t>
            </a:r>
          </a:p>
        </p:txBody>
      </p:sp>
      <p:sp>
        <p:nvSpPr>
          <p:cNvPr id="70" name="Oval 69"/>
          <p:cNvSpPr/>
          <p:nvPr/>
        </p:nvSpPr>
        <p:spPr>
          <a:xfrm>
            <a:off x="1045517" y="1625501"/>
            <a:ext cx="183926" cy="148470"/>
          </a:xfrm>
          <a:prstGeom prst="ellipse">
            <a:avLst/>
          </a:prstGeom>
          <a:solidFill>
            <a:srgbClr val="D3D3D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✕</a:t>
            </a:r>
          </a:p>
        </p:txBody>
      </p:sp>
      <p:cxnSp>
        <p:nvCxnSpPr>
          <p:cNvPr id="71" name="Straight Connector 70"/>
          <p:cNvCxnSpPr/>
          <p:nvPr/>
        </p:nvCxnSpPr>
        <p:spPr>
          <a:xfrm flipH="1">
            <a:off x="28574" y="1250836"/>
            <a:ext cx="6048376" cy="1736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3691316" y="1375030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5" name="Oval 74"/>
          <p:cNvSpPr/>
          <p:nvPr/>
        </p:nvSpPr>
        <p:spPr>
          <a:xfrm>
            <a:off x="3700841" y="1523301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6" name="Oval 75"/>
          <p:cNvSpPr/>
          <p:nvPr/>
        </p:nvSpPr>
        <p:spPr>
          <a:xfrm>
            <a:off x="3700841" y="1671572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8" name="Oval 77"/>
          <p:cNvSpPr/>
          <p:nvPr/>
        </p:nvSpPr>
        <p:spPr>
          <a:xfrm>
            <a:off x="3691316" y="765430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9" name="Oval 78"/>
          <p:cNvSpPr/>
          <p:nvPr/>
        </p:nvSpPr>
        <p:spPr>
          <a:xfrm>
            <a:off x="3700841" y="913032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80" name="Oval 79"/>
          <p:cNvSpPr/>
          <p:nvPr/>
        </p:nvSpPr>
        <p:spPr>
          <a:xfrm>
            <a:off x="3700841" y="1070159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81" name="Oval 80"/>
          <p:cNvSpPr/>
          <p:nvPr/>
        </p:nvSpPr>
        <p:spPr>
          <a:xfrm>
            <a:off x="3700841" y="155421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82" name="Oval 81"/>
          <p:cNvSpPr/>
          <p:nvPr/>
        </p:nvSpPr>
        <p:spPr>
          <a:xfrm>
            <a:off x="3710708" y="302090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83" name="Oval 82"/>
          <p:cNvSpPr/>
          <p:nvPr/>
        </p:nvSpPr>
        <p:spPr>
          <a:xfrm>
            <a:off x="3710708" y="460794"/>
            <a:ext cx="179211" cy="108824"/>
          </a:xfrm>
          <a:prstGeom prst="ellipse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13496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4FD728-2C2E-9FF2-FE3F-1AC60757EFB7}"/>
              </a:ext>
            </a:extLst>
          </p:cNvPr>
          <p:cNvSpPr/>
          <p:nvPr/>
        </p:nvSpPr>
        <p:spPr>
          <a:xfrm>
            <a:off x="1783080" y="359686"/>
            <a:ext cx="2019994" cy="6649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Fast Playing Genres</a:t>
            </a:r>
          </a:p>
          <a:p>
            <a:pPr algn="r"/>
            <a:r>
              <a:rPr lang="en-US" sz="1000" dirty="0"/>
              <a:t>        (Action, Arcade, Casual, Racing, Sports)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B8493B-6B5D-31B9-DA20-F37A2195B253}"/>
              </a:ext>
            </a:extLst>
          </p:cNvPr>
          <p:cNvSpPr/>
          <p:nvPr/>
        </p:nvSpPr>
        <p:spPr>
          <a:xfrm>
            <a:off x="1783079" y="1978019"/>
            <a:ext cx="1873899" cy="638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Learning Genres</a:t>
            </a:r>
          </a:p>
          <a:p>
            <a:pPr algn="r"/>
            <a:r>
              <a:rPr lang="en-US" sz="1000" dirty="0">
                <a:solidFill>
                  <a:schemeClr val="tx1"/>
                </a:solidFill>
              </a:rPr>
              <a:t>                (Educational, Puzzle, Music, Trivia, Word)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3EEFEA-F30C-481F-ACF0-0C44FF8D0596}"/>
              </a:ext>
            </a:extLst>
          </p:cNvPr>
          <p:cNvSpPr/>
          <p:nvPr/>
        </p:nvSpPr>
        <p:spPr>
          <a:xfrm>
            <a:off x="1797117" y="3803467"/>
            <a:ext cx="2005956" cy="5890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Complex Genres</a:t>
            </a:r>
          </a:p>
          <a:p>
            <a:pPr algn="r"/>
            <a:r>
              <a:rPr lang="en-US" sz="1000" dirty="0"/>
              <a:t> (Strategy, Simulation, </a:t>
            </a:r>
          </a:p>
          <a:p>
            <a:pPr algn="r"/>
            <a:r>
              <a:rPr lang="en-US" sz="1000" dirty="0"/>
              <a:t>Role Playing)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DFBCFB-AFE1-F564-0299-DAB1B3AE4F23}"/>
              </a:ext>
            </a:extLst>
          </p:cNvPr>
          <p:cNvSpPr/>
          <p:nvPr/>
        </p:nvSpPr>
        <p:spPr>
          <a:xfrm>
            <a:off x="1831861" y="5633460"/>
            <a:ext cx="2005051" cy="590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Restricted Genres</a:t>
            </a:r>
          </a:p>
          <a:p>
            <a:pPr algn="r"/>
            <a:r>
              <a:rPr lang="en-US" sz="1000" dirty="0"/>
              <a:t>(Casino, Board, Card 18+)</a:t>
            </a:r>
            <a:endParaRPr lang="en-US" sz="1400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D4E2F80-7B27-EB6A-E1E6-7D229B2F41E8}"/>
              </a:ext>
            </a:extLst>
          </p:cNvPr>
          <p:cNvCxnSpPr>
            <a:cxnSpLocks/>
            <a:stCxn id="1212" idx="3"/>
            <a:endCxn id="7" idx="1"/>
          </p:cNvCxnSpPr>
          <p:nvPr/>
        </p:nvCxnSpPr>
        <p:spPr>
          <a:xfrm flipV="1">
            <a:off x="1127493" y="692165"/>
            <a:ext cx="655587" cy="2217617"/>
          </a:xfrm>
          <a:prstGeom prst="bentConnector3">
            <a:avLst>
              <a:gd name="adj1" fmla="val 5507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0C52D8D-03DC-CC24-BFCC-928507F6A305}"/>
              </a:ext>
            </a:extLst>
          </p:cNvPr>
          <p:cNvCxnSpPr>
            <a:cxnSpLocks/>
            <a:stCxn id="1212" idx="3"/>
            <a:endCxn id="13" idx="1"/>
          </p:cNvCxnSpPr>
          <p:nvPr/>
        </p:nvCxnSpPr>
        <p:spPr>
          <a:xfrm flipV="1">
            <a:off x="1127493" y="2297419"/>
            <a:ext cx="655586" cy="612363"/>
          </a:xfrm>
          <a:prstGeom prst="bentConnector3">
            <a:avLst>
              <a:gd name="adj1" fmla="val 5570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5D64795-4A49-EA8C-F1D8-D339DB0356C3}"/>
              </a:ext>
            </a:extLst>
          </p:cNvPr>
          <p:cNvCxnSpPr>
            <a:cxnSpLocks/>
            <a:stCxn id="1212" idx="3"/>
            <a:endCxn id="14" idx="1"/>
          </p:cNvCxnSpPr>
          <p:nvPr/>
        </p:nvCxnSpPr>
        <p:spPr>
          <a:xfrm>
            <a:off x="1127493" y="2909782"/>
            <a:ext cx="669624" cy="1188206"/>
          </a:xfrm>
          <a:prstGeom prst="bentConnector3">
            <a:avLst>
              <a:gd name="adj1" fmla="val 5186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6082420-3851-0207-CD7F-480BC7D84D44}"/>
              </a:ext>
            </a:extLst>
          </p:cNvPr>
          <p:cNvCxnSpPr>
            <a:cxnSpLocks/>
            <a:stCxn id="1212" idx="3"/>
            <a:endCxn id="19" idx="1"/>
          </p:cNvCxnSpPr>
          <p:nvPr/>
        </p:nvCxnSpPr>
        <p:spPr>
          <a:xfrm>
            <a:off x="1127493" y="2909782"/>
            <a:ext cx="704368" cy="301907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DEA9503-BB2B-7E29-0A20-E7A846E4BCBC}"/>
              </a:ext>
            </a:extLst>
          </p:cNvPr>
          <p:cNvSpPr/>
          <p:nvPr/>
        </p:nvSpPr>
        <p:spPr>
          <a:xfrm>
            <a:off x="4608326" y="158020"/>
            <a:ext cx="50153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Free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72BE96B-7DA9-21F9-E5DA-56E9848D9CB8}"/>
              </a:ext>
            </a:extLst>
          </p:cNvPr>
          <p:cNvSpPr/>
          <p:nvPr/>
        </p:nvSpPr>
        <p:spPr>
          <a:xfrm>
            <a:off x="6973899" y="163420"/>
            <a:ext cx="50153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Paid</a:t>
            </a: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44D25185-BD9C-7FEB-BC05-EE199CF3F4E8}"/>
              </a:ext>
            </a:extLst>
          </p:cNvPr>
          <p:cNvCxnSpPr>
            <a:cxnSpLocks/>
            <a:stCxn id="7" idx="3"/>
            <a:endCxn id="47" idx="1"/>
          </p:cNvCxnSpPr>
          <p:nvPr/>
        </p:nvCxnSpPr>
        <p:spPr>
          <a:xfrm flipV="1">
            <a:off x="3803074" y="351292"/>
            <a:ext cx="805252" cy="340873"/>
          </a:xfrm>
          <a:prstGeom prst="bentConnector3">
            <a:avLst>
              <a:gd name="adj1" fmla="val 45355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2DDC1F7-5B3B-4A78-E424-0D2B72DF83B3}"/>
              </a:ext>
            </a:extLst>
          </p:cNvPr>
          <p:cNvSpPr/>
          <p:nvPr/>
        </p:nvSpPr>
        <p:spPr>
          <a:xfrm>
            <a:off x="9035367" y="155437"/>
            <a:ext cx="2619679" cy="408497"/>
          </a:xfrm>
          <a:prstGeom prst="rect">
            <a:avLst/>
          </a:prstGeom>
          <a:solidFill>
            <a:srgbClr val="FFE3E1">
              <a:alpha val="90588"/>
            </a:srgbClr>
          </a:soli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Downloads (–10k to 20K/ -5% to -10%)</a:t>
            </a:r>
          </a:p>
          <a:p>
            <a:pPr algn="ctr"/>
            <a:r>
              <a:rPr lang="en-US" sz="1200" dirty="0"/>
              <a:t>Ratings (–0.2 to -0.357  / -5% to -10%)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73B9F4D-0A82-C6BE-203E-6101740DA2F0}"/>
              </a:ext>
            </a:extLst>
          </p:cNvPr>
          <p:cNvSpPr/>
          <p:nvPr/>
        </p:nvSpPr>
        <p:spPr>
          <a:xfrm>
            <a:off x="5414314" y="158020"/>
            <a:ext cx="48560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Ads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948BF23A-2CAF-66BD-105D-B5358F69BE3F}"/>
              </a:ext>
            </a:extLst>
          </p:cNvPr>
          <p:cNvSpPr/>
          <p:nvPr/>
        </p:nvSpPr>
        <p:spPr>
          <a:xfrm>
            <a:off x="6168343" y="155437"/>
            <a:ext cx="48560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IAP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A881953-DF79-7C08-D8F2-C7348A95C78A}"/>
              </a:ext>
            </a:extLst>
          </p:cNvPr>
          <p:cNvSpPr/>
          <p:nvPr/>
        </p:nvSpPr>
        <p:spPr>
          <a:xfrm>
            <a:off x="4606248" y="899575"/>
            <a:ext cx="1370214" cy="3865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Medium, to high Review Count</a:t>
            </a:r>
          </a:p>
        </p:txBody>
      </p:sp>
      <p:cxnSp>
        <p:nvCxnSpPr>
          <p:cNvPr id="193" name="Connector: Elbow 192">
            <a:extLst>
              <a:ext uri="{FF2B5EF4-FFF2-40B4-BE49-F238E27FC236}">
                <a16:creationId xmlns:a16="http://schemas.microsoft.com/office/drawing/2014/main" id="{534C55C0-3451-E135-09B6-42DBC4C46552}"/>
              </a:ext>
            </a:extLst>
          </p:cNvPr>
          <p:cNvCxnSpPr>
            <a:cxnSpLocks/>
            <a:stCxn id="7" idx="3"/>
            <a:endCxn id="1103" idx="1"/>
          </p:cNvCxnSpPr>
          <p:nvPr/>
        </p:nvCxnSpPr>
        <p:spPr>
          <a:xfrm>
            <a:off x="3803074" y="692165"/>
            <a:ext cx="744891" cy="38421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3" name="Plus Sign 252">
            <a:extLst>
              <a:ext uri="{FF2B5EF4-FFF2-40B4-BE49-F238E27FC236}">
                <a16:creationId xmlns:a16="http://schemas.microsoft.com/office/drawing/2014/main" id="{832ECCE3-BB47-1830-4FB9-9B6CE4F41338}"/>
              </a:ext>
            </a:extLst>
          </p:cNvPr>
          <p:cNvSpPr/>
          <p:nvPr/>
        </p:nvSpPr>
        <p:spPr>
          <a:xfrm>
            <a:off x="5163892" y="278476"/>
            <a:ext cx="153786" cy="188057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85FF5E86-4E58-DCDA-73C5-A9B7CFAA2B75}"/>
              </a:ext>
            </a:extLst>
          </p:cNvPr>
          <p:cNvSpPr txBox="1"/>
          <p:nvPr/>
        </p:nvSpPr>
        <p:spPr>
          <a:xfrm>
            <a:off x="5949021" y="953821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60DF5B5-61A9-F411-D47C-4975659C191E}"/>
              </a:ext>
            </a:extLst>
          </p:cNvPr>
          <p:cNvSpPr txBox="1"/>
          <p:nvPr/>
        </p:nvSpPr>
        <p:spPr>
          <a:xfrm>
            <a:off x="6653948" y="194820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2A341BB-15A3-5DA9-49CE-C558B4DC8B80}"/>
              </a:ext>
            </a:extLst>
          </p:cNvPr>
          <p:cNvSpPr/>
          <p:nvPr/>
        </p:nvSpPr>
        <p:spPr>
          <a:xfrm>
            <a:off x="5363394" y="37407"/>
            <a:ext cx="2165465" cy="63176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559B2071-F3DC-55A0-76A6-694F4EA9D237}"/>
              </a:ext>
            </a:extLst>
          </p:cNvPr>
          <p:cNvSpPr/>
          <p:nvPr/>
        </p:nvSpPr>
        <p:spPr>
          <a:xfrm>
            <a:off x="8932329" y="849934"/>
            <a:ext cx="2657870" cy="428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Downloads (+10k to +20K/ 1% to 10%)</a:t>
            </a:r>
          </a:p>
          <a:p>
            <a:pPr algn="ctr"/>
            <a:r>
              <a:rPr lang="en-US" sz="1200" dirty="0"/>
              <a:t>Ratings (+0.15 to +0.23 / 1% to 10%)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F4081F0C-C297-5D71-380A-4314DFF9327F}"/>
              </a:ext>
            </a:extLst>
          </p:cNvPr>
          <p:cNvCxnSpPr>
            <a:cxnSpLocks/>
            <a:stCxn id="1103" idx="3"/>
            <a:endCxn id="275" idx="1"/>
          </p:cNvCxnSpPr>
          <p:nvPr/>
        </p:nvCxnSpPr>
        <p:spPr>
          <a:xfrm flipV="1">
            <a:off x="7797338" y="1064374"/>
            <a:ext cx="1134991" cy="1200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Rectangle 290">
            <a:extLst>
              <a:ext uri="{FF2B5EF4-FFF2-40B4-BE49-F238E27FC236}">
                <a16:creationId xmlns:a16="http://schemas.microsoft.com/office/drawing/2014/main" id="{CE8992AE-F252-6101-B5DB-F298AB6A27CE}"/>
              </a:ext>
            </a:extLst>
          </p:cNvPr>
          <p:cNvSpPr/>
          <p:nvPr/>
        </p:nvSpPr>
        <p:spPr>
          <a:xfrm>
            <a:off x="4606248" y="1391162"/>
            <a:ext cx="1370214" cy="386544"/>
          </a:xfrm>
          <a:prstGeom prst="rect">
            <a:avLst/>
          </a:prstGeom>
          <a:solidFill>
            <a:srgbClr val="FEF0FE">
              <a:alpha val="8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Region : US, BR, IN</a:t>
            </a:r>
          </a:p>
        </p:txBody>
      </p:sp>
      <p:cxnSp>
        <p:nvCxnSpPr>
          <p:cNvPr id="292" name="Connector: Elbow 291">
            <a:extLst>
              <a:ext uri="{FF2B5EF4-FFF2-40B4-BE49-F238E27FC236}">
                <a16:creationId xmlns:a16="http://schemas.microsoft.com/office/drawing/2014/main" id="{EBEB6946-B6DB-7896-C08A-293A6D9F7323}"/>
              </a:ext>
            </a:extLst>
          </p:cNvPr>
          <p:cNvCxnSpPr>
            <a:cxnSpLocks/>
            <a:stCxn id="7" idx="3"/>
            <a:endCxn id="291" idx="1"/>
          </p:cNvCxnSpPr>
          <p:nvPr/>
        </p:nvCxnSpPr>
        <p:spPr>
          <a:xfrm>
            <a:off x="3803074" y="692165"/>
            <a:ext cx="803174" cy="892269"/>
          </a:xfrm>
          <a:prstGeom prst="bentConnector3">
            <a:avLst>
              <a:gd name="adj1" fmla="val 4637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Connector: Elbow 294">
            <a:extLst>
              <a:ext uri="{FF2B5EF4-FFF2-40B4-BE49-F238E27FC236}">
                <a16:creationId xmlns:a16="http://schemas.microsoft.com/office/drawing/2014/main" id="{D84999CC-6064-59E0-0309-0A8C71CEF28B}"/>
              </a:ext>
            </a:extLst>
          </p:cNvPr>
          <p:cNvCxnSpPr>
            <a:cxnSpLocks/>
            <a:stCxn id="291" idx="3"/>
            <a:endCxn id="342" idx="1"/>
          </p:cNvCxnSpPr>
          <p:nvPr/>
        </p:nvCxnSpPr>
        <p:spPr>
          <a:xfrm flipV="1">
            <a:off x="5976462" y="1581978"/>
            <a:ext cx="2019467" cy="2456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5" name="Connector: Elbow 304">
            <a:extLst>
              <a:ext uri="{FF2B5EF4-FFF2-40B4-BE49-F238E27FC236}">
                <a16:creationId xmlns:a16="http://schemas.microsoft.com/office/drawing/2014/main" id="{63E0498F-A201-24E4-6024-581295B722E3}"/>
              </a:ext>
            </a:extLst>
          </p:cNvPr>
          <p:cNvCxnSpPr>
            <a:cxnSpLocks/>
            <a:stCxn id="47" idx="2"/>
            <a:endCxn id="275" idx="0"/>
          </p:cNvCxnSpPr>
          <p:nvPr/>
        </p:nvCxnSpPr>
        <p:spPr>
          <a:xfrm rot="16200000" flipH="1">
            <a:off x="7407494" y="-2003836"/>
            <a:ext cx="305370" cy="5402170"/>
          </a:xfrm>
          <a:prstGeom prst="bentConnector3">
            <a:avLst>
              <a:gd name="adj1" fmla="val 59528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B84F77FA-BA80-C801-6328-3C3189AC10F3}"/>
              </a:ext>
            </a:extLst>
          </p:cNvPr>
          <p:cNvCxnSpPr>
            <a:cxnSpLocks/>
            <a:stCxn id="268" idx="3"/>
            <a:endCxn id="144" idx="1"/>
          </p:cNvCxnSpPr>
          <p:nvPr/>
        </p:nvCxnSpPr>
        <p:spPr>
          <a:xfrm>
            <a:off x="7528859" y="353291"/>
            <a:ext cx="1506508" cy="63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" name="Rectangle 328">
            <a:extLst>
              <a:ext uri="{FF2B5EF4-FFF2-40B4-BE49-F238E27FC236}">
                <a16:creationId xmlns:a16="http://schemas.microsoft.com/office/drawing/2014/main" id="{29DEC596-ED7C-7BAB-0064-AA1C39147CF4}"/>
              </a:ext>
            </a:extLst>
          </p:cNvPr>
          <p:cNvSpPr/>
          <p:nvPr/>
        </p:nvSpPr>
        <p:spPr>
          <a:xfrm>
            <a:off x="4606248" y="2129754"/>
            <a:ext cx="50153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Free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797597B0-F5C9-57EB-0B93-2DA2286D02E2}"/>
              </a:ext>
            </a:extLst>
          </p:cNvPr>
          <p:cNvSpPr/>
          <p:nvPr/>
        </p:nvSpPr>
        <p:spPr>
          <a:xfrm>
            <a:off x="4555649" y="3632265"/>
            <a:ext cx="50153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Free</a:t>
            </a:r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3923ADDE-0716-063B-61F0-AFD7A43464F4}"/>
              </a:ext>
            </a:extLst>
          </p:cNvPr>
          <p:cNvCxnSpPr>
            <a:cxnSpLocks/>
          </p:cNvCxnSpPr>
          <p:nvPr/>
        </p:nvCxnSpPr>
        <p:spPr>
          <a:xfrm flipV="1">
            <a:off x="3803072" y="3845758"/>
            <a:ext cx="677488" cy="265896"/>
          </a:xfrm>
          <a:prstGeom prst="bentConnector3">
            <a:avLst>
              <a:gd name="adj1" fmla="val 40798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6" name="Rectangle 335">
            <a:extLst>
              <a:ext uri="{FF2B5EF4-FFF2-40B4-BE49-F238E27FC236}">
                <a16:creationId xmlns:a16="http://schemas.microsoft.com/office/drawing/2014/main" id="{CD312E6C-013E-D945-B231-9ED6FDD26AAD}"/>
              </a:ext>
            </a:extLst>
          </p:cNvPr>
          <p:cNvSpPr/>
          <p:nvPr/>
        </p:nvSpPr>
        <p:spPr>
          <a:xfrm>
            <a:off x="4188536" y="6012247"/>
            <a:ext cx="50153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Free</a:t>
            </a:r>
          </a:p>
        </p:txBody>
      </p:sp>
      <p:cxnSp>
        <p:nvCxnSpPr>
          <p:cNvPr id="337" name="Connector: Elbow 336">
            <a:extLst>
              <a:ext uri="{FF2B5EF4-FFF2-40B4-BE49-F238E27FC236}">
                <a16:creationId xmlns:a16="http://schemas.microsoft.com/office/drawing/2014/main" id="{6EE71CA1-207E-5083-E53E-CE6BFEEACF4F}"/>
              </a:ext>
            </a:extLst>
          </p:cNvPr>
          <p:cNvCxnSpPr>
            <a:cxnSpLocks/>
            <a:stCxn id="19" idx="3"/>
            <a:endCxn id="558" idx="1"/>
          </p:cNvCxnSpPr>
          <p:nvPr/>
        </p:nvCxnSpPr>
        <p:spPr>
          <a:xfrm>
            <a:off x="3836912" y="5928856"/>
            <a:ext cx="295515" cy="466919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2" name="Rectangle 341">
            <a:extLst>
              <a:ext uri="{FF2B5EF4-FFF2-40B4-BE49-F238E27FC236}">
                <a16:creationId xmlns:a16="http://schemas.microsoft.com/office/drawing/2014/main" id="{919EBD50-8A63-56FC-0E78-4A1E2D2EF217}"/>
              </a:ext>
            </a:extLst>
          </p:cNvPr>
          <p:cNvSpPr/>
          <p:nvPr/>
        </p:nvSpPr>
        <p:spPr>
          <a:xfrm>
            <a:off x="7995929" y="1367538"/>
            <a:ext cx="2657870" cy="428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Downloads (+25k to +40K/ 10% to 30%)</a:t>
            </a:r>
          </a:p>
          <a:p>
            <a:pPr algn="ctr"/>
            <a:r>
              <a:rPr lang="en-US" sz="1200" dirty="0"/>
              <a:t>Ratings (+0.2 to +0.3 / 1% to 10%)</a:t>
            </a: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B3A3E682-7920-EDCF-4D10-7EABBA0C7ADA}"/>
              </a:ext>
            </a:extLst>
          </p:cNvPr>
          <p:cNvSpPr/>
          <p:nvPr/>
        </p:nvSpPr>
        <p:spPr>
          <a:xfrm>
            <a:off x="5425353" y="2129754"/>
            <a:ext cx="48560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Ads</a:t>
            </a:r>
          </a:p>
        </p:txBody>
      </p:sp>
      <p:sp>
        <p:nvSpPr>
          <p:cNvPr id="360" name="Plus Sign 359">
            <a:extLst>
              <a:ext uri="{FF2B5EF4-FFF2-40B4-BE49-F238E27FC236}">
                <a16:creationId xmlns:a16="http://schemas.microsoft.com/office/drawing/2014/main" id="{FDE5E25F-0326-5A3A-01A6-875FBC627DFB}"/>
              </a:ext>
            </a:extLst>
          </p:cNvPr>
          <p:cNvSpPr/>
          <p:nvPr/>
        </p:nvSpPr>
        <p:spPr>
          <a:xfrm>
            <a:off x="5174931" y="2250210"/>
            <a:ext cx="153786" cy="188057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E11A2C48-A2D6-3FF5-5C6E-ED30055C6321}"/>
              </a:ext>
            </a:extLst>
          </p:cNvPr>
          <p:cNvSpPr/>
          <p:nvPr/>
        </p:nvSpPr>
        <p:spPr>
          <a:xfrm>
            <a:off x="7078233" y="2131183"/>
            <a:ext cx="50153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Paid</a:t>
            </a: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635DA9A-FEEE-2456-0AA6-E28333F125E7}"/>
              </a:ext>
            </a:extLst>
          </p:cNvPr>
          <p:cNvSpPr/>
          <p:nvPr/>
        </p:nvSpPr>
        <p:spPr>
          <a:xfrm>
            <a:off x="6272677" y="2123200"/>
            <a:ext cx="48560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IAP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776D6B2-E4E4-7C13-3AC0-C9C89E048864}"/>
              </a:ext>
            </a:extLst>
          </p:cNvPr>
          <p:cNvSpPr txBox="1"/>
          <p:nvPr/>
        </p:nvSpPr>
        <p:spPr>
          <a:xfrm>
            <a:off x="6758282" y="2162583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5F1AC62F-710E-8C5A-7849-4D790C76C246}"/>
              </a:ext>
            </a:extLst>
          </p:cNvPr>
          <p:cNvSpPr/>
          <p:nvPr/>
        </p:nvSpPr>
        <p:spPr>
          <a:xfrm>
            <a:off x="6228527" y="2069409"/>
            <a:ext cx="3225139" cy="4892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3D95A276-3183-FB8A-2B49-B68EB2E70968}"/>
              </a:ext>
            </a:extLst>
          </p:cNvPr>
          <p:cNvSpPr txBox="1"/>
          <p:nvPr/>
        </p:nvSpPr>
        <p:spPr>
          <a:xfrm>
            <a:off x="5919324" y="2174534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cxnSp>
        <p:nvCxnSpPr>
          <p:cNvPr id="368" name="Connector: Elbow 367">
            <a:extLst>
              <a:ext uri="{FF2B5EF4-FFF2-40B4-BE49-F238E27FC236}">
                <a16:creationId xmlns:a16="http://schemas.microsoft.com/office/drawing/2014/main" id="{F7064AFC-81F3-C117-4452-22D28AEED1D3}"/>
              </a:ext>
            </a:extLst>
          </p:cNvPr>
          <p:cNvCxnSpPr>
            <a:cxnSpLocks/>
            <a:stCxn id="364" idx="3"/>
            <a:endCxn id="144" idx="3"/>
          </p:cNvCxnSpPr>
          <p:nvPr/>
        </p:nvCxnSpPr>
        <p:spPr>
          <a:xfrm flipV="1">
            <a:off x="9453666" y="359686"/>
            <a:ext cx="2201380" cy="1954336"/>
          </a:xfrm>
          <a:prstGeom prst="bentConnector3">
            <a:avLst>
              <a:gd name="adj1" fmla="val 110384"/>
            </a:avLst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" name="Connector: Elbow 373">
            <a:extLst>
              <a:ext uri="{FF2B5EF4-FFF2-40B4-BE49-F238E27FC236}">
                <a16:creationId xmlns:a16="http://schemas.microsoft.com/office/drawing/2014/main" id="{D1A55437-0313-0604-36FA-BCBD010A3BAE}"/>
              </a:ext>
            </a:extLst>
          </p:cNvPr>
          <p:cNvCxnSpPr>
            <a:cxnSpLocks/>
            <a:stCxn id="385" idx="0"/>
            <a:endCxn id="342" idx="2"/>
          </p:cNvCxnSpPr>
          <p:nvPr/>
        </p:nvCxnSpPr>
        <p:spPr>
          <a:xfrm rot="5400000" flipH="1" flipV="1">
            <a:off x="7139780" y="-123926"/>
            <a:ext cx="264740" cy="410542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Rectangle 384">
            <a:extLst>
              <a:ext uri="{FF2B5EF4-FFF2-40B4-BE49-F238E27FC236}">
                <a16:creationId xmlns:a16="http://schemas.microsoft.com/office/drawing/2014/main" id="{FFDE82CE-3643-055E-3359-E818B969F2CF}"/>
              </a:ext>
            </a:extLst>
          </p:cNvPr>
          <p:cNvSpPr/>
          <p:nvPr/>
        </p:nvSpPr>
        <p:spPr>
          <a:xfrm>
            <a:off x="4480560" y="2061158"/>
            <a:ext cx="1477751" cy="510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6CF9AD0D-3D9E-2C3C-D746-6FA7BA8EF4E0}"/>
              </a:ext>
            </a:extLst>
          </p:cNvPr>
          <p:cNvSpPr/>
          <p:nvPr/>
        </p:nvSpPr>
        <p:spPr>
          <a:xfrm>
            <a:off x="3632597" y="2810443"/>
            <a:ext cx="1370214" cy="386544"/>
          </a:xfrm>
          <a:prstGeom prst="rect">
            <a:avLst/>
          </a:prstGeom>
          <a:solidFill>
            <a:srgbClr val="DDFFF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Medium, to high Description Length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7155322E-6B28-158B-0BF4-B98B6B003385}"/>
              </a:ext>
            </a:extLst>
          </p:cNvPr>
          <p:cNvSpPr/>
          <p:nvPr/>
        </p:nvSpPr>
        <p:spPr>
          <a:xfrm>
            <a:off x="5346464" y="2810443"/>
            <a:ext cx="1434607" cy="386544"/>
          </a:xfrm>
          <a:prstGeom prst="rect">
            <a:avLst/>
          </a:prstGeom>
          <a:solidFill>
            <a:srgbClr val="FEF0FE">
              <a:alpha val="8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Region : PH, MX, IN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42CD3722-93D1-1E7C-A3E4-94D5CF31909C}"/>
              </a:ext>
            </a:extLst>
          </p:cNvPr>
          <p:cNvSpPr txBox="1"/>
          <p:nvPr/>
        </p:nvSpPr>
        <p:spPr>
          <a:xfrm>
            <a:off x="5011197" y="2821460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936F641-01A3-8B64-7EB5-44583CDC1FEB}"/>
              </a:ext>
            </a:extLst>
          </p:cNvPr>
          <p:cNvSpPr/>
          <p:nvPr/>
        </p:nvSpPr>
        <p:spPr>
          <a:xfrm>
            <a:off x="3578828" y="2756583"/>
            <a:ext cx="3281215" cy="510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405" name="Straight Arrow Connector 404">
            <a:extLst>
              <a:ext uri="{FF2B5EF4-FFF2-40B4-BE49-F238E27FC236}">
                <a16:creationId xmlns:a16="http://schemas.microsoft.com/office/drawing/2014/main" id="{9B18C271-9403-39E7-D6C7-44472EFD4A85}"/>
              </a:ext>
            </a:extLst>
          </p:cNvPr>
          <p:cNvCxnSpPr>
            <a:cxnSpLocks/>
            <a:stCxn id="403" idx="0"/>
            <a:endCxn id="385" idx="2"/>
          </p:cNvCxnSpPr>
          <p:nvPr/>
        </p:nvCxnSpPr>
        <p:spPr>
          <a:xfrm flipV="1">
            <a:off x="5219436" y="2571171"/>
            <a:ext cx="0" cy="18541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95A388AE-65FE-4965-597E-AD6E3E491CC4}"/>
              </a:ext>
            </a:extLst>
          </p:cNvPr>
          <p:cNvCxnSpPr>
            <a:cxnSpLocks/>
            <a:stCxn id="13" idx="3"/>
            <a:endCxn id="385" idx="1"/>
          </p:cNvCxnSpPr>
          <p:nvPr/>
        </p:nvCxnSpPr>
        <p:spPr>
          <a:xfrm>
            <a:off x="3656978" y="2297419"/>
            <a:ext cx="823582" cy="187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9" name="Rectangle 418">
            <a:extLst>
              <a:ext uri="{FF2B5EF4-FFF2-40B4-BE49-F238E27FC236}">
                <a16:creationId xmlns:a16="http://schemas.microsoft.com/office/drawing/2014/main" id="{4A503665-9FE7-C4FE-F0E9-F2B4A5C51CF1}"/>
              </a:ext>
            </a:extLst>
          </p:cNvPr>
          <p:cNvSpPr/>
          <p:nvPr/>
        </p:nvSpPr>
        <p:spPr>
          <a:xfrm>
            <a:off x="8039263" y="3052156"/>
            <a:ext cx="2657871" cy="428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Downloads (+10k to +20K/ 1% to 10%)</a:t>
            </a:r>
          </a:p>
          <a:p>
            <a:pPr algn="ctr"/>
            <a:r>
              <a:rPr lang="en-US" sz="1200" dirty="0"/>
              <a:t>Ratings (+0.1 to 0.20 / 1% to 5%)</a:t>
            </a:r>
          </a:p>
        </p:txBody>
      </p:sp>
      <p:cxnSp>
        <p:nvCxnSpPr>
          <p:cNvPr id="422" name="Connector: Elbow 421">
            <a:extLst>
              <a:ext uri="{FF2B5EF4-FFF2-40B4-BE49-F238E27FC236}">
                <a16:creationId xmlns:a16="http://schemas.microsoft.com/office/drawing/2014/main" id="{04F61B53-A105-ADFC-44BD-A0127CBB4E79}"/>
              </a:ext>
            </a:extLst>
          </p:cNvPr>
          <p:cNvCxnSpPr>
            <a:cxnSpLocks/>
            <a:stCxn id="443" idx="3"/>
            <a:endCxn id="419" idx="0"/>
          </p:cNvCxnSpPr>
          <p:nvPr/>
        </p:nvCxnSpPr>
        <p:spPr>
          <a:xfrm flipV="1">
            <a:off x="7643336" y="3052156"/>
            <a:ext cx="1724863" cy="779936"/>
          </a:xfrm>
          <a:prstGeom prst="bentConnector4">
            <a:avLst>
              <a:gd name="adj1" fmla="val 11477"/>
              <a:gd name="adj2" fmla="val 12931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1" name="Plus Sign 440">
            <a:extLst>
              <a:ext uri="{FF2B5EF4-FFF2-40B4-BE49-F238E27FC236}">
                <a16:creationId xmlns:a16="http://schemas.microsoft.com/office/drawing/2014/main" id="{91D559A6-DA3E-C45A-04C0-750136F27F79}"/>
              </a:ext>
            </a:extLst>
          </p:cNvPr>
          <p:cNvSpPr/>
          <p:nvPr/>
        </p:nvSpPr>
        <p:spPr>
          <a:xfrm>
            <a:off x="5982418" y="3723525"/>
            <a:ext cx="153786" cy="188057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D0DF63A3-E1B7-FADE-67AF-40354986BDA8}"/>
              </a:ext>
            </a:extLst>
          </p:cNvPr>
          <p:cNvSpPr/>
          <p:nvPr/>
        </p:nvSpPr>
        <p:spPr>
          <a:xfrm>
            <a:off x="7112525" y="3638819"/>
            <a:ext cx="48560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IAP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1EC3EA0B-F3FC-7CD0-E671-56609B613825}"/>
              </a:ext>
            </a:extLst>
          </p:cNvPr>
          <p:cNvSpPr/>
          <p:nvPr/>
        </p:nvSpPr>
        <p:spPr>
          <a:xfrm>
            <a:off x="4480561" y="3577085"/>
            <a:ext cx="3162775" cy="510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A1973608-433C-67C1-A846-873789195390}"/>
              </a:ext>
            </a:extLst>
          </p:cNvPr>
          <p:cNvSpPr txBox="1"/>
          <p:nvPr/>
        </p:nvSpPr>
        <p:spPr>
          <a:xfrm>
            <a:off x="6787575" y="3642520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27B744E0-71E1-ECAB-A347-F177E1D5CB8D}"/>
              </a:ext>
            </a:extLst>
          </p:cNvPr>
          <p:cNvSpPr/>
          <p:nvPr/>
        </p:nvSpPr>
        <p:spPr>
          <a:xfrm>
            <a:off x="5381350" y="3635744"/>
            <a:ext cx="50153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Paid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3C5F7385-4284-61EF-77F3-631E2E14B441}"/>
              </a:ext>
            </a:extLst>
          </p:cNvPr>
          <p:cNvSpPr/>
          <p:nvPr/>
        </p:nvSpPr>
        <p:spPr>
          <a:xfrm>
            <a:off x="6241271" y="3625866"/>
            <a:ext cx="48560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Ads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632F3C04-69C0-4942-83D3-BD28C3D5B196}"/>
              </a:ext>
            </a:extLst>
          </p:cNvPr>
          <p:cNvSpPr txBox="1"/>
          <p:nvPr/>
        </p:nvSpPr>
        <p:spPr>
          <a:xfrm>
            <a:off x="5041336" y="3632265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EE3878-593E-0A49-7B70-95FE458C7C56}"/>
              </a:ext>
            </a:extLst>
          </p:cNvPr>
          <p:cNvSpPr/>
          <p:nvPr/>
        </p:nvSpPr>
        <p:spPr>
          <a:xfrm>
            <a:off x="4461215" y="4701386"/>
            <a:ext cx="1370214" cy="3865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Medium, to high Review Count</a:t>
            </a:r>
          </a:p>
        </p:txBody>
      </p:sp>
      <p:cxnSp>
        <p:nvCxnSpPr>
          <p:cNvPr id="461" name="Connector: Elbow 460">
            <a:extLst>
              <a:ext uri="{FF2B5EF4-FFF2-40B4-BE49-F238E27FC236}">
                <a16:creationId xmlns:a16="http://schemas.microsoft.com/office/drawing/2014/main" id="{239BFE38-3DD9-1A9D-EC2D-DFB898E71586}"/>
              </a:ext>
            </a:extLst>
          </p:cNvPr>
          <p:cNvCxnSpPr>
            <a:cxnSpLocks/>
            <a:stCxn id="14" idx="3"/>
            <a:endCxn id="475" idx="1"/>
          </p:cNvCxnSpPr>
          <p:nvPr/>
        </p:nvCxnSpPr>
        <p:spPr>
          <a:xfrm>
            <a:off x="3803073" y="4097988"/>
            <a:ext cx="573850" cy="809613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0" name="Connector: Elbow 469">
            <a:extLst>
              <a:ext uri="{FF2B5EF4-FFF2-40B4-BE49-F238E27FC236}">
                <a16:creationId xmlns:a16="http://schemas.microsoft.com/office/drawing/2014/main" id="{09585EFD-F890-C6B7-4FEA-5173314FCF8D}"/>
              </a:ext>
            </a:extLst>
          </p:cNvPr>
          <p:cNvCxnSpPr>
            <a:cxnSpLocks/>
            <a:stCxn id="475" idx="3"/>
            <a:endCxn id="342" idx="3"/>
          </p:cNvCxnSpPr>
          <p:nvPr/>
        </p:nvCxnSpPr>
        <p:spPr>
          <a:xfrm flipV="1">
            <a:off x="7539699" y="1581978"/>
            <a:ext cx="3114100" cy="3325623"/>
          </a:xfrm>
          <a:prstGeom prst="bentConnector3">
            <a:avLst>
              <a:gd name="adj1" fmla="val 107341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5" name="Rectangle 474">
            <a:extLst>
              <a:ext uri="{FF2B5EF4-FFF2-40B4-BE49-F238E27FC236}">
                <a16:creationId xmlns:a16="http://schemas.microsoft.com/office/drawing/2014/main" id="{189D6927-6170-81DF-115D-9FAEBCD56BDA}"/>
              </a:ext>
            </a:extLst>
          </p:cNvPr>
          <p:cNvSpPr/>
          <p:nvPr/>
        </p:nvSpPr>
        <p:spPr>
          <a:xfrm>
            <a:off x="4376923" y="4652594"/>
            <a:ext cx="3162776" cy="510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A1D3F8D1-8232-2616-D95D-237BE6ECED79}"/>
              </a:ext>
            </a:extLst>
          </p:cNvPr>
          <p:cNvSpPr/>
          <p:nvPr/>
        </p:nvSpPr>
        <p:spPr>
          <a:xfrm>
            <a:off x="4457627" y="4166874"/>
            <a:ext cx="1434607" cy="386544"/>
          </a:xfrm>
          <a:prstGeom prst="rect">
            <a:avLst/>
          </a:prstGeom>
          <a:solidFill>
            <a:srgbClr val="FEF0FE">
              <a:alpha val="8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Region : DE, FI, RU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1E200369-C08D-DDCB-35E7-7A84CB5F4E0F}"/>
              </a:ext>
            </a:extLst>
          </p:cNvPr>
          <p:cNvSpPr txBox="1"/>
          <p:nvPr/>
        </p:nvSpPr>
        <p:spPr>
          <a:xfrm>
            <a:off x="5787378" y="4714522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3380E50C-DD62-CC48-CCD0-DD108DFA1E41}"/>
              </a:ext>
            </a:extLst>
          </p:cNvPr>
          <p:cNvSpPr/>
          <p:nvPr/>
        </p:nvSpPr>
        <p:spPr>
          <a:xfrm>
            <a:off x="6115054" y="4701386"/>
            <a:ext cx="1370214" cy="386544"/>
          </a:xfrm>
          <a:prstGeom prst="rect">
            <a:avLst/>
          </a:prstGeom>
          <a:solidFill>
            <a:srgbClr val="DDFFF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Medium, to high Description Length</a:t>
            </a:r>
          </a:p>
        </p:txBody>
      </p:sp>
      <p:cxnSp>
        <p:nvCxnSpPr>
          <p:cNvPr id="490" name="Connector: Elbow 489">
            <a:extLst>
              <a:ext uri="{FF2B5EF4-FFF2-40B4-BE49-F238E27FC236}">
                <a16:creationId xmlns:a16="http://schemas.microsoft.com/office/drawing/2014/main" id="{60867D71-2885-523A-125A-78050BE9D656}"/>
              </a:ext>
            </a:extLst>
          </p:cNvPr>
          <p:cNvCxnSpPr>
            <a:cxnSpLocks/>
            <a:stCxn id="14" idx="3"/>
            <a:endCxn id="479" idx="1"/>
          </p:cNvCxnSpPr>
          <p:nvPr/>
        </p:nvCxnSpPr>
        <p:spPr>
          <a:xfrm>
            <a:off x="3803073" y="4097988"/>
            <a:ext cx="654554" cy="262158"/>
          </a:xfrm>
          <a:prstGeom prst="bentConnector3">
            <a:avLst>
              <a:gd name="adj1" fmla="val 43015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Connector: Elbow 492">
            <a:extLst>
              <a:ext uri="{FF2B5EF4-FFF2-40B4-BE49-F238E27FC236}">
                <a16:creationId xmlns:a16="http://schemas.microsoft.com/office/drawing/2014/main" id="{9B215706-E3A8-3F3C-9ACB-8ECE06F757B6}"/>
              </a:ext>
            </a:extLst>
          </p:cNvPr>
          <p:cNvCxnSpPr>
            <a:cxnSpLocks/>
            <a:stCxn id="479" idx="3"/>
            <a:endCxn id="419" idx="2"/>
          </p:cNvCxnSpPr>
          <p:nvPr/>
        </p:nvCxnSpPr>
        <p:spPr>
          <a:xfrm flipV="1">
            <a:off x="5892234" y="3481036"/>
            <a:ext cx="3475965" cy="879110"/>
          </a:xfrm>
          <a:prstGeom prst="bentConnector2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8" name="Rectangle 497">
            <a:extLst>
              <a:ext uri="{FF2B5EF4-FFF2-40B4-BE49-F238E27FC236}">
                <a16:creationId xmlns:a16="http://schemas.microsoft.com/office/drawing/2014/main" id="{E94C57CA-DDF6-0C5C-7A4A-2BEE3A57EE29}"/>
              </a:ext>
            </a:extLst>
          </p:cNvPr>
          <p:cNvSpPr/>
          <p:nvPr/>
        </p:nvSpPr>
        <p:spPr>
          <a:xfrm>
            <a:off x="8761085" y="6098996"/>
            <a:ext cx="2657871" cy="428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Downloads (+10k to +20K/ 1% to 10%)</a:t>
            </a:r>
          </a:p>
          <a:p>
            <a:pPr algn="ctr"/>
            <a:r>
              <a:rPr lang="en-US" sz="1200" dirty="0"/>
              <a:t>Ratings (+0.1 to 0.20 / 1% to 5%)</a:t>
            </a: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6C1AE69D-D0F4-B5C9-EA56-194B1C5A9279}"/>
              </a:ext>
            </a:extLst>
          </p:cNvPr>
          <p:cNvSpPr/>
          <p:nvPr/>
        </p:nvSpPr>
        <p:spPr>
          <a:xfrm>
            <a:off x="4450375" y="5329407"/>
            <a:ext cx="1370214" cy="3865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Low </a:t>
            </a:r>
          </a:p>
          <a:p>
            <a:pPr algn="ctr"/>
            <a:r>
              <a:rPr lang="en-US" sz="1200" dirty="0"/>
              <a:t>Review Count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D2A3F3DB-27BD-3115-9A9A-8862EBDF4F55}"/>
              </a:ext>
            </a:extLst>
          </p:cNvPr>
          <p:cNvSpPr/>
          <p:nvPr/>
        </p:nvSpPr>
        <p:spPr>
          <a:xfrm>
            <a:off x="4366083" y="5280615"/>
            <a:ext cx="3162776" cy="5100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906B595E-C8EA-9536-358F-E4AD71EED2EE}"/>
              </a:ext>
            </a:extLst>
          </p:cNvPr>
          <p:cNvSpPr txBox="1"/>
          <p:nvPr/>
        </p:nvSpPr>
        <p:spPr>
          <a:xfrm>
            <a:off x="5776538" y="5342543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05DC970-D090-5997-FE70-8B93FD6CFCD7}"/>
              </a:ext>
            </a:extLst>
          </p:cNvPr>
          <p:cNvSpPr/>
          <p:nvPr/>
        </p:nvSpPr>
        <p:spPr>
          <a:xfrm>
            <a:off x="6104214" y="5329407"/>
            <a:ext cx="1370214" cy="386544"/>
          </a:xfrm>
          <a:prstGeom prst="rect">
            <a:avLst/>
          </a:prstGeom>
          <a:solidFill>
            <a:srgbClr val="DDFFF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Low</a:t>
            </a:r>
          </a:p>
          <a:p>
            <a:pPr algn="ctr"/>
            <a:r>
              <a:rPr lang="en-US" sz="1200" dirty="0"/>
              <a:t>Description Length</a:t>
            </a:r>
          </a:p>
        </p:txBody>
      </p:sp>
      <p:cxnSp>
        <p:nvCxnSpPr>
          <p:cNvPr id="503" name="Connector: Elbow 502">
            <a:extLst>
              <a:ext uri="{FF2B5EF4-FFF2-40B4-BE49-F238E27FC236}">
                <a16:creationId xmlns:a16="http://schemas.microsoft.com/office/drawing/2014/main" id="{301BC01B-6F75-A27C-DBB7-8CA55AC80FB6}"/>
              </a:ext>
            </a:extLst>
          </p:cNvPr>
          <p:cNvCxnSpPr>
            <a:cxnSpLocks/>
            <a:stCxn id="14" idx="3"/>
            <a:endCxn id="500" idx="1"/>
          </p:cNvCxnSpPr>
          <p:nvPr/>
        </p:nvCxnSpPr>
        <p:spPr>
          <a:xfrm>
            <a:off x="3803073" y="4097988"/>
            <a:ext cx="563010" cy="143763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8" name="Rectangle 507">
            <a:extLst>
              <a:ext uri="{FF2B5EF4-FFF2-40B4-BE49-F238E27FC236}">
                <a16:creationId xmlns:a16="http://schemas.microsoft.com/office/drawing/2014/main" id="{11A29D22-503B-CA9B-A2DB-57159A31F1D7}"/>
              </a:ext>
            </a:extLst>
          </p:cNvPr>
          <p:cNvSpPr/>
          <p:nvPr/>
        </p:nvSpPr>
        <p:spPr>
          <a:xfrm>
            <a:off x="8614863" y="5329407"/>
            <a:ext cx="2804093" cy="408497"/>
          </a:xfrm>
          <a:prstGeom prst="rect">
            <a:avLst/>
          </a:prstGeom>
          <a:solidFill>
            <a:srgbClr val="FFE3E1">
              <a:alpha val="90588"/>
            </a:srgbClr>
          </a:soli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Downloads (-10k to -40K/ -15% to -20%)</a:t>
            </a:r>
          </a:p>
          <a:p>
            <a:pPr algn="ctr"/>
            <a:r>
              <a:rPr lang="en-US" sz="1200" dirty="0"/>
              <a:t>Ratings (–0.2 to -0.4  / -5% to -10%)</a:t>
            </a:r>
          </a:p>
        </p:txBody>
      </p: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361E67F2-544F-25D1-CFA6-445F916CAB3C}"/>
              </a:ext>
            </a:extLst>
          </p:cNvPr>
          <p:cNvCxnSpPr>
            <a:cxnSpLocks/>
            <a:stCxn id="500" idx="3"/>
            <a:endCxn id="508" idx="1"/>
          </p:cNvCxnSpPr>
          <p:nvPr/>
        </p:nvCxnSpPr>
        <p:spPr>
          <a:xfrm flipV="1">
            <a:off x="7528859" y="5533656"/>
            <a:ext cx="1086004" cy="196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6" name="Connector: Elbow 515">
            <a:extLst>
              <a:ext uri="{FF2B5EF4-FFF2-40B4-BE49-F238E27FC236}">
                <a16:creationId xmlns:a16="http://schemas.microsoft.com/office/drawing/2014/main" id="{E4708C19-2336-63AC-B4F6-7C72395486D4}"/>
              </a:ext>
            </a:extLst>
          </p:cNvPr>
          <p:cNvCxnSpPr>
            <a:cxnSpLocks/>
            <a:endCxn id="498" idx="2"/>
          </p:cNvCxnSpPr>
          <p:nvPr/>
        </p:nvCxnSpPr>
        <p:spPr>
          <a:xfrm flipV="1">
            <a:off x="5910958" y="6527876"/>
            <a:ext cx="4179063" cy="228096"/>
          </a:xfrm>
          <a:prstGeom prst="bentConnector2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5" name="Connector: Elbow 524">
            <a:extLst>
              <a:ext uri="{FF2B5EF4-FFF2-40B4-BE49-F238E27FC236}">
                <a16:creationId xmlns:a16="http://schemas.microsoft.com/office/drawing/2014/main" id="{967E4229-D74F-B410-1B13-CA617A24140B}"/>
              </a:ext>
            </a:extLst>
          </p:cNvPr>
          <p:cNvCxnSpPr>
            <a:cxnSpLocks/>
            <a:stCxn id="19" idx="3"/>
            <a:endCxn id="500" idx="2"/>
          </p:cNvCxnSpPr>
          <p:nvPr/>
        </p:nvCxnSpPr>
        <p:spPr>
          <a:xfrm flipV="1">
            <a:off x="3836912" y="5790628"/>
            <a:ext cx="2110559" cy="13822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8" name="Rectangle 527">
            <a:extLst>
              <a:ext uri="{FF2B5EF4-FFF2-40B4-BE49-F238E27FC236}">
                <a16:creationId xmlns:a16="http://schemas.microsoft.com/office/drawing/2014/main" id="{81B6F2F4-5233-5994-86F7-4FD4CA0C07D2}"/>
              </a:ext>
            </a:extLst>
          </p:cNvPr>
          <p:cNvSpPr/>
          <p:nvPr/>
        </p:nvSpPr>
        <p:spPr>
          <a:xfrm>
            <a:off x="4982955" y="6007950"/>
            <a:ext cx="50153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Paid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1C3D0FF1-8DC5-773B-577A-70FC3B037171}"/>
              </a:ext>
            </a:extLst>
          </p:cNvPr>
          <p:cNvSpPr/>
          <p:nvPr/>
        </p:nvSpPr>
        <p:spPr>
          <a:xfrm>
            <a:off x="6086617" y="6152026"/>
            <a:ext cx="485605" cy="386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Ads</a:t>
            </a: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862AFBC2-3AFA-4386-0DE2-F9B3B97943F0}"/>
              </a:ext>
            </a:extLst>
          </p:cNvPr>
          <p:cNvSpPr txBox="1"/>
          <p:nvPr/>
        </p:nvSpPr>
        <p:spPr>
          <a:xfrm>
            <a:off x="4633962" y="6070364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650D2009-1E85-F99A-24D3-8B01F1C6109A}"/>
              </a:ext>
            </a:extLst>
          </p:cNvPr>
          <p:cNvSpPr/>
          <p:nvPr/>
        </p:nvSpPr>
        <p:spPr>
          <a:xfrm>
            <a:off x="6035697" y="6066275"/>
            <a:ext cx="2223853" cy="54703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547" name="Connector: Elbow 546">
            <a:extLst>
              <a:ext uri="{FF2B5EF4-FFF2-40B4-BE49-F238E27FC236}">
                <a16:creationId xmlns:a16="http://schemas.microsoft.com/office/drawing/2014/main" id="{C9E03B3A-E04F-3C70-1DD2-0E0B18788550}"/>
              </a:ext>
            </a:extLst>
          </p:cNvPr>
          <p:cNvCxnSpPr>
            <a:cxnSpLocks/>
            <a:stCxn id="533" idx="3"/>
            <a:endCxn id="508" idx="1"/>
          </p:cNvCxnSpPr>
          <p:nvPr/>
        </p:nvCxnSpPr>
        <p:spPr>
          <a:xfrm flipV="1">
            <a:off x="8259550" y="5533656"/>
            <a:ext cx="355313" cy="80613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2" name="Rectangle 551">
            <a:extLst>
              <a:ext uri="{FF2B5EF4-FFF2-40B4-BE49-F238E27FC236}">
                <a16:creationId xmlns:a16="http://schemas.microsoft.com/office/drawing/2014/main" id="{59BC4EDC-0F8B-E6C3-78DC-0B7D6859C9A4}"/>
              </a:ext>
            </a:extLst>
          </p:cNvPr>
          <p:cNvSpPr/>
          <p:nvPr/>
        </p:nvSpPr>
        <p:spPr>
          <a:xfrm>
            <a:off x="6838989" y="6143563"/>
            <a:ext cx="1370214" cy="3865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Low </a:t>
            </a:r>
          </a:p>
          <a:p>
            <a:pPr algn="ctr"/>
            <a:r>
              <a:rPr lang="en-US" sz="1200" dirty="0"/>
              <a:t>Review Count</a:t>
            </a: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22004A8F-2010-7172-26F3-A96E735A48A7}"/>
              </a:ext>
            </a:extLst>
          </p:cNvPr>
          <p:cNvSpPr/>
          <p:nvPr/>
        </p:nvSpPr>
        <p:spPr>
          <a:xfrm>
            <a:off x="4132427" y="5970957"/>
            <a:ext cx="1767492" cy="84963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64" name="Plus Sign 563">
            <a:extLst>
              <a:ext uri="{FF2B5EF4-FFF2-40B4-BE49-F238E27FC236}">
                <a16:creationId xmlns:a16="http://schemas.microsoft.com/office/drawing/2014/main" id="{70DD4C5E-B665-D92D-F548-7028CF4568D9}"/>
              </a:ext>
            </a:extLst>
          </p:cNvPr>
          <p:cNvSpPr/>
          <p:nvPr/>
        </p:nvSpPr>
        <p:spPr>
          <a:xfrm>
            <a:off x="6604496" y="6264762"/>
            <a:ext cx="153786" cy="188057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597617A5-0B48-1D4C-CAB1-AB5D4CA68BFB}"/>
              </a:ext>
            </a:extLst>
          </p:cNvPr>
          <p:cNvSpPr txBox="1"/>
          <p:nvPr/>
        </p:nvSpPr>
        <p:spPr>
          <a:xfrm>
            <a:off x="5873864" y="234660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1F8BE638-F120-DD9F-8EF2-2E1FE78B5167}"/>
              </a:ext>
            </a:extLst>
          </p:cNvPr>
          <p:cNvSpPr/>
          <p:nvPr/>
        </p:nvSpPr>
        <p:spPr>
          <a:xfrm>
            <a:off x="4547965" y="812000"/>
            <a:ext cx="3249373" cy="52875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CA6A982D-9216-AD0B-33F0-608D29C708B1}"/>
              </a:ext>
            </a:extLst>
          </p:cNvPr>
          <p:cNvSpPr/>
          <p:nvPr/>
        </p:nvSpPr>
        <p:spPr>
          <a:xfrm>
            <a:off x="6344520" y="884945"/>
            <a:ext cx="1370214" cy="3865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Audience Everyone</a:t>
            </a:r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523AE415-AE60-72F4-29F3-1A19FE63B1D4}"/>
              </a:ext>
            </a:extLst>
          </p:cNvPr>
          <p:cNvSpPr/>
          <p:nvPr/>
        </p:nvSpPr>
        <p:spPr>
          <a:xfrm>
            <a:off x="7960736" y="2129024"/>
            <a:ext cx="1370214" cy="3865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Mature 18 +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6099169F-AE4F-9B30-C7E1-E72A721CE059}"/>
              </a:ext>
            </a:extLst>
          </p:cNvPr>
          <p:cNvSpPr txBox="1"/>
          <p:nvPr/>
        </p:nvSpPr>
        <p:spPr>
          <a:xfrm>
            <a:off x="7545462" y="2160955"/>
            <a:ext cx="34496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or</a:t>
            </a:r>
          </a:p>
        </p:txBody>
      </p:sp>
      <p:pic>
        <p:nvPicPr>
          <p:cNvPr id="1161" name="Picture 22" descr="Puzzle game - Free gaming icons">
            <a:extLst>
              <a:ext uri="{FF2B5EF4-FFF2-40B4-BE49-F238E27FC236}">
                <a16:creationId xmlns:a16="http://schemas.microsoft.com/office/drawing/2014/main" id="{7A3E4EF2-398B-169B-2D74-F525AC4CB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27" y="2123200"/>
            <a:ext cx="400101" cy="40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8" name="Picture 56" descr="Download Free Strategy game Icons in PNG &amp; SVG">
            <a:extLst>
              <a:ext uri="{FF2B5EF4-FFF2-40B4-BE49-F238E27FC236}">
                <a16:creationId xmlns:a16="http://schemas.microsoft.com/office/drawing/2014/main" id="{4EC7BDF4-248F-2B55-7E30-4BF580176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347" y="3845758"/>
            <a:ext cx="504051" cy="50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8" name="Picture 60" descr="Fighting game - Free miscellaneous icons">
            <a:extLst>
              <a:ext uri="{FF2B5EF4-FFF2-40B4-BE49-F238E27FC236}">
                <a16:creationId xmlns:a16="http://schemas.microsoft.com/office/drawing/2014/main" id="{438D054D-AC8D-05BB-D547-81F098873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18" y="534940"/>
            <a:ext cx="503381" cy="50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5" name="Rectangle 1194">
            <a:extLst>
              <a:ext uri="{FF2B5EF4-FFF2-40B4-BE49-F238E27FC236}">
                <a16:creationId xmlns:a16="http://schemas.microsoft.com/office/drawing/2014/main" id="{7FCF6131-F1A0-1399-AA6A-E267CF9DCE0A}"/>
              </a:ext>
            </a:extLst>
          </p:cNvPr>
          <p:cNvSpPr/>
          <p:nvPr/>
        </p:nvSpPr>
        <p:spPr>
          <a:xfrm>
            <a:off x="4233548" y="6451922"/>
            <a:ext cx="1434607" cy="304050"/>
          </a:xfrm>
          <a:prstGeom prst="rect">
            <a:avLst/>
          </a:prstGeom>
          <a:solidFill>
            <a:srgbClr val="FEF0FE">
              <a:alpha val="8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Region : DE, RU</a:t>
            </a:r>
          </a:p>
        </p:txBody>
      </p:sp>
      <p:pic>
        <p:nvPicPr>
          <p:cNvPr id="1209" name="Picture 64" descr="Gambling - Free gaming icons">
            <a:extLst>
              <a:ext uri="{FF2B5EF4-FFF2-40B4-BE49-F238E27FC236}">
                <a16:creationId xmlns:a16="http://schemas.microsoft.com/office/drawing/2014/main" id="{192B9BF0-F60C-C766-EC5B-734C641B9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244" y="5705443"/>
            <a:ext cx="444404" cy="44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2" name="Picture 66">
            <a:extLst>
              <a:ext uri="{FF2B5EF4-FFF2-40B4-BE49-F238E27FC236}">
                <a16:creationId xmlns:a16="http://schemas.microsoft.com/office/drawing/2014/main" id="{272444FD-6BDC-08CA-A559-CF36B7C8A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4" r="24484"/>
          <a:stretch/>
        </p:blipFill>
        <p:spPr bwMode="auto">
          <a:xfrm>
            <a:off x="512040" y="2314021"/>
            <a:ext cx="615453" cy="119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4" name="Picture 70" descr="Game icons | Canva">
            <a:extLst>
              <a:ext uri="{FF2B5EF4-FFF2-40B4-BE49-F238E27FC236}">
                <a16:creationId xmlns:a16="http://schemas.microsoft.com/office/drawing/2014/main" id="{2944E267-B76D-9D5B-30E8-3E9EA9DD7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09" y="3139330"/>
            <a:ext cx="757257" cy="45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6" name="TextBox 1225">
            <a:extLst>
              <a:ext uri="{FF2B5EF4-FFF2-40B4-BE49-F238E27FC236}">
                <a16:creationId xmlns:a16="http://schemas.microsoft.com/office/drawing/2014/main" id="{5A164CB6-4306-2ABA-CE48-4ABCD31E71D0}"/>
              </a:ext>
            </a:extLst>
          </p:cNvPr>
          <p:cNvSpPr txBox="1"/>
          <p:nvPr/>
        </p:nvSpPr>
        <p:spPr>
          <a:xfrm>
            <a:off x="268813" y="3541857"/>
            <a:ext cx="1003801" cy="52322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Android</a:t>
            </a:r>
          </a:p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 Game App</a:t>
            </a:r>
          </a:p>
        </p:txBody>
      </p:sp>
      <p:sp>
        <p:nvSpPr>
          <p:cNvPr id="1227" name="Rectangle 1226">
            <a:extLst>
              <a:ext uri="{FF2B5EF4-FFF2-40B4-BE49-F238E27FC236}">
                <a16:creationId xmlns:a16="http://schemas.microsoft.com/office/drawing/2014/main" id="{71966B92-B8A9-CAC9-A520-C90DDD9986A6}"/>
              </a:ext>
            </a:extLst>
          </p:cNvPr>
          <p:cNvSpPr/>
          <p:nvPr/>
        </p:nvSpPr>
        <p:spPr>
          <a:xfrm>
            <a:off x="62269" y="5385987"/>
            <a:ext cx="174642" cy="1295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/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FDF17EE7-8254-760E-9A43-903CD8921FA9}"/>
              </a:ext>
            </a:extLst>
          </p:cNvPr>
          <p:cNvSpPr txBox="1"/>
          <p:nvPr/>
        </p:nvSpPr>
        <p:spPr>
          <a:xfrm>
            <a:off x="193912" y="5329407"/>
            <a:ext cx="590225" cy="2462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Genres</a:t>
            </a:r>
          </a:p>
        </p:txBody>
      </p:sp>
      <p:sp>
        <p:nvSpPr>
          <p:cNvPr id="1229" name="Rectangle 1228">
            <a:extLst>
              <a:ext uri="{FF2B5EF4-FFF2-40B4-BE49-F238E27FC236}">
                <a16:creationId xmlns:a16="http://schemas.microsoft.com/office/drawing/2014/main" id="{399946B8-D45E-0A5C-C77A-BC6FDE28DBC4}"/>
              </a:ext>
            </a:extLst>
          </p:cNvPr>
          <p:cNvSpPr/>
          <p:nvPr/>
        </p:nvSpPr>
        <p:spPr>
          <a:xfrm>
            <a:off x="60886" y="5550855"/>
            <a:ext cx="174642" cy="129505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/>
          </a:p>
        </p:txBody>
      </p:sp>
      <p:sp>
        <p:nvSpPr>
          <p:cNvPr id="1230" name="Rectangle 1229">
            <a:extLst>
              <a:ext uri="{FF2B5EF4-FFF2-40B4-BE49-F238E27FC236}">
                <a16:creationId xmlns:a16="http://schemas.microsoft.com/office/drawing/2014/main" id="{C9A67F45-A4FD-DAFB-6A1E-BE6DBDE7BE78}"/>
              </a:ext>
            </a:extLst>
          </p:cNvPr>
          <p:cNvSpPr/>
          <p:nvPr/>
        </p:nvSpPr>
        <p:spPr>
          <a:xfrm>
            <a:off x="63363" y="5715951"/>
            <a:ext cx="174642" cy="129505"/>
          </a:xfrm>
          <a:prstGeom prst="rect">
            <a:avLst/>
          </a:prstGeom>
          <a:solidFill>
            <a:srgbClr val="DEEBF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/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D7796CAA-8780-A994-8865-41BF43925217}"/>
              </a:ext>
            </a:extLst>
          </p:cNvPr>
          <p:cNvSpPr txBox="1"/>
          <p:nvPr/>
        </p:nvSpPr>
        <p:spPr>
          <a:xfrm>
            <a:off x="183220" y="5510349"/>
            <a:ext cx="963725" cy="2462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Monetization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2C1B2BEB-6AE3-6CEC-7CBB-017B6A080EE7}"/>
              </a:ext>
            </a:extLst>
          </p:cNvPr>
          <p:cNvSpPr txBox="1"/>
          <p:nvPr/>
        </p:nvSpPr>
        <p:spPr>
          <a:xfrm>
            <a:off x="175883" y="5667517"/>
            <a:ext cx="989373" cy="2462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Review Count</a:t>
            </a:r>
          </a:p>
        </p:txBody>
      </p:sp>
      <p:sp>
        <p:nvSpPr>
          <p:cNvPr id="1233" name="Rectangle 1232">
            <a:extLst>
              <a:ext uri="{FF2B5EF4-FFF2-40B4-BE49-F238E27FC236}">
                <a16:creationId xmlns:a16="http://schemas.microsoft.com/office/drawing/2014/main" id="{F5CEF37C-EA7F-1568-ECA9-45400B94E834}"/>
              </a:ext>
            </a:extLst>
          </p:cNvPr>
          <p:cNvSpPr/>
          <p:nvPr/>
        </p:nvSpPr>
        <p:spPr>
          <a:xfrm>
            <a:off x="61914" y="5867681"/>
            <a:ext cx="174642" cy="129505"/>
          </a:xfrm>
          <a:prstGeom prst="rect">
            <a:avLst/>
          </a:prstGeom>
          <a:solidFill>
            <a:srgbClr val="FEF2FE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/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9D29C04E-B6F8-F70E-4919-02B6EFFEB782}"/>
              </a:ext>
            </a:extLst>
          </p:cNvPr>
          <p:cNvSpPr txBox="1"/>
          <p:nvPr/>
        </p:nvSpPr>
        <p:spPr>
          <a:xfrm>
            <a:off x="182039" y="5811101"/>
            <a:ext cx="596638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Region</a:t>
            </a:r>
          </a:p>
        </p:txBody>
      </p:sp>
      <p:sp>
        <p:nvSpPr>
          <p:cNvPr id="1235" name="Rectangle 1234">
            <a:extLst>
              <a:ext uri="{FF2B5EF4-FFF2-40B4-BE49-F238E27FC236}">
                <a16:creationId xmlns:a16="http://schemas.microsoft.com/office/drawing/2014/main" id="{E0AA22CA-2149-DC5B-C5F7-24BC72BF46A9}"/>
              </a:ext>
            </a:extLst>
          </p:cNvPr>
          <p:cNvSpPr/>
          <p:nvPr/>
        </p:nvSpPr>
        <p:spPr>
          <a:xfrm>
            <a:off x="60531" y="6032549"/>
            <a:ext cx="174642" cy="129505"/>
          </a:xfrm>
          <a:prstGeom prst="rect">
            <a:avLst/>
          </a:prstGeom>
          <a:solidFill>
            <a:srgbClr val="DDFFF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/>
          </a:p>
        </p:txBody>
      </p:sp>
      <p:sp>
        <p:nvSpPr>
          <p:cNvPr id="1236" name="Rectangle 1235">
            <a:extLst>
              <a:ext uri="{FF2B5EF4-FFF2-40B4-BE49-F238E27FC236}">
                <a16:creationId xmlns:a16="http://schemas.microsoft.com/office/drawing/2014/main" id="{38C19458-10EF-3F26-8178-2F2FAECB3DD8}"/>
              </a:ext>
            </a:extLst>
          </p:cNvPr>
          <p:cNvSpPr/>
          <p:nvPr/>
        </p:nvSpPr>
        <p:spPr>
          <a:xfrm>
            <a:off x="63008" y="6197645"/>
            <a:ext cx="174642" cy="129505"/>
          </a:xfrm>
          <a:prstGeom prst="rect">
            <a:avLst/>
          </a:prstGeom>
          <a:solidFill>
            <a:srgbClr val="FBE5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/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150D78E-6182-B180-7051-C2EB0A32084C}"/>
              </a:ext>
            </a:extLst>
          </p:cNvPr>
          <p:cNvSpPr txBox="1"/>
          <p:nvPr/>
        </p:nvSpPr>
        <p:spPr>
          <a:xfrm>
            <a:off x="179024" y="5977744"/>
            <a:ext cx="1292341" cy="2462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Description Length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9D77D0E5-51E0-9791-5376-B1CAFE74B725}"/>
              </a:ext>
            </a:extLst>
          </p:cNvPr>
          <p:cNvSpPr txBox="1"/>
          <p:nvPr/>
        </p:nvSpPr>
        <p:spPr>
          <a:xfrm>
            <a:off x="192345" y="6149554"/>
            <a:ext cx="731290" cy="2462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Audience</a:t>
            </a:r>
          </a:p>
        </p:txBody>
      </p:sp>
      <p:sp>
        <p:nvSpPr>
          <p:cNvPr id="1239" name="Rectangle 1238">
            <a:extLst>
              <a:ext uri="{FF2B5EF4-FFF2-40B4-BE49-F238E27FC236}">
                <a16:creationId xmlns:a16="http://schemas.microsoft.com/office/drawing/2014/main" id="{19B5F7BB-196A-512E-C5BB-E47F57B6E5ED}"/>
              </a:ext>
            </a:extLst>
          </p:cNvPr>
          <p:cNvSpPr/>
          <p:nvPr/>
        </p:nvSpPr>
        <p:spPr>
          <a:xfrm>
            <a:off x="64970" y="6366942"/>
            <a:ext cx="174642" cy="129505"/>
          </a:xfrm>
          <a:prstGeom prst="rect">
            <a:avLst/>
          </a:prstGeom>
          <a:solidFill>
            <a:srgbClr val="E2F0D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/>
          </a:p>
        </p:txBody>
      </p:sp>
      <p:sp>
        <p:nvSpPr>
          <p:cNvPr id="1240" name="Rectangle 1239">
            <a:extLst>
              <a:ext uri="{FF2B5EF4-FFF2-40B4-BE49-F238E27FC236}">
                <a16:creationId xmlns:a16="http://schemas.microsoft.com/office/drawing/2014/main" id="{F21252F9-E403-FA99-CBCE-E84D3469104C}"/>
              </a:ext>
            </a:extLst>
          </p:cNvPr>
          <p:cNvSpPr/>
          <p:nvPr/>
        </p:nvSpPr>
        <p:spPr>
          <a:xfrm>
            <a:off x="67447" y="6532038"/>
            <a:ext cx="174642" cy="129505"/>
          </a:xfrm>
          <a:prstGeom prst="rect">
            <a:avLst/>
          </a:prstGeom>
          <a:solidFill>
            <a:srgbClr val="FBE2E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/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2E3ABE05-EA8C-DA1C-05FE-78D9754B6EF7}"/>
              </a:ext>
            </a:extLst>
          </p:cNvPr>
          <p:cNvSpPr txBox="1"/>
          <p:nvPr/>
        </p:nvSpPr>
        <p:spPr>
          <a:xfrm>
            <a:off x="192307" y="6309280"/>
            <a:ext cx="1723550" cy="2462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Synergic Interaction Effect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FEB802A-5D86-6CB6-3785-E0E8C5E6E152}"/>
              </a:ext>
            </a:extLst>
          </p:cNvPr>
          <p:cNvSpPr txBox="1"/>
          <p:nvPr/>
        </p:nvSpPr>
        <p:spPr>
          <a:xfrm>
            <a:off x="185953" y="6484270"/>
            <a:ext cx="1957588" cy="2462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Antagonistic Interaction Effect</a:t>
            </a:r>
          </a:p>
        </p:txBody>
      </p:sp>
    </p:spTree>
    <p:extLst>
      <p:ext uri="{BB962C8B-B14F-4D97-AF65-F5344CB8AC3E}">
        <p14:creationId xmlns:p14="http://schemas.microsoft.com/office/powerpoint/2010/main" val="75709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BB2045-6E83-C331-F35D-B62896086939}"/>
              </a:ext>
            </a:extLst>
          </p:cNvPr>
          <p:cNvSpPr/>
          <p:nvPr/>
        </p:nvSpPr>
        <p:spPr>
          <a:xfrm>
            <a:off x="453044" y="515390"/>
            <a:ext cx="810491" cy="423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Fast Play Genres</a:t>
            </a:r>
            <a:endParaRPr lang="fi-FI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6531B8-F8AA-DF80-3ECB-626708191376}"/>
              </a:ext>
            </a:extLst>
          </p:cNvPr>
          <p:cNvSpPr/>
          <p:nvPr/>
        </p:nvSpPr>
        <p:spPr>
          <a:xfrm>
            <a:off x="453041" y="2236125"/>
            <a:ext cx="810491" cy="423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Learning Genres</a:t>
            </a:r>
            <a:endParaRPr lang="fi-FI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4706B9-D53F-98DF-2FE4-ABB49C3FFD34}"/>
              </a:ext>
            </a:extLst>
          </p:cNvPr>
          <p:cNvSpPr/>
          <p:nvPr/>
        </p:nvSpPr>
        <p:spPr>
          <a:xfrm>
            <a:off x="453042" y="3930535"/>
            <a:ext cx="810491" cy="423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Complex Genres</a:t>
            </a:r>
            <a:endParaRPr lang="fi-FI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B9B443-8E95-9CEB-4702-68ECA270D9D6}"/>
              </a:ext>
            </a:extLst>
          </p:cNvPr>
          <p:cNvSpPr/>
          <p:nvPr/>
        </p:nvSpPr>
        <p:spPr>
          <a:xfrm>
            <a:off x="453041" y="5726085"/>
            <a:ext cx="810491" cy="423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Restricted Genres</a:t>
            </a:r>
            <a:endParaRPr lang="fi-FI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0D39A-69F1-D750-1019-D4C44031BF6E}"/>
              </a:ext>
            </a:extLst>
          </p:cNvPr>
          <p:cNvSpPr txBox="1"/>
          <p:nvPr/>
        </p:nvSpPr>
        <p:spPr>
          <a:xfrm>
            <a:off x="3801276" y="207613"/>
            <a:ext cx="691216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Pricing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17DA49-6B26-7D94-D49D-EEB5AC4AC52E}"/>
              </a:ext>
            </a:extLst>
          </p:cNvPr>
          <p:cNvSpPr txBox="1"/>
          <p:nvPr/>
        </p:nvSpPr>
        <p:spPr>
          <a:xfrm>
            <a:off x="4946051" y="207612"/>
            <a:ext cx="184037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Monetization Strategy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D320D4-EF17-6838-C418-883431B18DFE}"/>
              </a:ext>
            </a:extLst>
          </p:cNvPr>
          <p:cNvSpPr txBox="1"/>
          <p:nvPr/>
        </p:nvSpPr>
        <p:spPr>
          <a:xfrm>
            <a:off x="6944679" y="207612"/>
            <a:ext cx="1380892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Target Audience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BF3FEC-46C0-EC1C-38D0-A0A7A2BFD94F}"/>
              </a:ext>
            </a:extLst>
          </p:cNvPr>
          <p:cNvSpPr txBox="1"/>
          <p:nvPr/>
        </p:nvSpPr>
        <p:spPr>
          <a:xfrm>
            <a:off x="8665182" y="199090"/>
            <a:ext cx="119391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Target Region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175EB7-9C74-9D1E-3E79-D3ACA6A6AF3B}"/>
              </a:ext>
            </a:extLst>
          </p:cNvPr>
          <p:cNvSpPr txBox="1"/>
          <p:nvPr/>
        </p:nvSpPr>
        <p:spPr>
          <a:xfrm>
            <a:off x="10129689" y="207612"/>
            <a:ext cx="1595181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Validation Strategy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BC39F4-FAB8-D023-CA9D-AD810AE9B0D2}"/>
              </a:ext>
            </a:extLst>
          </p:cNvPr>
          <p:cNvCxnSpPr>
            <a:cxnSpLocks/>
          </p:cNvCxnSpPr>
          <p:nvPr/>
        </p:nvCxnSpPr>
        <p:spPr>
          <a:xfrm>
            <a:off x="4816595" y="240862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030355-EA7C-41A9-A499-13A536A6E91D}"/>
              </a:ext>
            </a:extLst>
          </p:cNvPr>
          <p:cNvCxnSpPr>
            <a:cxnSpLocks/>
          </p:cNvCxnSpPr>
          <p:nvPr/>
        </p:nvCxnSpPr>
        <p:spPr>
          <a:xfrm>
            <a:off x="6968205" y="207610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55A06B-F676-CB0C-A5D3-B77EA310AED3}"/>
              </a:ext>
            </a:extLst>
          </p:cNvPr>
          <p:cNvCxnSpPr>
            <a:cxnSpLocks/>
          </p:cNvCxnSpPr>
          <p:nvPr/>
        </p:nvCxnSpPr>
        <p:spPr>
          <a:xfrm>
            <a:off x="8303777" y="139722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B7F4F6-0C6D-76E5-A6E1-8E2C9075DB95}"/>
              </a:ext>
            </a:extLst>
          </p:cNvPr>
          <p:cNvCxnSpPr>
            <a:cxnSpLocks/>
          </p:cNvCxnSpPr>
          <p:nvPr/>
        </p:nvCxnSpPr>
        <p:spPr>
          <a:xfrm>
            <a:off x="10086102" y="139722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80E00F1-2030-0CA8-8FE6-EC455F34F97A}"/>
              </a:ext>
            </a:extLst>
          </p:cNvPr>
          <p:cNvCxnSpPr>
            <a:cxnSpLocks/>
          </p:cNvCxnSpPr>
          <p:nvPr/>
        </p:nvCxnSpPr>
        <p:spPr>
          <a:xfrm flipV="1">
            <a:off x="1844035" y="1918163"/>
            <a:ext cx="10287000" cy="3325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EE1676-F227-55B4-4D69-66E3C144F083}"/>
              </a:ext>
            </a:extLst>
          </p:cNvPr>
          <p:cNvCxnSpPr>
            <a:cxnSpLocks/>
          </p:cNvCxnSpPr>
          <p:nvPr/>
        </p:nvCxnSpPr>
        <p:spPr>
          <a:xfrm flipV="1">
            <a:off x="1784460" y="5080635"/>
            <a:ext cx="10287000" cy="3325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7860482-EA9B-F514-98D6-80C6FCD8ACA9}"/>
              </a:ext>
            </a:extLst>
          </p:cNvPr>
          <p:cNvSpPr txBox="1"/>
          <p:nvPr/>
        </p:nvSpPr>
        <p:spPr>
          <a:xfrm>
            <a:off x="3426134" y="596559"/>
            <a:ext cx="800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FP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B7CBEB-30E1-3185-9369-52EF9E9A0E25}"/>
              </a:ext>
            </a:extLst>
          </p:cNvPr>
          <p:cNvSpPr txBox="1"/>
          <p:nvPr/>
        </p:nvSpPr>
        <p:spPr>
          <a:xfrm>
            <a:off x="3423806" y="813536"/>
            <a:ext cx="8146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LG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82F912-0A1E-5ACB-721B-6FB270798DF3}"/>
              </a:ext>
            </a:extLst>
          </p:cNvPr>
          <p:cNvSpPr txBox="1"/>
          <p:nvPr/>
        </p:nvSpPr>
        <p:spPr>
          <a:xfrm>
            <a:off x="3432573" y="1035628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CG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1892A6-DAFA-0587-2184-EBC4E1B48CE5}"/>
              </a:ext>
            </a:extLst>
          </p:cNvPr>
          <p:cNvSpPr txBox="1"/>
          <p:nvPr/>
        </p:nvSpPr>
        <p:spPr>
          <a:xfrm>
            <a:off x="3436164" y="1249409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RG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862F6A-D776-A07E-89FF-C13F5DE76B2F}"/>
              </a:ext>
            </a:extLst>
          </p:cNvPr>
          <p:cNvSpPr txBox="1"/>
          <p:nvPr/>
        </p:nvSpPr>
        <p:spPr>
          <a:xfrm>
            <a:off x="8272844" y="560696"/>
            <a:ext cx="18373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FP + US + BR + 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09AC98-1DF5-A907-A9B1-F9C6AC4D170D}"/>
              </a:ext>
            </a:extLst>
          </p:cNvPr>
          <p:cNvSpPr txBox="1"/>
          <p:nvPr/>
        </p:nvSpPr>
        <p:spPr>
          <a:xfrm>
            <a:off x="5223796" y="1035628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CG + IAP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6225CA-045D-7EAA-C44A-F1B74D8B8BB3}"/>
              </a:ext>
            </a:extLst>
          </p:cNvPr>
          <p:cNvSpPr txBox="1"/>
          <p:nvPr/>
        </p:nvSpPr>
        <p:spPr>
          <a:xfrm>
            <a:off x="10110206" y="527192"/>
            <a:ext cx="19752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FP + US + BR + IN +</a:t>
            </a:r>
          </a:p>
          <a:p>
            <a:r>
              <a:rPr lang="en-US" sz="1100" b="1" dirty="0">
                <a:latin typeface="Segoe UI Variable Small Semibol" pitchFamily="2" charset="0"/>
              </a:rPr>
              <a:t> long </a:t>
            </a:r>
            <a:r>
              <a:rPr lang="en-US" sz="1100" b="1" dirty="0" err="1">
                <a:latin typeface="Segoe UI Variable Small Semibol" pitchFamily="2" charset="0"/>
              </a:rPr>
              <a:t>discritiption</a:t>
            </a:r>
            <a:endParaRPr lang="en-US" sz="1100" b="1" dirty="0">
              <a:latin typeface="Segoe UI Variable Small Semibol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F6FCA3-6F56-ACD9-B9D9-AE0BD849AF7A}"/>
              </a:ext>
            </a:extLst>
          </p:cNvPr>
          <p:cNvSpPr txBox="1"/>
          <p:nvPr/>
        </p:nvSpPr>
        <p:spPr>
          <a:xfrm>
            <a:off x="5306723" y="596559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  <a:latin typeface="Segoe UI Variable Small Semibol" pitchFamily="2" charset="0"/>
              </a:rPr>
              <a:t>IAP or Ads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294467-91F6-6F69-16D8-49C378E4635A}"/>
              </a:ext>
            </a:extLst>
          </p:cNvPr>
          <p:cNvSpPr txBox="1"/>
          <p:nvPr/>
        </p:nvSpPr>
        <p:spPr>
          <a:xfrm>
            <a:off x="5297921" y="781108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  <a:latin typeface="Segoe UI Variable Small Semibol" pitchFamily="2" charset="0"/>
              </a:rPr>
              <a:t>IAP or Ads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0FD769-667D-FC9A-517B-21A4E249378F}"/>
              </a:ext>
            </a:extLst>
          </p:cNvPr>
          <p:cNvSpPr txBox="1"/>
          <p:nvPr/>
        </p:nvSpPr>
        <p:spPr>
          <a:xfrm>
            <a:off x="5293370" y="1260029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  <a:latin typeface="Segoe UI Variable Small Semibol" pitchFamily="2" charset="0"/>
              </a:rPr>
              <a:t>IAP or Ads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04AB45-3CBF-2307-E952-7633BC9E5A35}"/>
              </a:ext>
            </a:extLst>
          </p:cNvPr>
          <p:cNvSpPr txBox="1"/>
          <p:nvPr/>
        </p:nvSpPr>
        <p:spPr>
          <a:xfrm>
            <a:off x="8272844" y="787943"/>
            <a:ext cx="19062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LG + PH + MX + IN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DE6F24-AF0C-0D24-9629-B59A9DCE9594}"/>
              </a:ext>
            </a:extLst>
          </p:cNvPr>
          <p:cNvSpPr txBox="1"/>
          <p:nvPr/>
        </p:nvSpPr>
        <p:spPr>
          <a:xfrm>
            <a:off x="8272844" y="996766"/>
            <a:ext cx="18453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CG + DE + FI + RU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0B6BFC-FB53-52C3-250E-56AAC9DA808E}"/>
              </a:ext>
            </a:extLst>
          </p:cNvPr>
          <p:cNvSpPr txBox="1"/>
          <p:nvPr/>
        </p:nvSpPr>
        <p:spPr>
          <a:xfrm>
            <a:off x="8272844" y="1235045"/>
            <a:ext cx="19255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RG + PH + MX + IN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DB1E11-E3D4-3E41-1C3B-56EBDDAC7935}"/>
              </a:ext>
            </a:extLst>
          </p:cNvPr>
          <p:cNvSpPr txBox="1"/>
          <p:nvPr/>
        </p:nvSpPr>
        <p:spPr>
          <a:xfrm>
            <a:off x="10129689" y="1157382"/>
            <a:ext cx="16081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RG + long disc</a:t>
            </a:r>
          </a:p>
          <a:p>
            <a:r>
              <a:rPr lang="en-US" sz="1100" b="1" dirty="0">
                <a:latin typeface="Segoe UI Variable Small Semibol" pitchFamily="2" charset="0"/>
              </a:rPr>
              <a:t>+Rev count</a:t>
            </a:r>
          </a:p>
        </p:txBody>
      </p:sp>
    </p:spTree>
    <p:extLst>
      <p:ext uri="{BB962C8B-B14F-4D97-AF65-F5344CB8AC3E}">
        <p14:creationId xmlns:p14="http://schemas.microsoft.com/office/powerpoint/2010/main" val="39066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B8FDD6F-706D-1448-B8D4-FBCACACCCA75}"/>
              </a:ext>
            </a:extLst>
          </p:cNvPr>
          <p:cNvSpPr/>
          <p:nvPr/>
        </p:nvSpPr>
        <p:spPr>
          <a:xfrm>
            <a:off x="707672" y="1012077"/>
            <a:ext cx="810491" cy="423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0</a:t>
            </a:r>
            <a:endParaRPr lang="fi-FI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1D16E5-00D6-1916-96E6-24E145A12D11}"/>
              </a:ext>
            </a:extLst>
          </p:cNvPr>
          <p:cNvSpPr/>
          <p:nvPr/>
        </p:nvSpPr>
        <p:spPr>
          <a:xfrm>
            <a:off x="688075" y="2385753"/>
            <a:ext cx="810491" cy="423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1</a:t>
            </a:r>
            <a:endParaRPr lang="fi-FI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66A79A-3455-947D-97CB-622F992D85D3}"/>
              </a:ext>
            </a:extLst>
          </p:cNvPr>
          <p:cNvSpPr/>
          <p:nvPr/>
        </p:nvSpPr>
        <p:spPr>
          <a:xfrm>
            <a:off x="707672" y="4005349"/>
            <a:ext cx="810491" cy="423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2</a:t>
            </a:r>
            <a:endParaRPr lang="fi-FI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45B8B3-6BDA-84D2-3967-F1714A47A51A}"/>
              </a:ext>
            </a:extLst>
          </p:cNvPr>
          <p:cNvSpPr/>
          <p:nvPr/>
        </p:nvSpPr>
        <p:spPr>
          <a:xfrm>
            <a:off x="688075" y="5511338"/>
            <a:ext cx="810491" cy="423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3</a:t>
            </a:r>
            <a:endParaRPr lang="fi-FI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0D39A-69F1-D750-1019-D4C44031BF6E}"/>
              </a:ext>
            </a:extLst>
          </p:cNvPr>
          <p:cNvSpPr txBox="1"/>
          <p:nvPr/>
        </p:nvSpPr>
        <p:spPr>
          <a:xfrm>
            <a:off x="3801276" y="207613"/>
            <a:ext cx="691216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Pricing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17DA49-6B26-7D94-D49D-EEB5AC4AC52E}"/>
              </a:ext>
            </a:extLst>
          </p:cNvPr>
          <p:cNvSpPr txBox="1"/>
          <p:nvPr/>
        </p:nvSpPr>
        <p:spPr>
          <a:xfrm>
            <a:off x="4946051" y="207612"/>
            <a:ext cx="184037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Monetization Strategy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D320D4-EF17-6838-C418-883431B18DFE}"/>
              </a:ext>
            </a:extLst>
          </p:cNvPr>
          <p:cNvSpPr txBox="1"/>
          <p:nvPr/>
        </p:nvSpPr>
        <p:spPr>
          <a:xfrm>
            <a:off x="6944679" y="207612"/>
            <a:ext cx="1380892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Target Audience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BF3FEC-46C0-EC1C-38D0-A0A7A2BFD94F}"/>
              </a:ext>
            </a:extLst>
          </p:cNvPr>
          <p:cNvSpPr txBox="1"/>
          <p:nvPr/>
        </p:nvSpPr>
        <p:spPr>
          <a:xfrm>
            <a:off x="8665182" y="199090"/>
            <a:ext cx="119391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Target Region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175EB7-9C74-9D1E-3E79-D3ACA6A6AF3B}"/>
              </a:ext>
            </a:extLst>
          </p:cNvPr>
          <p:cNvSpPr txBox="1"/>
          <p:nvPr/>
        </p:nvSpPr>
        <p:spPr>
          <a:xfrm>
            <a:off x="10129689" y="207612"/>
            <a:ext cx="1595181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Validation Strategy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BC39F4-FAB8-D023-CA9D-AD810AE9B0D2}"/>
              </a:ext>
            </a:extLst>
          </p:cNvPr>
          <p:cNvCxnSpPr>
            <a:cxnSpLocks/>
          </p:cNvCxnSpPr>
          <p:nvPr/>
        </p:nvCxnSpPr>
        <p:spPr>
          <a:xfrm>
            <a:off x="4816595" y="240862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030355-EA7C-41A9-A499-13A536A6E91D}"/>
              </a:ext>
            </a:extLst>
          </p:cNvPr>
          <p:cNvCxnSpPr>
            <a:cxnSpLocks/>
          </p:cNvCxnSpPr>
          <p:nvPr/>
        </p:nvCxnSpPr>
        <p:spPr>
          <a:xfrm>
            <a:off x="6968205" y="207610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55A06B-F676-CB0C-A5D3-B77EA310AED3}"/>
              </a:ext>
            </a:extLst>
          </p:cNvPr>
          <p:cNvCxnSpPr>
            <a:cxnSpLocks/>
          </p:cNvCxnSpPr>
          <p:nvPr/>
        </p:nvCxnSpPr>
        <p:spPr>
          <a:xfrm>
            <a:off x="8303777" y="139722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B7F4F6-0C6D-76E5-A6E1-8E2C9075DB95}"/>
              </a:ext>
            </a:extLst>
          </p:cNvPr>
          <p:cNvCxnSpPr>
            <a:cxnSpLocks/>
          </p:cNvCxnSpPr>
          <p:nvPr/>
        </p:nvCxnSpPr>
        <p:spPr>
          <a:xfrm>
            <a:off x="10086102" y="139722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80E00F1-2030-0CA8-8FE6-EC455F34F97A}"/>
              </a:ext>
            </a:extLst>
          </p:cNvPr>
          <p:cNvCxnSpPr>
            <a:cxnSpLocks/>
          </p:cNvCxnSpPr>
          <p:nvPr/>
        </p:nvCxnSpPr>
        <p:spPr>
          <a:xfrm flipV="1">
            <a:off x="1844035" y="1918163"/>
            <a:ext cx="10287000" cy="3325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D02EBFF-0ACC-E245-7890-433F544228A2}"/>
              </a:ext>
            </a:extLst>
          </p:cNvPr>
          <p:cNvCxnSpPr>
            <a:cxnSpLocks/>
          </p:cNvCxnSpPr>
          <p:nvPr/>
        </p:nvCxnSpPr>
        <p:spPr>
          <a:xfrm flipV="1">
            <a:off x="1784460" y="3565121"/>
            <a:ext cx="10287000" cy="3325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EE1676-F227-55B4-4D69-66E3C144F083}"/>
              </a:ext>
            </a:extLst>
          </p:cNvPr>
          <p:cNvCxnSpPr>
            <a:cxnSpLocks/>
          </p:cNvCxnSpPr>
          <p:nvPr/>
        </p:nvCxnSpPr>
        <p:spPr>
          <a:xfrm flipV="1">
            <a:off x="1784460" y="5080635"/>
            <a:ext cx="10287000" cy="3325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7860482-EA9B-F514-98D6-80C6FCD8ACA9}"/>
              </a:ext>
            </a:extLst>
          </p:cNvPr>
          <p:cNvSpPr txBox="1"/>
          <p:nvPr/>
        </p:nvSpPr>
        <p:spPr>
          <a:xfrm>
            <a:off x="3426134" y="596559"/>
            <a:ext cx="800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FP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B7CBEB-30E1-3185-9369-52EF9E9A0E25}"/>
              </a:ext>
            </a:extLst>
          </p:cNvPr>
          <p:cNvSpPr txBox="1"/>
          <p:nvPr/>
        </p:nvSpPr>
        <p:spPr>
          <a:xfrm>
            <a:off x="3423806" y="813536"/>
            <a:ext cx="8146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LG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82F912-0A1E-5ACB-721B-6FB270798DF3}"/>
              </a:ext>
            </a:extLst>
          </p:cNvPr>
          <p:cNvSpPr txBox="1"/>
          <p:nvPr/>
        </p:nvSpPr>
        <p:spPr>
          <a:xfrm>
            <a:off x="3432573" y="1035628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CG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1892A6-DAFA-0587-2184-EBC4E1B48CE5}"/>
              </a:ext>
            </a:extLst>
          </p:cNvPr>
          <p:cNvSpPr txBox="1"/>
          <p:nvPr/>
        </p:nvSpPr>
        <p:spPr>
          <a:xfrm>
            <a:off x="3436164" y="1249409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RG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862F6A-D776-A07E-89FF-C13F5DE76B2F}"/>
              </a:ext>
            </a:extLst>
          </p:cNvPr>
          <p:cNvSpPr txBox="1"/>
          <p:nvPr/>
        </p:nvSpPr>
        <p:spPr>
          <a:xfrm>
            <a:off x="8272844" y="560696"/>
            <a:ext cx="18373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FP + US + BR + 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09AC98-1DF5-A907-A9B1-F9C6AC4D170D}"/>
              </a:ext>
            </a:extLst>
          </p:cNvPr>
          <p:cNvSpPr txBox="1"/>
          <p:nvPr/>
        </p:nvSpPr>
        <p:spPr>
          <a:xfrm>
            <a:off x="5223796" y="1035628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CG + IAP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6225CA-045D-7EAA-C44A-F1B74D8B8BB3}"/>
              </a:ext>
            </a:extLst>
          </p:cNvPr>
          <p:cNvSpPr txBox="1"/>
          <p:nvPr/>
        </p:nvSpPr>
        <p:spPr>
          <a:xfrm>
            <a:off x="10110206" y="527192"/>
            <a:ext cx="19752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FP + US + BR + IN +</a:t>
            </a:r>
          </a:p>
          <a:p>
            <a:r>
              <a:rPr lang="en-US" sz="1100" b="1" dirty="0">
                <a:latin typeface="Segoe UI Variable Small Semibol" pitchFamily="2" charset="0"/>
              </a:rPr>
              <a:t> long </a:t>
            </a:r>
            <a:r>
              <a:rPr lang="en-US" sz="1100" b="1" dirty="0" err="1">
                <a:latin typeface="Segoe UI Variable Small Semibol" pitchFamily="2" charset="0"/>
              </a:rPr>
              <a:t>discritiption</a:t>
            </a:r>
            <a:endParaRPr lang="en-US" sz="1100" b="1" dirty="0">
              <a:latin typeface="Segoe UI Variable Small Semibol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F6FCA3-6F56-ACD9-B9D9-AE0BD849AF7A}"/>
              </a:ext>
            </a:extLst>
          </p:cNvPr>
          <p:cNvSpPr txBox="1"/>
          <p:nvPr/>
        </p:nvSpPr>
        <p:spPr>
          <a:xfrm>
            <a:off x="5306723" y="596559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  <a:latin typeface="Segoe UI Variable Small Semibol" pitchFamily="2" charset="0"/>
              </a:rPr>
              <a:t>IAP or Ads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294467-91F6-6F69-16D8-49C378E4635A}"/>
              </a:ext>
            </a:extLst>
          </p:cNvPr>
          <p:cNvSpPr txBox="1"/>
          <p:nvPr/>
        </p:nvSpPr>
        <p:spPr>
          <a:xfrm>
            <a:off x="5297921" y="781108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  <a:latin typeface="Segoe UI Variable Small Semibol" pitchFamily="2" charset="0"/>
              </a:rPr>
              <a:t>IAP or Ads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0FD769-667D-FC9A-517B-21A4E249378F}"/>
              </a:ext>
            </a:extLst>
          </p:cNvPr>
          <p:cNvSpPr txBox="1"/>
          <p:nvPr/>
        </p:nvSpPr>
        <p:spPr>
          <a:xfrm>
            <a:off x="5293370" y="1260029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  <a:latin typeface="Segoe UI Variable Small Semibol" pitchFamily="2" charset="0"/>
              </a:rPr>
              <a:t>IAP or Ads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04AB45-3CBF-2307-E952-7633BC9E5A35}"/>
              </a:ext>
            </a:extLst>
          </p:cNvPr>
          <p:cNvSpPr txBox="1"/>
          <p:nvPr/>
        </p:nvSpPr>
        <p:spPr>
          <a:xfrm>
            <a:off x="8272844" y="787943"/>
            <a:ext cx="19062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LG + PH + MX + IN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DE6F24-AF0C-0D24-9629-B59A9DCE9594}"/>
              </a:ext>
            </a:extLst>
          </p:cNvPr>
          <p:cNvSpPr txBox="1"/>
          <p:nvPr/>
        </p:nvSpPr>
        <p:spPr>
          <a:xfrm>
            <a:off x="8272844" y="996766"/>
            <a:ext cx="18453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CG + DE + FI + RU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0B6BFC-FB53-52C3-250E-56AAC9DA808E}"/>
              </a:ext>
            </a:extLst>
          </p:cNvPr>
          <p:cNvSpPr txBox="1"/>
          <p:nvPr/>
        </p:nvSpPr>
        <p:spPr>
          <a:xfrm>
            <a:off x="8272844" y="1235045"/>
            <a:ext cx="19255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RG + PH + MX + IN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DB1E11-E3D4-3E41-1C3B-56EBDDAC7935}"/>
              </a:ext>
            </a:extLst>
          </p:cNvPr>
          <p:cNvSpPr txBox="1"/>
          <p:nvPr/>
        </p:nvSpPr>
        <p:spPr>
          <a:xfrm>
            <a:off x="10129689" y="1157382"/>
            <a:ext cx="16081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Free + RG + long disc</a:t>
            </a:r>
          </a:p>
          <a:p>
            <a:r>
              <a:rPr lang="en-US" sz="1100" b="1" dirty="0">
                <a:latin typeface="Segoe UI Variable Small Semibol" pitchFamily="2" charset="0"/>
              </a:rPr>
              <a:t>+Rev count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432653-D987-0CAD-E632-93C61212CBCE}"/>
              </a:ext>
            </a:extLst>
          </p:cNvPr>
          <p:cNvCxnSpPr>
            <a:cxnSpLocks/>
          </p:cNvCxnSpPr>
          <p:nvPr/>
        </p:nvCxnSpPr>
        <p:spPr>
          <a:xfrm>
            <a:off x="3194228" y="251356"/>
            <a:ext cx="0" cy="635528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53BF8B-9A19-23BA-2CA0-B10BF35F9E5C}"/>
              </a:ext>
            </a:extLst>
          </p:cNvPr>
          <p:cNvSpPr txBox="1"/>
          <p:nvPr/>
        </p:nvSpPr>
        <p:spPr>
          <a:xfrm>
            <a:off x="2071348" y="195288"/>
            <a:ext cx="63632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Roboto" panose="02000000000000000000" pitchFamily="2" charset="0"/>
                <a:cs typeface="Nirmala UI" panose="020B0502040204020203" pitchFamily="34" charset="0"/>
              </a:rPr>
              <a:t>Genre</a:t>
            </a:r>
          </a:p>
        </p:txBody>
      </p:sp>
    </p:spTree>
    <p:extLst>
      <p:ext uri="{BB962C8B-B14F-4D97-AF65-F5344CB8AC3E}">
        <p14:creationId xmlns:p14="http://schemas.microsoft.com/office/powerpoint/2010/main" val="143362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DE95493-6682-D32F-46C7-D9CFC84C6D09}"/>
              </a:ext>
            </a:extLst>
          </p:cNvPr>
          <p:cNvSpPr txBox="1"/>
          <p:nvPr/>
        </p:nvSpPr>
        <p:spPr>
          <a:xfrm>
            <a:off x="292874" y="596042"/>
            <a:ext cx="4447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ptos" panose="020B0004020202020204" pitchFamily="34" charset="0"/>
              </a:rPr>
              <a:t>+2.0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+1.5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+1.0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+0.5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  0.0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-0.5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-1.0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-1.5</a:t>
            </a:r>
            <a:endParaRPr lang="en-US" sz="900" dirty="0"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B217C6-D797-C69F-4EA2-D96B1E12B1E3}"/>
              </a:ext>
            </a:extLst>
          </p:cNvPr>
          <p:cNvCxnSpPr>
            <a:cxnSpLocks/>
          </p:cNvCxnSpPr>
          <p:nvPr/>
        </p:nvCxnSpPr>
        <p:spPr>
          <a:xfrm>
            <a:off x="658966" y="575667"/>
            <a:ext cx="0" cy="26512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CD1E6F-2FF1-AD0E-D591-1D7A74A274C4}"/>
              </a:ext>
            </a:extLst>
          </p:cNvPr>
          <p:cNvCxnSpPr>
            <a:cxnSpLocks/>
          </p:cNvCxnSpPr>
          <p:nvPr/>
        </p:nvCxnSpPr>
        <p:spPr>
          <a:xfrm flipV="1">
            <a:off x="660473" y="3174146"/>
            <a:ext cx="5663054" cy="527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26486-8A51-BD9D-1158-16E3AE0B4D50}"/>
              </a:ext>
            </a:extLst>
          </p:cNvPr>
          <p:cNvSpPr txBox="1"/>
          <p:nvPr/>
        </p:nvSpPr>
        <p:spPr>
          <a:xfrm>
            <a:off x="-15744" y="634857"/>
            <a:ext cx="492443" cy="22422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Effect Size (</a:t>
            </a:r>
            <a:r>
              <a:rPr lang="el-GR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Δ</a:t>
            </a:r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_Add \ log </a:t>
            </a:r>
            <a:r>
              <a:rPr lang="el-GR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Δ</a:t>
            </a:r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_Multi)</a:t>
            </a:r>
          </a:p>
          <a:p>
            <a:endParaRPr lang="en-US" sz="1000" b="1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 Ligh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A8B2B1-1592-7009-3871-5523D9A7999A}"/>
              </a:ext>
            </a:extLst>
          </p:cNvPr>
          <p:cNvSpPr txBox="1"/>
          <p:nvPr/>
        </p:nvSpPr>
        <p:spPr>
          <a:xfrm rot="5400000">
            <a:off x="3225203" y="706128"/>
            <a:ext cx="323165" cy="521312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</a:rPr>
              <a:t>US                IN                      FI                    MX                 DE                      BR                 RU              PH	  POOLED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D48787-4F37-8C2E-D06F-BC443951DDF6}"/>
              </a:ext>
            </a:extLst>
          </p:cNvPr>
          <p:cNvCxnSpPr>
            <a:cxnSpLocks/>
          </p:cNvCxnSpPr>
          <p:nvPr/>
        </p:nvCxnSpPr>
        <p:spPr>
          <a:xfrm flipV="1">
            <a:off x="662985" y="1908860"/>
            <a:ext cx="5423157" cy="19703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9344D9D-8225-ECBB-F6D6-006186AB745F}"/>
              </a:ext>
            </a:extLst>
          </p:cNvPr>
          <p:cNvSpPr/>
          <p:nvPr/>
        </p:nvSpPr>
        <p:spPr>
          <a:xfrm>
            <a:off x="764098" y="1790343"/>
            <a:ext cx="64008" cy="1339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3ADD65-A47E-2198-958C-3E092FEF9011}"/>
              </a:ext>
            </a:extLst>
          </p:cNvPr>
          <p:cNvSpPr/>
          <p:nvPr/>
        </p:nvSpPr>
        <p:spPr>
          <a:xfrm>
            <a:off x="850442" y="1670141"/>
            <a:ext cx="64008" cy="2524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FF6A79-BDC4-FBB5-2BBD-673985F60C6E}"/>
              </a:ext>
            </a:extLst>
          </p:cNvPr>
          <p:cNvSpPr/>
          <p:nvPr/>
        </p:nvSpPr>
        <p:spPr>
          <a:xfrm rot="5400000">
            <a:off x="1618720" y="28760"/>
            <a:ext cx="112539" cy="19223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900"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370816-5B87-8B70-48A5-947750C06468}"/>
              </a:ext>
            </a:extLst>
          </p:cNvPr>
          <p:cNvSpPr txBox="1"/>
          <p:nvPr/>
        </p:nvSpPr>
        <p:spPr>
          <a:xfrm>
            <a:off x="1734397" y="8924"/>
            <a:ext cx="1062731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l-GR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Δ</a:t>
            </a:r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_Add Installs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FC8987-A3BA-E143-CB0D-44549AC410EF}"/>
              </a:ext>
            </a:extLst>
          </p:cNvPr>
          <p:cNvSpPr txBox="1"/>
          <p:nvPr/>
        </p:nvSpPr>
        <p:spPr>
          <a:xfrm>
            <a:off x="1730104" y="193496"/>
            <a:ext cx="1341774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Log </a:t>
            </a:r>
            <a:r>
              <a:rPr lang="el-GR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Δ</a:t>
            </a:r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_Multi Installs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2C7FAC-3EA5-7104-678A-A4786C857CBA}"/>
              </a:ext>
            </a:extLst>
          </p:cNvPr>
          <p:cNvSpPr/>
          <p:nvPr/>
        </p:nvSpPr>
        <p:spPr>
          <a:xfrm rot="5400000">
            <a:off x="1616898" y="199805"/>
            <a:ext cx="112539" cy="192239"/>
          </a:xfrm>
          <a:prstGeom prst="rect">
            <a:avLst/>
          </a:prstGeom>
          <a:solidFill>
            <a:srgbClr val="B4C7E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900">
              <a:latin typeface="Aptos" panose="020B00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4B89AA-29EB-09E0-2523-493B20A90B35}"/>
              </a:ext>
            </a:extLst>
          </p:cNvPr>
          <p:cNvSpPr/>
          <p:nvPr/>
        </p:nvSpPr>
        <p:spPr>
          <a:xfrm rot="5400000">
            <a:off x="4083645" y="27821"/>
            <a:ext cx="112539" cy="192239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900"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94D74C-D932-07D9-0485-AA76BF22AC73}"/>
              </a:ext>
            </a:extLst>
          </p:cNvPr>
          <p:cNvSpPr/>
          <p:nvPr/>
        </p:nvSpPr>
        <p:spPr>
          <a:xfrm rot="5400000">
            <a:off x="4083643" y="198866"/>
            <a:ext cx="112539" cy="192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900"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B703ED-2FD6-49B9-0E78-FBC143C5FF6E}"/>
              </a:ext>
            </a:extLst>
          </p:cNvPr>
          <p:cNvSpPr txBox="1"/>
          <p:nvPr/>
        </p:nvSpPr>
        <p:spPr>
          <a:xfrm>
            <a:off x="4177531" y="20763"/>
            <a:ext cx="1062731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l-GR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Δ</a:t>
            </a:r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_Add Ratings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74528-85B2-3782-AC1E-33795BC10392}"/>
              </a:ext>
            </a:extLst>
          </p:cNvPr>
          <p:cNvSpPr txBox="1"/>
          <p:nvPr/>
        </p:nvSpPr>
        <p:spPr>
          <a:xfrm>
            <a:off x="4177531" y="193496"/>
            <a:ext cx="1341774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Log </a:t>
            </a:r>
            <a:r>
              <a:rPr lang="el-GR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Δ</a:t>
            </a:r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_Multi Ratings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D07400-B935-7253-FCCA-FF239152A8D1}"/>
              </a:ext>
            </a:extLst>
          </p:cNvPr>
          <p:cNvSpPr/>
          <p:nvPr/>
        </p:nvSpPr>
        <p:spPr>
          <a:xfrm>
            <a:off x="1341986" y="658197"/>
            <a:ext cx="64008" cy="12594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4B7A9F-B863-5CFE-68E8-979E95E1EE5C}"/>
              </a:ext>
            </a:extLst>
          </p:cNvPr>
          <p:cNvSpPr/>
          <p:nvPr/>
        </p:nvSpPr>
        <p:spPr>
          <a:xfrm>
            <a:off x="1434177" y="998333"/>
            <a:ext cx="64008" cy="9187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02CD4A-79C7-6C29-C32F-5B55953A42C3}"/>
              </a:ext>
            </a:extLst>
          </p:cNvPr>
          <p:cNvSpPr/>
          <p:nvPr/>
        </p:nvSpPr>
        <p:spPr>
          <a:xfrm>
            <a:off x="930096" y="1939267"/>
            <a:ext cx="64008" cy="22860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3676EC-0741-6BF0-54E9-7C94911AF9DE}"/>
              </a:ext>
            </a:extLst>
          </p:cNvPr>
          <p:cNvSpPr/>
          <p:nvPr/>
        </p:nvSpPr>
        <p:spPr>
          <a:xfrm>
            <a:off x="1017868" y="1939325"/>
            <a:ext cx="64008" cy="274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BCE8AF-A22B-1C67-38DB-FCFD2A2861B5}"/>
              </a:ext>
            </a:extLst>
          </p:cNvPr>
          <p:cNvSpPr/>
          <p:nvPr/>
        </p:nvSpPr>
        <p:spPr>
          <a:xfrm>
            <a:off x="1528968" y="1932826"/>
            <a:ext cx="64008" cy="441358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2D66A63-2D9F-8D10-FDC5-CD487A9F7758}"/>
              </a:ext>
            </a:extLst>
          </p:cNvPr>
          <p:cNvSpPr/>
          <p:nvPr/>
        </p:nvSpPr>
        <p:spPr>
          <a:xfrm>
            <a:off x="1616739" y="1932885"/>
            <a:ext cx="64008" cy="2710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941FAA-8110-6536-9109-5DA945E476AF}"/>
              </a:ext>
            </a:extLst>
          </p:cNvPr>
          <p:cNvSpPr/>
          <p:nvPr/>
        </p:nvSpPr>
        <p:spPr>
          <a:xfrm>
            <a:off x="1986963" y="1683019"/>
            <a:ext cx="64008" cy="2377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7C1A02B-E1A0-F433-C771-601DF76F52C8}"/>
              </a:ext>
            </a:extLst>
          </p:cNvPr>
          <p:cNvSpPr/>
          <p:nvPr/>
        </p:nvSpPr>
        <p:spPr>
          <a:xfrm>
            <a:off x="2076093" y="1734536"/>
            <a:ext cx="64008" cy="182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712DF2-3C34-AA62-915C-9E33B015082A}"/>
              </a:ext>
            </a:extLst>
          </p:cNvPr>
          <p:cNvSpPr/>
          <p:nvPr/>
        </p:nvSpPr>
        <p:spPr>
          <a:xfrm>
            <a:off x="2582479" y="1756000"/>
            <a:ext cx="64008" cy="1645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AB5CC9-CFBB-37EA-C4BA-3F9120370128}"/>
              </a:ext>
            </a:extLst>
          </p:cNvPr>
          <p:cNvSpPr/>
          <p:nvPr/>
        </p:nvSpPr>
        <p:spPr>
          <a:xfrm>
            <a:off x="2664234" y="1657262"/>
            <a:ext cx="64008" cy="2631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35A6E3C-D165-79CF-5430-FB2A9D9A786B}"/>
              </a:ext>
            </a:extLst>
          </p:cNvPr>
          <p:cNvSpPr/>
          <p:nvPr/>
        </p:nvSpPr>
        <p:spPr>
          <a:xfrm>
            <a:off x="2170572" y="1834960"/>
            <a:ext cx="64008" cy="9144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FD08FB3-E372-BE68-7DEF-EA95B8FD6D75}"/>
              </a:ext>
            </a:extLst>
          </p:cNvPr>
          <p:cNvSpPr/>
          <p:nvPr/>
        </p:nvSpPr>
        <p:spPr>
          <a:xfrm>
            <a:off x="2258492" y="1833860"/>
            <a:ext cx="64008" cy="914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B6C340-8359-7EED-AEE2-D449CA20899F}"/>
              </a:ext>
            </a:extLst>
          </p:cNvPr>
          <p:cNvSpPr/>
          <p:nvPr/>
        </p:nvSpPr>
        <p:spPr>
          <a:xfrm>
            <a:off x="2758018" y="1833860"/>
            <a:ext cx="64008" cy="9144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C27DD4C-BFB7-946E-6B16-C134946663D3}"/>
              </a:ext>
            </a:extLst>
          </p:cNvPr>
          <p:cNvSpPr/>
          <p:nvPr/>
        </p:nvSpPr>
        <p:spPr>
          <a:xfrm>
            <a:off x="2845577" y="1825628"/>
            <a:ext cx="64008" cy="914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CD86A8-4042-A2F9-01AF-61DC8163FF64}"/>
              </a:ext>
            </a:extLst>
          </p:cNvPr>
          <p:cNvSpPr/>
          <p:nvPr/>
        </p:nvSpPr>
        <p:spPr>
          <a:xfrm>
            <a:off x="4336352" y="1747286"/>
            <a:ext cx="64008" cy="1645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87C2F4-6C66-AD3B-0406-950EFFEDDD79}"/>
              </a:ext>
            </a:extLst>
          </p:cNvPr>
          <p:cNvSpPr/>
          <p:nvPr/>
        </p:nvSpPr>
        <p:spPr>
          <a:xfrm>
            <a:off x="4423175" y="1746127"/>
            <a:ext cx="64008" cy="1737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8CCB75-EA97-EC84-D09D-8C979E2EC229}"/>
              </a:ext>
            </a:extLst>
          </p:cNvPr>
          <p:cNvSpPr/>
          <p:nvPr/>
        </p:nvSpPr>
        <p:spPr>
          <a:xfrm>
            <a:off x="4510321" y="1846057"/>
            <a:ext cx="64008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BACFF86-5D24-70EC-96FE-7D056F0D564A}"/>
              </a:ext>
            </a:extLst>
          </p:cNvPr>
          <p:cNvSpPr/>
          <p:nvPr/>
        </p:nvSpPr>
        <p:spPr>
          <a:xfrm>
            <a:off x="4593926" y="1859997"/>
            <a:ext cx="64008" cy="548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682424-AD69-492D-F0E5-07C22F08FF9A}"/>
              </a:ext>
            </a:extLst>
          </p:cNvPr>
          <p:cNvSpPr/>
          <p:nvPr/>
        </p:nvSpPr>
        <p:spPr>
          <a:xfrm>
            <a:off x="4883951" y="1731007"/>
            <a:ext cx="64008" cy="1828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830CEE-AE39-F61C-14D2-AFCEA85FF47D}"/>
              </a:ext>
            </a:extLst>
          </p:cNvPr>
          <p:cNvSpPr/>
          <p:nvPr/>
        </p:nvSpPr>
        <p:spPr>
          <a:xfrm>
            <a:off x="4967423" y="1725980"/>
            <a:ext cx="64008" cy="182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9D92DF-830B-DF6C-7CD7-6D639C06E8B6}"/>
              </a:ext>
            </a:extLst>
          </p:cNvPr>
          <p:cNvSpPr/>
          <p:nvPr/>
        </p:nvSpPr>
        <p:spPr>
          <a:xfrm>
            <a:off x="5053337" y="1863430"/>
            <a:ext cx="64008" cy="4572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E904FC0-FE1F-9974-1402-362EDD8D64DC}"/>
              </a:ext>
            </a:extLst>
          </p:cNvPr>
          <p:cNvSpPr/>
          <p:nvPr/>
        </p:nvSpPr>
        <p:spPr>
          <a:xfrm>
            <a:off x="5136942" y="1864491"/>
            <a:ext cx="64008" cy="45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863357-89CE-8D2E-4BF1-7B90B2C5689F}"/>
              </a:ext>
            </a:extLst>
          </p:cNvPr>
          <p:cNvSpPr/>
          <p:nvPr/>
        </p:nvSpPr>
        <p:spPr>
          <a:xfrm>
            <a:off x="3133084" y="1737573"/>
            <a:ext cx="64008" cy="1828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CF4EE1C-D203-A6A6-4FA8-871191CF553D}"/>
              </a:ext>
            </a:extLst>
          </p:cNvPr>
          <p:cNvSpPr/>
          <p:nvPr/>
        </p:nvSpPr>
        <p:spPr>
          <a:xfrm>
            <a:off x="3221771" y="1852425"/>
            <a:ext cx="64008" cy="640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0EB6B9E-781E-195E-44E8-ABC008CF76D4}"/>
              </a:ext>
            </a:extLst>
          </p:cNvPr>
          <p:cNvSpPr/>
          <p:nvPr/>
        </p:nvSpPr>
        <p:spPr>
          <a:xfrm>
            <a:off x="3327460" y="1937060"/>
            <a:ext cx="64008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FB7572C-68C4-77DC-AB50-0EB4B0F7F127}"/>
              </a:ext>
            </a:extLst>
          </p:cNvPr>
          <p:cNvSpPr/>
          <p:nvPr/>
        </p:nvSpPr>
        <p:spPr>
          <a:xfrm>
            <a:off x="3415231" y="1932826"/>
            <a:ext cx="64008" cy="2710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F55AE19-C244-5839-7E7A-A69102D7E44F}"/>
              </a:ext>
            </a:extLst>
          </p:cNvPr>
          <p:cNvSpPr/>
          <p:nvPr/>
        </p:nvSpPr>
        <p:spPr>
          <a:xfrm>
            <a:off x="3787612" y="1732801"/>
            <a:ext cx="64008" cy="1828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31F7C23-F517-712C-664F-B39755B71B4B}"/>
              </a:ext>
            </a:extLst>
          </p:cNvPr>
          <p:cNvSpPr/>
          <p:nvPr/>
        </p:nvSpPr>
        <p:spPr>
          <a:xfrm>
            <a:off x="3871999" y="1772292"/>
            <a:ext cx="64008" cy="137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2ED4DDB-1575-7E33-D7F2-ABDF5713383F}"/>
              </a:ext>
            </a:extLst>
          </p:cNvPr>
          <p:cNvSpPr/>
          <p:nvPr/>
        </p:nvSpPr>
        <p:spPr>
          <a:xfrm>
            <a:off x="3971083" y="1937060"/>
            <a:ext cx="64008" cy="100584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B54F74F-7D6D-6ADB-CB4D-8DB0F91CCE6F}"/>
              </a:ext>
            </a:extLst>
          </p:cNvPr>
          <p:cNvSpPr/>
          <p:nvPr/>
        </p:nvSpPr>
        <p:spPr>
          <a:xfrm>
            <a:off x="4058854" y="1937119"/>
            <a:ext cx="64008" cy="8229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D840AC-0BAA-4276-D1BB-F4910BF07ADE}"/>
              </a:ext>
            </a:extLst>
          </p:cNvPr>
          <p:cNvSpPr/>
          <p:nvPr/>
        </p:nvSpPr>
        <p:spPr>
          <a:xfrm>
            <a:off x="5699505" y="1932657"/>
            <a:ext cx="64008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E21D000-F195-6308-6930-EB2F2E75630D}"/>
              </a:ext>
            </a:extLst>
          </p:cNvPr>
          <p:cNvSpPr/>
          <p:nvPr/>
        </p:nvSpPr>
        <p:spPr>
          <a:xfrm>
            <a:off x="5795862" y="1928423"/>
            <a:ext cx="64008" cy="8229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E56FDFB-82FB-7245-A243-B5AD033CA0EF}"/>
              </a:ext>
            </a:extLst>
          </p:cNvPr>
          <p:cNvSpPr/>
          <p:nvPr/>
        </p:nvSpPr>
        <p:spPr>
          <a:xfrm>
            <a:off x="5516616" y="1937806"/>
            <a:ext cx="64008" cy="5486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D47FD47-7944-5061-A2BB-46B86962CA29}"/>
              </a:ext>
            </a:extLst>
          </p:cNvPr>
          <p:cNvSpPr/>
          <p:nvPr/>
        </p:nvSpPr>
        <p:spPr>
          <a:xfrm>
            <a:off x="5605591" y="1929039"/>
            <a:ext cx="64008" cy="34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2939C2A-531C-8370-4F89-161D91C564CF}"/>
              </a:ext>
            </a:extLst>
          </p:cNvPr>
          <p:cNvSpPr/>
          <p:nvPr/>
        </p:nvSpPr>
        <p:spPr>
          <a:xfrm>
            <a:off x="5465770" y="1833859"/>
            <a:ext cx="444724" cy="10770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3051F50-91F1-2D07-5C66-49C2F2246362}"/>
              </a:ext>
            </a:extLst>
          </p:cNvPr>
          <p:cNvCxnSpPr>
            <a:cxnSpLocks/>
          </p:cNvCxnSpPr>
          <p:nvPr/>
        </p:nvCxnSpPr>
        <p:spPr>
          <a:xfrm>
            <a:off x="850442" y="1991937"/>
            <a:ext cx="395536" cy="283527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CA9EB88-ED9A-0413-9E6B-C2693B8B4905}"/>
              </a:ext>
            </a:extLst>
          </p:cNvPr>
          <p:cNvCxnSpPr>
            <a:cxnSpLocks/>
          </p:cNvCxnSpPr>
          <p:nvPr/>
        </p:nvCxnSpPr>
        <p:spPr>
          <a:xfrm>
            <a:off x="3239677" y="2004686"/>
            <a:ext cx="322700" cy="448746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6C3326A-57C7-BF32-A1DB-179AD987B540}"/>
              </a:ext>
            </a:extLst>
          </p:cNvPr>
          <p:cNvCxnSpPr>
            <a:cxnSpLocks/>
          </p:cNvCxnSpPr>
          <p:nvPr/>
        </p:nvCxnSpPr>
        <p:spPr>
          <a:xfrm>
            <a:off x="3878636" y="2053567"/>
            <a:ext cx="411496" cy="580396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9C5E6B4-13CB-31FB-F5FC-FBAB33079E45}"/>
              </a:ext>
            </a:extLst>
          </p:cNvPr>
          <p:cNvSpPr txBox="1"/>
          <p:nvPr/>
        </p:nvSpPr>
        <p:spPr>
          <a:xfrm rot="5400000">
            <a:off x="3405186" y="1786392"/>
            <a:ext cx="338554" cy="358543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Country-Level Effect of Ads × Free Interaction</a:t>
            </a:r>
            <a:endParaRPr lang="en-US" sz="1000" b="1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 Light" panose="020B0502040204020203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6A48F0F-5B0C-B1C2-F058-388D6567AFF2}"/>
              </a:ext>
            </a:extLst>
          </p:cNvPr>
          <p:cNvCxnSpPr>
            <a:cxnSpLocks/>
          </p:cNvCxnSpPr>
          <p:nvPr/>
        </p:nvCxnSpPr>
        <p:spPr>
          <a:xfrm flipV="1">
            <a:off x="707944" y="1665136"/>
            <a:ext cx="317778" cy="247441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2C175F-77CB-D880-4F3F-371FD17FA15F}"/>
              </a:ext>
            </a:extLst>
          </p:cNvPr>
          <p:cNvCxnSpPr>
            <a:cxnSpLocks/>
          </p:cNvCxnSpPr>
          <p:nvPr/>
        </p:nvCxnSpPr>
        <p:spPr>
          <a:xfrm flipV="1">
            <a:off x="1221697" y="966819"/>
            <a:ext cx="450907" cy="885606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01CADEC-4235-E086-3E89-A3488613B60E}"/>
              </a:ext>
            </a:extLst>
          </p:cNvPr>
          <p:cNvCxnSpPr>
            <a:cxnSpLocks/>
          </p:cNvCxnSpPr>
          <p:nvPr/>
        </p:nvCxnSpPr>
        <p:spPr>
          <a:xfrm>
            <a:off x="1411968" y="1991045"/>
            <a:ext cx="395536" cy="283527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914288D-625F-C1BA-B646-70082A2EB9C9}"/>
              </a:ext>
            </a:extLst>
          </p:cNvPr>
          <p:cNvCxnSpPr>
            <a:cxnSpLocks/>
            <a:stCxn id="53" idx="1"/>
          </p:cNvCxnSpPr>
          <p:nvPr/>
        </p:nvCxnSpPr>
        <p:spPr>
          <a:xfrm flipV="1">
            <a:off x="3133084" y="1626074"/>
            <a:ext cx="263900" cy="202939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05FB596-2480-08B6-CB94-E5D1130A8438}"/>
              </a:ext>
            </a:extLst>
          </p:cNvPr>
          <p:cNvCxnSpPr>
            <a:cxnSpLocks/>
          </p:cNvCxnSpPr>
          <p:nvPr/>
        </p:nvCxnSpPr>
        <p:spPr>
          <a:xfrm flipV="1">
            <a:off x="3695425" y="1625434"/>
            <a:ext cx="324475" cy="245914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ECA772-1853-A8BB-8728-A546EF71E7CD}"/>
              </a:ext>
            </a:extLst>
          </p:cNvPr>
          <p:cNvCxnSpPr>
            <a:cxnSpLocks/>
          </p:cNvCxnSpPr>
          <p:nvPr/>
        </p:nvCxnSpPr>
        <p:spPr>
          <a:xfrm>
            <a:off x="8328693" y="2438634"/>
            <a:ext cx="305695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95127E-434C-9ACB-0210-452EC2D284B9}"/>
              </a:ext>
            </a:extLst>
          </p:cNvPr>
          <p:cNvCxnSpPr>
            <a:cxnSpLocks/>
          </p:cNvCxnSpPr>
          <p:nvPr/>
        </p:nvCxnSpPr>
        <p:spPr>
          <a:xfrm flipV="1">
            <a:off x="8329011" y="640064"/>
            <a:ext cx="12561" cy="179857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F72E38-3089-2F62-7EE9-5992E1CD99E1}"/>
              </a:ext>
            </a:extLst>
          </p:cNvPr>
          <p:cNvSpPr txBox="1"/>
          <p:nvPr/>
        </p:nvSpPr>
        <p:spPr>
          <a:xfrm>
            <a:off x="8041788" y="589770"/>
            <a:ext cx="3656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ptos" panose="020B0004020202020204" pitchFamily="34" charset="0"/>
              </a:rPr>
              <a:t>6.0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5.5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4.5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4.0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3.5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0.0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10DB70-7FB1-3543-E1F5-9FC5B8B152D7}"/>
              </a:ext>
            </a:extLst>
          </p:cNvPr>
          <p:cNvSpPr txBox="1"/>
          <p:nvPr/>
        </p:nvSpPr>
        <p:spPr>
          <a:xfrm rot="5400000">
            <a:off x="8658967" y="1871286"/>
            <a:ext cx="338554" cy="15288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Non - Ad Supported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253573-7FFE-0F1D-CC5E-84F6500BC283}"/>
              </a:ext>
            </a:extLst>
          </p:cNvPr>
          <p:cNvSpPr txBox="1"/>
          <p:nvPr/>
        </p:nvSpPr>
        <p:spPr>
          <a:xfrm rot="5400000">
            <a:off x="11216370" y="2068764"/>
            <a:ext cx="338554" cy="113389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 Supported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1C9123-E2C5-E2EF-B70C-DB4C8ABF77EB}"/>
              </a:ext>
            </a:extLst>
          </p:cNvPr>
          <p:cNvSpPr txBox="1"/>
          <p:nvPr/>
        </p:nvSpPr>
        <p:spPr>
          <a:xfrm>
            <a:off x="8122469" y="68470"/>
            <a:ext cx="829956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Asia : Free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EA4C1C-AE91-07AE-EDB4-849DB3FBF91D}"/>
              </a:ext>
            </a:extLst>
          </p:cNvPr>
          <p:cNvSpPr txBox="1"/>
          <p:nvPr/>
        </p:nvSpPr>
        <p:spPr>
          <a:xfrm>
            <a:off x="8134856" y="296229"/>
            <a:ext cx="829956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Asia : Paid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8899ED-144C-9EB2-1AFA-763FA95FC4E5}"/>
              </a:ext>
            </a:extLst>
          </p:cNvPr>
          <p:cNvSpPr txBox="1"/>
          <p:nvPr/>
        </p:nvSpPr>
        <p:spPr>
          <a:xfrm>
            <a:off x="9362328" y="79305"/>
            <a:ext cx="987667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Europe : Free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2ABBDF-1F7B-5618-B680-221E0B78269D}"/>
              </a:ext>
            </a:extLst>
          </p:cNvPr>
          <p:cNvSpPr txBox="1"/>
          <p:nvPr/>
        </p:nvSpPr>
        <p:spPr>
          <a:xfrm>
            <a:off x="9375896" y="312113"/>
            <a:ext cx="987667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Europe : Paid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174B740-3FFD-BDFD-32E8-DCEB0A6BF2D5}"/>
              </a:ext>
            </a:extLst>
          </p:cNvPr>
          <p:cNvSpPr txBox="1"/>
          <p:nvPr/>
        </p:nvSpPr>
        <p:spPr>
          <a:xfrm>
            <a:off x="10723578" y="69737"/>
            <a:ext cx="1171296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American : Free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2BA129-B143-6AE7-2FEF-DE4C01D6B86C}"/>
              </a:ext>
            </a:extLst>
          </p:cNvPr>
          <p:cNvSpPr txBox="1"/>
          <p:nvPr/>
        </p:nvSpPr>
        <p:spPr>
          <a:xfrm>
            <a:off x="10737146" y="291766"/>
            <a:ext cx="1171296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American : Paid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367632F-ECBC-D314-3B58-DCAF1F611D38}"/>
              </a:ext>
            </a:extLst>
          </p:cNvPr>
          <p:cNvSpPr txBox="1"/>
          <p:nvPr/>
        </p:nvSpPr>
        <p:spPr>
          <a:xfrm>
            <a:off x="7789505" y="764512"/>
            <a:ext cx="492443" cy="139458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Installs Probabilities</a:t>
            </a:r>
          </a:p>
          <a:p>
            <a:endParaRPr lang="en-US" sz="1000" b="1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 Light" panose="020B0502040204020203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B164455-E877-AAE1-02E4-534681B268CA}"/>
              </a:ext>
            </a:extLst>
          </p:cNvPr>
          <p:cNvSpPr/>
          <p:nvPr/>
        </p:nvSpPr>
        <p:spPr>
          <a:xfrm>
            <a:off x="2570165" y="411924"/>
            <a:ext cx="193799" cy="14109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9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B45D3E-EEC8-B85F-800B-6C44A48B7B26}"/>
              </a:ext>
            </a:extLst>
          </p:cNvPr>
          <p:cNvSpPr txBox="1"/>
          <p:nvPr/>
        </p:nvSpPr>
        <p:spPr>
          <a:xfrm>
            <a:off x="2728242" y="368313"/>
            <a:ext cx="1341774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Simpson’s Paradox</a:t>
            </a:r>
            <a:endParaRPr lang="en-US" sz="900" dirty="0">
              <a:latin typeface="Aptos" panose="020B000402020202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B49E026-DA9A-593A-E93E-DB512DFCC2F9}"/>
              </a:ext>
            </a:extLst>
          </p:cNvPr>
          <p:cNvCxnSpPr>
            <a:cxnSpLocks/>
          </p:cNvCxnSpPr>
          <p:nvPr/>
        </p:nvCxnSpPr>
        <p:spPr>
          <a:xfrm flipV="1">
            <a:off x="8341572" y="1098998"/>
            <a:ext cx="3044076" cy="419817"/>
          </a:xfrm>
          <a:prstGeom prst="line">
            <a:avLst/>
          </a:prstGeom>
          <a:ln w="12700"/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0B82D9F-1DE6-3D6E-9D99-CA7EEBC26625}"/>
              </a:ext>
            </a:extLst>
          </p:cNvPr>
          <p:cNvCxnSpPr>
            <a:cxnSpLocks/>
          </p:cNvCxnSpPr>
          <p:nvPr/>
        </p:nvCxnSpPr>
        <p:spPr>
          <a:xfrm>
            <a:off x="8341572" y="1784870"/>
            <a:ext cx="3044076" cy="182880"/>
          </a:xfrm>
          <a:prstGeom prst="line">
            <a:avLst/>
          </a:prstGeom>
          <a:ln w="12700">
            <a:prstDash val="lgDash"/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3C48DE6-2F17-74E1-6FBA-E9B19E7AFC43}"/>
              </a:ext>
            </a:extLst>
          </p:cNvPr>
          <p:cNvCxnSpPr>
            <a:cxnSpLocks/>
          </p:cNvCxnSpPr>
          <p:nvPr/>
        </p:nvCxnSpPr>
        <p:spPr>
          <a:xfrm flipV="1">
            <a:off x="7944094" y="165721"/>
            <a:ext cx="223422" cy="17927"/>
          </a:xfrm>
          <a:prstGeom prst="line">
            <a:avLst/>
          </a:prstGeom>
          <a:ln w="12700"/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07F51BB-9EB7-7489-819E-98ECAA074A6F}"/>
              </a:ext>
            </a:extLst>
          </p:cNvPr>
          <p:cNvCxnSpPr>
            <a:cxnSpLocks/>
          </p:cNvCxnSpPr>
          <p:nvPr/>
        </p:nvCxnSpPr>
        <p:spPr>
          <a:xfrm flipV="1">
            <a:off x="7944094" y="410377"/>
            <a:ext cx="223422" cy="17927"/>
          </a:xfrm>
          <a:prstGeom prst="line">
            <a:avLst/>
          </a:prstGeom>
          <a:ln w="12700">
            <a:prstDash val="dash"/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1D82A659-C934-C646-368F-4963D29E7926}"/>
              </a:ext>
            </a:extLst>
          </p:cNvPr>
          <p:cNvCxnSpPr>
            <a:cxnSpLocks/>
          </p:cNvCxnSpPr>
          <p:nvPr/>
        </p:nvCxnSpPr>
        <p:spPr>
          <a:xfrm flipV="1">
            <a:off x="9176291" y="200315"/>
            <a:ext cx="223422" cy="17927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2F25E07-1DF7-CE25-4D33-96701587D3D9}"/>
              </a:ext>
            </a:extLst>
          </p:cNvPr>
          <p:cNvCxnSpPr>
            <a:cxnSpLocks/>
          </p:cNvCxnSpPr>
          <p:nvPr/>
        </p:nvCxnSpPr>
        <p:spPr>
          <a:xfrm flipV="1">
            <a:off x="9176291" y="444971"/>
            <a:ext cx="223422" cy="17927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094642A-540C-F23E-AC98-61FAC34BBA95}"/>
              </a:ext>
            </a:extLst>
          </p:cNvPr>
          <p:cNvCxnSpPr>
            <a:cxnSpLocks/>
          </p:cNvCxnSpPr>
          <p:nvPr/>
        </p:nvCxnSpPr>
        <p:spPr>
          <a:xfrm flipV="1">
            <a:off x="10561928" y="190435"/>
            <a:ext cx="223422" cy="17927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F02A4FE-FD2B-FFAB-55F0-A53C1F203694}"/>
              </a:ext>
            </a:extLst>
          </p:cNvPr>
          <p:cNvCxnSpPr>
            <a:cxnSpLocks/>
          </p:cNvCxnSpPr>
          <p:nvPr/>
        </p:nvCxnSpPr>
        <p:spPr>
          <a:xfrm flipV="1">
            <a:off x="10561928" y="435091"/>
            <a:ext cx="223422" cy="17927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2FCF40B-2F82-87AD-DE1B-C05EA4875064}"/>
              </a:ext>
            </a:extLst>
          </p:cNvPr>
          <p:cNvCxnSpPr>
            <a:cxnSpLocks/>
          </p:cNvCxnSpPr>
          <p:nvPr/>
        </p:nvCxnSpPr>
        <p:spPr>
          <a:xfrm flipV="1">
            <a:off x="11350589" y="1034623"/>
            <a:ext cx="0" cy="167859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7DACEEF0-054F-28FC-64CA-489E1F7316D9}"/>
              </a:ext>
            </a:extLst>
          </p:cNvPr>
          <p:cNvSpPr txBox="1"/>
          <p:nvPr/>
        </p:nvSpPr>
        <p:spPr>
          <a:xfrm>
            <a:off x="11293573" y="1035896"/>
            <a:ext cx="51833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+ 0.12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CBFC1FF-E7A2-824B-E126-5DB7684A076F}"/>
              </a:ext>
            </a:extLst>
          </p:cNvPr>
          <p:cNvSpPr txBox="1"/>
          <p:nvPr/>
        </p:nvSpPr>
        <p:spPr>
          <a:xfrm>
            <a:off x="9592076" y="824389"/>
            <a:ext cx="1349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ptos" panose="020B0004020202020204" pitchFamily="34" charset="0"/>
              </a:rPr>
              <a:t>ads slightly increase</a:t>
            </a:r>
          </a:p>
          <a:p>
            <a:r>
              <a:rPr lang="en-US" sz="900" dirty="0">
                <a:latin typeface="Aptos" panose="020B0004020202020204" pitchFamily="34" charset="0"/>
              </a:rPr>
              <a:t> installs for free games</a:t>
            </a:r>
            <a:endParaRPr lang="fi-FI" sz="900" dirty="0">
              <a:latin typeface="Aptos" panose="020B0004020202020204" pitchFamily="34" charset="0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BA8C88E-7FED-A509-FDD1-0CFFF109FF8B}"/>
              </a:ext>
            </a:extLst>
          </p:cNvPr>
          <p:cNvCxnSpPr>
            <a:cxnSpLocks/>
          </p:cNvCxnSpPr>
          <p:nvPr/>
        </p:nvCxnSpPr>
        <p:spPr>
          <a:xfrm flipV="1">
            <a:off x="8341572" y="1407350"/>
            <a:ext cx="3044076" cy="188779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6C6D6F-0848-90DB-AFAD-067677E851A2}"/>
              </a:ext>
            </a:extLst>
          </p:cNvPr>
          <p:cNvCxnSpPr>
            <a:cxnSpLocks/>
          </p:cNvCxnSpPr>
          <p:nvPr/>
        </p:nvCxnSpPr>
        <p:spPr>
          <a:xfrm flipV="1">
            <a:off x="8368849" y="1192906"/>
            <a:ext cx="3010638" cy="410982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CBDBCD6A-2290-D717-C4B0-B7B33CA9A6E1}"/>
              </a:ext>
            </a:extLst>
          </p:cNvPr>
          <p:cNvSpPr txBox="1"/>
          <p:nvPr/>
        </p:nvSpPr>
        <p:spPr>
          <a:xfrm>
            <a:off x="10643846" y="1217550"/>
            <a:ext cx="51833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+ 0.12</a:t>
            </a:r>
            <a:endParaRPr lang="en-US" sz="900" dirty="0">
              <a:latin typeface="Aptos" panose="020B0004020202020204" pitchFamily="34" charset="0"/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684CA85-D863-9A91-E95B-AAEC1F1779E9}"/>
              </a:ext>
            </a:extLst>
          </p:cNvPr>
          <p:cNvCxnSpPr>
            <a:cxnSpLocks/>
          </p:cNvCxnSpPr>
          <p:nvPr/>
        </p:nvCxnSpPr>
        <p:spPr>
          <a:xfrm flipV="1">
            <a:off x="11112326" y="1242832"/>
            <a:ext cx="0" cy="167859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4B5668FB-83EA-55F7-F1D9-06773D01A942}"/>
              </a:ext>
            </a:extLst>
          </p:cNvPr>
          <p:cNvSpPr txBox="1"/>
          <p:nvPr/>
        </p:nvSpPr>
        <p:spPr>
          <a:xfrm>
            <a:off x="10836372" y="930596"/>
            <a:ext cx="51833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  <a:ea typeface="Microsoft YaHei" panose="020B0503020204020204" pitchFamily="34" charset="-122"/>
              </a:rPr>
              <a:t>+ 0.15</a:t>
            </a:r>
            <a:endParaRPr lang="en-US" sz="900" dirty="0">
              <a:latin typeface="Aptos" panose="020B0004020202020204" pitchFamily="34" charset="0"/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1696928A-799C-ECDB-3608-D31D9D8580F1}"/>
              </a:ext>
            </a:extLst>
          </p:cNvPr>
          <p:cNvCxnSpPr>
            <a:cxnSpLocks/>
          </p:cNvCxnSpPr>
          <p:nvPr/>
        </p:nvCxnSpPr>
        <p:spPr>
          <a:xfrm flipV="1">
            <a:off x="10882652" y="996497"/>
            <a:ext cx="0" cy="167859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5DA47164-0E1C-786D-49ED-34AE7BF5564D}"/>
              </a:ext>
            </a:extLst>
          </p:cNvPr>
          <p:cNvCxnSpPr>
            <a:cxnSpLocks/>
          </p:cNvCxnSpPr>
          <p:nvPr/>
        </p:nvCxnSpPr>
        <p:spPr>
          <a:xfrm flipV="1">
            <a:off x="8335291" y="1780325"/>
            <a:ext cx="3050357" cy="87348"/>
          </a:xfrm>
          <a:prstGeom prst="line">
            <a:avLst/>
          </a:prstGeom>
          <a:ln w="12700">
            <a:solidFill>
              <a:schemeClr val="accent6"/>
            </a:solidFill>
            <a:prstDash val="lgDash"/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30F69C7-CB46-4244-8298-7F824AF6CCAF}"/>
              </a:ext>
            </a:extLst>
          </p:cNvPr>
          <p:cNvCxnSpPr>
            <a:cxnSpLocks/>
          </p:cNvCxnSpPr>
          <p:nvPr/>
        </p:nvCxnSpPr>
        <p:spPr>
          <a:xfrm flipV="1">
            <a:off x="8321725" y="1837386"/>
            <a:ext cx="3063923" cy="89665"/>
          </a:xfrm>
          <a:prstGeom prst="line">
            <a:avLst/>
          </a:prstGeom>
          <a:ln w="12700">
            <a:solidFill>
              <a:schemeClr val="accent1"/>
            </a:solidFill>
            <a:prstDash val="lgDash"/>
          </a:ln>
          <a:effec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667751E6-EAF6-9A77-1132-495E32FCA5AF}"/>
              </a:ext>
            </a:extLst>
          </p:cNvPr>
          <p:cNvSpPr txBox="1"/>
          <p:nvPr/>
        </p:nvSpPr>
        <p:spPr>
          <a:xfrm>
            <a:off x="11423275" y="611841"/>
            <a:ext cx="3656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6.0</a:t>
            </a:r>
          </a:p>
          <a:p>
            <a:endParaRPr lang="en-US" sz="1000" b="1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1000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5.5</a:t>
            </a:r>
          </a:p>
          <a:p>
            <a:endParaRPr lang="en-US" sz="1000" b="1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1000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4.5</a:t>
            </a:r>
          </a:p>
          <a:p>
            <a:endParaRPr lang="en-US" sz="1000" b="1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1000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4.0</a:t>
            </a:r>
          </a:p>
          <a:p>
            <a:endParaRPr lang="en-US" sz="1000" b="1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1000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3.5</a:t>
            </a:r>
          </a:p>
          <a:p>
            <a:endParaRPr lang="en-US" sz="1000" b="1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endParaRPr lang="en-US" sz="1000" b="1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1000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0.0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CFA8DA5-7822-011E-3861-C9D6B087EE05}"/>
              </a:ext>
            </a:extLst>
          </p:cNvPr>
          <p:cNvSpPr txBox="1"/>
          <p:nvPr/>
        </p:nvSpPr>
        <p:spPr>
          <a:xfrm>
            <a:off x="5916389" y="1884316"/>
            <a:ext cx="1349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ptos" panose="020B0004020202020204" pitchFamily="34" charset="0"/>
              </a:rPr>
              <a:t>Showing overall negative association</a:t>
            </a:r>
            <a:endParaRPr lang="fi-FI" sz="900" dirty="0">
              <a:latin typeface="Aptos" panose="020B0004020202020204" pitchFamily="34" charset="0"/>
            </a:endParaRPr>
          </a:p>
        </p:txBody>
      </p:sp>
      <p:cxnSp>
        <p:nvCxnSpPr>
          <p:cNvPr id="171" name="Connector: Curved 170">
            <a:extLst>
              <a:ext uri="{FF2B5EF4-FFF2-40B4-BE49-F238E27FC236}">
                <a16:creationId xmlns:a16="http://schemas.microsoft.com/office/drawing/2014/main" id="{C128B79C-B486-EEEE-9644-177DA05B2EC8}"/>
              </a:ext>
            </a:extLst>
          </p:cNvPr>
          <p:cNvCxnSpPr>
            <a:cxnSpLocks/>
            <a:stCxn id="71" idx="0"/>
            <a:endCxn id="178" idx="3"/>
          </p:cNvCxnSpPr>
          <p:nvPr/>
        </p:nvCxnSpPr>
        <p:spPr>
          <a:xfrm rot="16200000" flipV="1">
            <a:off x="5044670" y="1190396"/>
            <a:ext cx="887847" cy="399079"/>
          </a:xfrm>
          <a:prstGeom prst="curvedConnector2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3D021715-6F52-8AB8-2910-5288E59DB658}"/>
              </a:ext>
            </a:extLst>
          </p:cNvPr>
          <p:cNvSpPr txBox="1"/>
          <p:nvPr/>
        </p:nvSpPr>
        <p:spPr>
          <a:xfrm>
            <a:off x="3221771" y="830596"/>
            <a:ext cx="20672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ptos" panose="020B0004020202020204" pitchFamily="34" charset="0"/>
              </a:rPr>
              <a:t>While in countries, the effect reversed</a:t>
            </a:r>
            <a:endParaRPr lang="fi-FI" sz="900" dirty="0">
              <a:latin typeface="Aptos" panose="020B0004020202020204" pitchFamily="34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20FD2BE1-E44E-190F-AD3E-1DCDDFBCE70A}"/>
              </a:ext>
            </a:extLst>
          </p:cNvPr>
          <p:cNvSpPr/>
          <p:nvPr/>
        </p:nvSpPr>
        <p:spPr>
          <a:xfrm>
            <a:off x="727348" y="608900"/>
            <a:ext cx="4548065" cy="236536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6375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131C84-A7D7-E83F-C2E1-F04C38F2CAAD}"/>
              </a:ext>
            </a:extLst>
          </p:cNvPr>
          <p:cNvCxnSpPr>
            <a:cxnSpLocks/>
          </p:cNvCxnSpPr>
          <p:nvPr/>
        </p:nvCxnSpPr>
        <p:spPr>
          <a:xfrm>
            <a:off x="719488" y="790071"/>
            <a:ext cx="0" cy="13544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763EEB-ED47-28C1-43D8-EF7CCD6B2252}"/>
              </a:ext>
            </a:extLst>
          </p:cNvPr>
          <p:cNvSpPr txBox="1"/>
          <p:nvPr/>
        </p:nvSpPr>
        <p:spPr>
          <a:xfrm>
            <a:off x="339231" y="784953"/>
            <a:ext cx="444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ptos" panose="020B0004020202020204" pitchFamily="34" charset="0"/>
              </a:rPr>
              <a:t>+2.0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+1.5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+1.0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+0.5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  0.0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921FD6-24A9-7CB6-02F1-7AD22B0CB77B}"/>
              </a:ext>
            </a:extLst>
          </p:cNvPr>
          <p:cNvSpPr/>
          <p:nvPr/>
        </p:nvSpPr>
        <p:spPr>
          <a:xfrm>
            <a:off x="830305" y="1945363"/>
            <a:ext cx="182880" cy="1978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975F04-D64E-7C45-EC24-6CCC3088D5EE}"/>
              </a:ext>
            </a:extLst>
          </p:cNvPr>
          <p:cNvSpPr/>
          <p:nvPr/>
        </p:nvSpPr>
        <p:spPr>
          <a:xfrm>
            <a:off x="1586915" y="1702720"/>
            <a:ext cx="182880" cy="436478"/>
          </a:xfrm>
          <a:prstGeom prst="rect">
            <a:avLst/>
          </a:prstGeom>
          <a:solidFill>
            <a:srgbClr val="E2F0D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E1042F-80E4-D452-D427-F36C4867FC16}"/>
              </a:ext>
            </a:extLst>
          </p:cNvPr>
          <p:cNvSpPr txBox="1"/>
          <p:nvPr/>
        </p:nvSpPr>
        <p:spPr>
          <a:xfrm>
            <a:off x="1251173" y="3094811"/>
            <a:ext cx="424176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US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FF578A5-AAEA-C8D0-5FDA-056ADDCC9AB7}"/>
              </a:ext>
            </a:extLst>
          </p:cNvPr>
          <p:cNvCxnSpPr>
            <a:cxnSpLocks/>
          </p:cNvCxnSpPr>
          <p:nvPr/>
        </p:nvCxnSpPr>
        <p:spPr>
          <a:xfrm flipV="1">
            <a:off x="720995" y="2114044"/>
            <a:ext cx="7246737" cy="304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22CCE95-3433-7B3F-B9EE-B82D492BEED4}"/>
              </a:ext>
            </a:extLst>
          </p:cNvPr>
          <p:cNvSpPr txBox="1"/>
          <p:nvPr/>
        </p:nvSpPr>
        <p:spPr>
          <a:xfrm rot="5400000">
            <a:off x="632600" y="2040940"/>
            <a:ext cx="600164" cy="77045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Long Description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Length</a:t>
            </a:r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EFFEC0-383F-A962-8BA8-853259170B54}"/>
              </a:ext>
            </a:extLst>
          </p:cNvPr>
          <p:cNvSpPr txBox="1"/>
          <p:nvPr/>
        </p:nvSpPr>
        <p:spPr>
          <a:xfrm rot="5400000">
            <a:off x="1363697" y="2004087"/>
            <a:ext cx="600164" cy="77045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Review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6F04282-CA8A-7157-EF82-2824B15A5BE8}"/>
              </a:ext>
            </a:extLst>
          </p:cNvPr>
          <p:cNvSpPr/>
          <p:nvPr/>
        </p:nvSpPr>
        <p:spPr>
          <a:xfrm>
            <a:off x="2251768" y="905966"/>
            <a:ext cx="137160" cy="1232545"/>
          </a:xfrm>
          <a:prstGeom prst="rect">
            <a:avLst/>
          </a:prstGeom>
          <a:solidFill>
            <a:srgbClr val="E2F0D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A2E65B-D5F4-4F84-8714-53FC009CD767}"/>
              </a:ext>
            </a:extLst>
          </p:cNvPr>
          <p:cNvSpPr txBox="1"/>
          <p:nvPr/>
        </p:nvSpPr>
        <p:spPr>
          <a:xfrm rot="5400000">
            <a:off x="1964948" y="1932198"/>
            <a:ext cx="877163" cy="120552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Long Description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Length</a:t>
            </a:r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</a:p>
          <a:p>
            <a:pPr algn="ctr"/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Review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49AFD7F-9142-61D7-445C-467885C087B5}"/>
              </a:ext>
            </a:extLst>
          </p:cNvPr>
          <p:cNvSpPr/>
          <p:nvPr/>
        </p:nvSpPr>
        <p:spPr>
          <a:xfrm>
            <a:off x="2388405" y="905966"/>
            <a:ext cx="137160" cy="1232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EBF4CE5-2144-F08A-9D66-F0C5483D2863}"/>
              </a:ext>
            </a:extLst>
          </p:cNvPr>
          <p:cNvSpPr/>
          <p:nvPr/>
        </p:nvSpPr>
        <p:spPr>
          <a:xfrm>
            <a:off x="3264870" y="2067243"/>
            <a:ext cx="182880" cy="630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382F328-918B-19BC-39DA-19AFCD629425}"/>
              </a:ext>
            </a:extLst>
          </p:cNvPr>
          <p:cNvSpPr/>
          <p:nvPr/>
        </p:nvSpPr>
        <p:spPr>
          <a:xfrm>
            <a:off x="3991144" y="2023413"/>
            <a:ext cx="182880" cy="99020"/>
          </a:xfrm>
          <a:prstGeom prst="rect">
            <a:avLst/>
          </a:prstGeom>
          <a:solidFill>
            <a:srgbClr val="E2F0D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5498AF-66BB-6DA3-4652-D9E9D830B89E}"/>
              </a:ext>
            </a:extLst>
          </p:cNvPr>
          <p:cNvSpPr txBox="1"/>
          <p:nvPr/>
        </p:nvSpPr>
        <p:spPr>
          <a:xfrm rot="5400000">
            <a:off x="3061847" y="2019247"/>
            <a:ext cx="600164" cy="75674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Long Description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Length</a:t>
            </a:r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D232A0-B13A-4F8C-32FD-7A4D3D7BECC6}"/>
              </a:ext>
            </a:extLst>
          </p:cNvPr>
          <p:cNvSpPr txBox="1"/>
          <p:nvPr/>
        </p:nvSpPr>
        <p:spPr>
          <a:xfrm rot="5400000">
            <a:off x="3756123" y="2010548"/>
            <a:ext cx="600164" cy="77045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Review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CD188BD-40D2-304A-351C-8AA3072885EF}"/>
              </a:ext>
            </a:extLst>
          </p:cNvPr>
          <p:cNvSpPr/>
          <p:nvPr/>
        </p:nvSpPr>
        <p:spPr>
          <a:xfrm>
            <a:off x="4703619" y="1762324"/>
            <a:ext cx="128500" cy="365760"/>
          </a:xfrm>
          <a:prstGeom prst="rect">
            <a:avLst/>
          </a:prstGeom>
          <a:solidFill>
            <a:srgbClr val="E2F0D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C62C7D-F5E1-8713-CBFE-EAC3FF05B0B4}"/>
              </a:ext>
            </a:extLst>
          </p:cNvPr>
          <p:cNvSpPr txBox="1"/>
          <p:nvPr/>
        </p:nvSpPr>
        <p:spPr>
          <a:xfrm rot="5400000">
            <a:off x="4392192" y="2002249"/>
            <a:ext cx="877163" cy="10381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Long Description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Length</a:t>
            </a:r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</a:p>
          <a:p>
            <a:pPr algn="ctr"/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Review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76B50C3-786B-9960-165D-06116B3AC6F9}"/>
              </a:ext>
            </a:extLst>
          </p:cNvPr>
          <p:cNvSpPr/>
          <p:nvPr/>
        </p:nvSpPr>
        <p:spPr>
          <a:xfrm>
            <a:off x="4831710" y="1762324"/>
            <a:ext cx="12850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9294CF7-F6DD-ECF1-C7DC-3434C6B04E88}"/>
              </a:ext>
            </a:extLst>
          </p:cNvPr>
          <p:cNvSpPr txBox="1"/>
          <p:nvPr/>
        </p:nvSpPr>
        <p:spPr>
          <a:xfrm>
            <a:off x="60782" y="369950"/>
            <a:ext cx="492443" cy="203904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Effect Size (</a:t>
            </a:r>
            <a:r>
              <a:rPr lang="el-GR" sz="10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Δ</a:t>
            </a:r>
            <a:r>
              <a:rPr 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_Add) on Installs</a:t>
            </a:r>
          </a:p>
          <a:p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 Light" panose="020B0502040204020203" pitchFamily="34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1FF032F-1461-3EC5-0D91-D7AF33DD3AD5}"/>
              </a:ext>
            </a:extLst>
          </p:cNvPr>
          <p:cNvCxnSpPr>
            <a:cxnSpLocks/>
            <a:endCxn id="78" idx="0"/>
          </p:cNvCxnSpPr>
          <p:nvPr/>
        </p:nvCxnSpPr>
        <p:spPr>
          <a:xfrm flipV="1">
            <a:off x="3571248" y="1762324"/>
            <a:ext cx="1324712" cy="273790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092265F-8C1B-E223-FE39-62E5F9AA6A7C}"/>
              </a:ext>
            </a:extLst>
          </p:cNvPr>
          <p:cNvCxnSpPr>
            <a:cxnSpLocks/>
            <a:endCxn id="70" idx="0"/>
          </p:cNvCxnSpPr>
          <p:nvPr/>
        </p:nvCxnSpPr>
        <p:spPr>
          <a:xfrm flipV="1">
            <a:off x="1134583" y="905966"/>
            <a:ext cx="1322402" cy="958676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EC96F10-EBBD-4423-E0F3-E9150B32D52F}"/>
              </a:ext>
            </a:extLst>
          </p:cNvPr>
          <p:cNvCxnSpPr>
            <a:cxnSpLocks/>
          </p:cNvCxnSpPr>
          <p:nvPr/>
        </p:nvCxnSpPr>
        <p:spPr>
          <a:xfrm flipV="1">
            <a:off x="685206" y="1604229"/>
            <a:ext cx="1131935" cy="38634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3DEEB69-CB16-AC81-0712-2BDE473CF0AA}"/>
              </a:ext>
            </a:extLst>
          </p:cNvPr>
          <p:cNvCxnSpPr>
            <a:cxnSpLocks/>
          </p:cNvCxnSpPr>
          <p:nvPr/>
        </p:nvCxnSpPr>
        <p:spPr>
          <a:xfrm flipV="1">
            <a:off x="3091928" y="2008990"/>
            <a:ext cx="1158093" cy="7424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828114FF-9D57-36F0-34C3-539A13BA5F69}"/>
              </a:ext>
            </a:extLst>
          </p:cNvPr>
          <p:cNvSpPr txBox="1"/>
          <p:nvPr/>
        </p:nvSpPr>
        <p:spPr>
          <a:xfrm>
            <a:off x="1675349" y="304767"/>
            <a:ext cx="5359342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Suppression Effect (</a:t>
            </a:r>
            <a:r>
              <a:rPr lang="en-US" sz="1100" dirty="0"/>
              <a:t>Adding reviews strengthened the description’s effect on installs</a:t>
            </a:r>
            <a:r>
              <a:rPr 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9015C96-A590-BA64-7ADA-43E25C0D0566}"/>
              </a:ext>
            </a:extLst>
          </p:cNvPr>
          <p:cNvCxnSpPr>
            <a:cxnSpLocks/>
          </p:cNvCxnSpPr>
          <p:nvPr/>
        </p:nvCxnSpPr>
        <p:spPr>
          <a:xfrm>
            <a:off x="1541858" y="443050"/>
            <a:ext cx="173642" cy="4995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54ABCF1-F4F1-7BF0-7221-AA07FD0AF91E}"/>
              </a:ext>
            </a:extLst>
          </p:cNvPr>
          <p:cNvSpPr txBox="1"/>
          <p:nvPr/>
        </p:nvSpPr>
        <p:spPr>
          <a:xfrm>
            <a:off x="3125677" y="29105"/>
            <a:ext cx="1621645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Individual Effect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CC97D71-1F17-E923-3BE2-57F0AA630A0A}"/>
              </a:ext>
            </a:extLst>
          </p:cNvPr>
          <p:cNvCxnSpPr>
            <a:cxnSpLocks/>
          </p:cNvCxnSpPr>
          <p:nvPr/>
        </p:nvCxnSpPr>
        <p:spPr>
          <a:xfrm>
            <a:off x="2943556" y="150017"/>
            <a:ext cx="251986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4BA19D9E-3FF3-61B5-62DC-54C784B2A7E8}"/>
              </a:ext>
            </a:extLst>
          </p:cNvPr>
          <p:cNvSpPr txBox="1"/>
          <p:nvPr/>
        </p:nvSpPr>
        <p:spPr>
          <a:xfrm>
            <a:off x="4072491" y="3060118"/>
            <a:ext cx="6149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India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EC333CE-F3D2-DC7A-5A10-267BFF73040E}"/>
              </a:ext>
            </a:extLst>
          </p:cNvPr>
          <p:cNvSpPr/>
          <p:nvPr/>
        </p:nvSpPr>
        <p:spPr>
          <a:xfrm>
            <a:off x="5773886" y="1922117"/>
            <a:ext cx="182880" cy="1978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C0F0DE9-3289-4419-9805-4ED62A8B1100}"/>
              </a:ext>
            </a:extLst>
          </p:cNvPr>
          <p:cNvSpPr/>
          <p:nvPr/>
        </p:nvSpPr>
        <p:spPr>
          <a:xfrm>
            <a:off x="6697923" y="1679474"/>
            <a:ext cx="182880" cy="436478"/>
          </a:xfrm>
          <a:prstGeom prst="rect">
            <a:avLst/>
          </a:prstGeom>
          <a:solidFill>
            <a:srgbClr val="E2F0D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F539743-86E7-2C7A-3E8F-742360FAB8FB}"/>
              </a:ext>
            </a:extLst>
          </p:cNvPr>
          <p:cNvSpPr txBox="1"/>
          <p:nvPr/>
        </p:nvSpPr>
        <p:spPr>
          <a:xfrm rot="5400000">
            <a:off x="5584836" y="1979688"/>
            <a:ext cx="600164" cy="77045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Long Description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Length</a:t>
            </a:r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D695582-8D8C-01D6-1BA9-4E8753517E76}"/>
              </a:ext>
            </a:extLst>
          </p:cNvPr>
          <p:cNvSpPr txBox="1"/>
          <p:nvPr/>
        </p:nvSpPr>
        <p:spPr>
          <a:xfrm rot="5400000">
            <a:off x="6474705" y="1993720"/>
            <a:ext cx="600164" cy="77045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Review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6FBBF61-3B1D-9DFD-7C8C-AE4BC1BA3A4A}"/>
              </a:ext>
            </a:extLst>
          </p:cNvPr>
          <p:cNvSpPr/>
          <p:nvPr/>
        </p:nvSpPr>
        <p:spPr>
          <a:xfrm>
            <a:off x="7448636" y="1156187"/>
            <a:ext cx="137160" cy="960120"/>
          </a:xfrm>
          <a:prstGeom prst="rect">
            <a:avLst/>
          </a:prstGeom>
          <a:solidFill>
            <a:srgbClr val="E2F0D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1548C8E-942B-AF93-D0EF-79601EDADE05}"/>
              </a:ext>
            </a:extLst>
          </p:cNvPr>
          <p:cNvSpPr txBox="1"/>
          <p:nvPr/>
        </p:nvSpPr>
        <p:spPr>
          <a:xfrm rot="5400000">
            <a:off x="7169392" y="1921891"/>
            <a:ext cx="877163" cy="119067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Long Description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Length</a:t>
            </a:r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</a:p>
          <a:p>
            <a:pPr algn="ctr"/>
            <a:r>
              <a:rPr lang="en-US" sz="9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Review </a:t>
            </a:r>
          </a:p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CD7D651-CAA8-7D24-C233-829F7F8DDF50}"/>
              </a:ext>
            </a:extLst>
          </p:cNvPr>
          <p:cNvSpPr/>
          <p:nvPr/>
        </p:nvSpPr>
        <p:spPr>
          <a:xfrm>
            <a:off x="7585273" y="1156187"/>
            <a:ext cx="137160" cy="9601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7B59A76-E35C-5DAC-46E7-8C142C769DA4}"/>
              </a:ext>
            </a:extLst>
          </p:cNvPr>
          <p:cNvCxnSpPr>
            <a:cxnSpLocks/>
            <a:endCxn id="137" idx="0"/>
          </p:cNvCxnSpPr>
          <p:nvPr/>
        </p:nvCxnSpPr>
        <p:spPr>
          <a:xfrm flipV="1">
            <a:off x="6201972" y="1156187"/>
            <a:ext cx="1451881" cy="666459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CEC9093-BD69-1C10-4E8C-A420702460FC}"/>
              </a:ext>
            </a:extLst>
          </p:cNvPr>
          <p:cNvCxnSpPr>
            <a:cxnSpLocks/>
          </p:cNvCxnSpPr>
          <p:nvPr/>
        </p:nvCxnSpPr>
        <p:spPr>
          <a:xfrm flipV="1">
            <a:off x="5686768" y="1644607"/>
            <a:ext cx="1198656" cy="31347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5B455573-D536-BB2E-FED5-606887325D63}"/>
              </a:ext>
            </a:extLst>
          </p:cNvPr>
          <p:cNvSpPr txBox="1"/>
          <p:nvPr/>
        </p:nvSpPr>
        <p:spPr>
          <a:xfrm>
            <a:off x="6497328" y="3081007"/>
            <a:ext cx="809965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Pakistan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41D1AD0-740A-82C5-E613-629285521FF0}"/>
              </a:ext>
            </a:extLst>
          </p:cNvPr>
          <p:cNvCxnSpPr>
            <a:cxnSpLocks/>
          </p:cNvCxnSpPr>
          <p:nvPr/>
        </p:nvCxnSpPr>
        <p:spPr>
          <a:xfrm>
            <a:off x="2904329" y="806472"/>
            <a:ext cx="0" cy="249052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30EDB67-85BE-1AC7-496F-6D0F53490C61}"/>
              </a:ext>
            </a:extLst>
          </p:cNvPr>
          <p:cNvCxnSpPr>
            <a:cxnSpLocks/>
          </p:cNvCxnSpPr>
          <p:nvPr/>
        </p:nvCxnSpPr>
        <p:spPr>
          <a:xfrm>
            <a:off x="5393825" y="908340"/>
            <a:ext cx="0" cy="2432692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74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16E881-984B-844B-D64D-8427194E263D}"/>
              </a:ext>
            </a:extLst>
          </p:cNvPr>
          <p:cNvSpPr txBox="1"/>
          <p:nvPr/>
        </p:nvSpPr>
        <p:spPr>
          <a:xfrm>
            <a:off x="442778" y="931514"/>
            <a:ext cx="51812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" panose="020B0004020202020204" pitchFamily="34" charset="0"/>
              </a:rPr>
              <a:t>+12.5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+10.0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+7.5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+5.0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+2.5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  0.0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-2.5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-5.0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-10.0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+12.5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E3E73D-814E-0133-086A-A099771CDDDE}"/>
              </a:ext>
            </a:extLst>
          </p:cNvPr>
          <p:cNvCxnSpPr>
            <a:cxnSpLocks/>
          </p:cNvCxnSpPr>
          <p:nvPr/>
        </p:nvCxnSpPr>
        <p:spPr>
          <a:xfrm flipH="1">
            <a:off x="913639" y="883830"/>
            <a:ext cx="19047" cy="32926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32D405-2433-0477-8EFE-116AF642E3D4}"/>
              </a:ext>
            </a:extLst>
          </p:cNvPr>
          <p:cNvCxnSpPr>
            <a:cxnSpLocks/>
          </p:cNvCxnSpPr>
          <p:nvPr/>
        </p:nvCxnSpPr>
        <p:spPr>
          <a:xfrm>
            <a:off x="909313" y="4179626"/>
            <a:ext cx="7367509" cy="46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2775C76-213B-5822-B38A-DCA7F0D69AFA}"/>
              </a:ext>
            </a:extLst>
          </p:cNvPr>
          <p:cNvSpPr txBox="1"/>
          <p:nvPr/>
        </p:nvSpPr>
        <p:spPr>
          <a:xfrm>
            <a:off x="-71143" y="543143"/>
            <a:ext cx="492443" cy="385836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endParaRPr lang="en-US" sz="10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Average </a:t>
            </a:r>
            <a:r>
              <a:rPr lang="el-GR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Δ</a:t>
            </a:r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_Add (% Change vs. Baseline) Across Countries</a:t>
            </a:r>
            <a:endParaRPr lang="en-US" sz="900" b="1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 Light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6D375-2995-9A3D-5DA7-7D015B0635D8}"/>
              </a:ext>
            </a:extLst>
          </p:cNvPr>
          <p:cNvSpPr/>
          <p:nvPr/>
        </p:nvSpPr>
        <p:spPr>
          <a:xfrm rot="5400000">
            <a:off x="973324" y="86702"/>
            <a:ext cx="112539" cy="192239"/>
          </a:xfrm>
          <a:prstGeom prst="rect">
            <a:avLst/>
          </a:prstGeom>
          <a:solidFill>
            <a:srgbClr val="DDFFF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900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ADA6C1-6DD9-96A0-77C8-23937B7DFDCA}"/>
              </a:ext>
            </a:extLst>
          </p:cNvPr>
          <p:cNvSpPr txBox="1"/>
          <p:nvPr/>
        </p:nvSpPr>
        <p:spPr>
          <a:xfrm>
            <a:off x="1157688" y="67405"/>
            <a:ext cx="1224672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Single (baseline)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11F26D-D1AD-F6D8-F4B8-EB828EED2E62}"/>
              </a:ext>
            </a:extLst>
          </p:cNvPr>
          <p:cNvSpPr/>
          <p:nvPr/>
        </p:nvSpPr>
        <p:spPr>
          <a:xfrm rot="5400000">
            <a:off x="2804275" y="84046"/>
            <a:ext cx="112539" cy="192239"/>
          </a:xfrm>
          <a:prstGeom prst="rect">
            <a:avLst/>
          </a:prstGeom>
          <a:solidFill>
            <a:srgbClr val="FEF2F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90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77E328-5B23-E54B-3767-6CA5807DCC96}"/>
              </a:ext>
            </a:extLst>
          </p:cNvPr>
          <p:cNvSpPr txBox="1"/>
          <p:nvPr/>
        </p:nvSpPr>
        <p:spPr>
          <a:xfrm>
            <a:off x="2988639" y="64749"/>
            <a:ext cx="59563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 Free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5930F5-8596-1413-FE9F-36FC81F1C68E}"/>
              </a:ext>
            </a:extLst>
          </p:cNvPr>
          <p:cNvSpPr/>
          <p:nvPr/>
        </p:nvSpPr>
        <p:spPr>
          <a:xfrm rot="5400000">
            <a:off x="4193047" y="84046"/>
            <a:ext cx="112539" cy="192239"/>
          </a:xfrm>
          <a:prstGeom prst="rect">
            <a:avLst/>
          </a:prstGeom>
          <a:solidFill>
            <a:srgbClr val="B4C7E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900"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A22E1F-847A-282C-984E-4A5AF2B4F498}"/>
              </a:ext>
            </a:extLst>
          </p:cNvPr>
          <p:cNvSpPr txBox="1"/>
          <p:nvPr/>
        </p:nvSpPr>
        <p:spPr>
          <a:xfrm>
            <a:off x="4377411" y="64749"/>
            <a:ext cx="59563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 IAP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F21E65-D5CD-C867-D786-70D496939526}"/>
              </a:ext>
            </a:extLst>
          </p:cNvPr>
          <p:cNvSpPr txBox="1"/>
          <p:nvPr/>
        </p:nvSpPr>
        <p:spPr>
          <a:xfrm>
            <a:off x="923162" y="4176486"/>
            <a:ext cx="1911158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Casual \ Puzzle</a:t>
            </a:r>
          </a:p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\ Arcade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E72D7A-2708-6EE1-4BAB-2BD635BFEA2D}"/>
              </a:ext>
            </a:extLst>
          </p:cNvPr>
          <p:cNvSpPr txBox="1"/>
          <p:nvPr/>
        </p:nvSpPr>
        <p:spPr>
          <a:xfrm>
            <a:off x="4521928" y="4193605"/>
            <a:ext cx="1161962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Casual \ Puzzle </a:t>
            </a:r>
          </a:p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\ Arcade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A3A3C6-40E5-3CE7-9EDA-EF38D31290F5}"/>
              </a:ext>
            </a:extLst>
          </p:cNvPr>
          <p:cNvSpPr txBox="1"/>
          <p:nvPr/>
        </p:nvSpPr>
        <p:spPr>
          <a:xfrm>
            <a:off x="2326747" y="4178813"/>
            <a:ext cx="105042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Casino \ Word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5D24EF-5449-74D8-AFD3-A7F25700AEDF}"/>
              </a:ext>
            </a:extLst>
          </p:cNvPr>
          <p:cNvSpPr txBox="1"/>
          <p:nvPr/>
        </p:nvSpPr>
        <p:spPr>
          <a:xfrm>
            <a:off x="5913932" y="4201448"/>
            <a:ext cx="105042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Casino \ Word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9359F7-A3A7-D784-95C9-78106D57A134}"/>
              </a:ext>
            </a:extLst>
          </p:cNvPr>
          <p:cNvSpPr txBox="1"/>
          <p:nvPr/>
        </p:nvSpPr>
        <p:spPr>
          <a:xfrm>
            <a:off x="3448106" y="4187649"/>
            <a:ext cx="142585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Strategy \ Simulation \ Educational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57E50B-A4E2-F22C-DD4F-F3AD3E3DC2AA}"/>
              </a:ext>
            </a:extLst>
          </p:cNvPr>
          <p:cNvSpPr txBox="1"/>
          <p:nvPr/>
        </p:nvSpPr>
        <p:spPr>
          <a:xfrm>
            <a:off x="7016405" y="4181868"/>
            <a:ext cx="142585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Strategy \ Simulation \ Educational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84AAC44-AE1D-D0D8-0E4F-D7F5306DDFDC}"/>
              </a:ext>
            </a:extLst>
          </p:cNvPr>
          <p:cNvCxnSpPr>
            <a:cxnSpLocks/>
          </p:cNvCxnSpPr>
          <p:nvPr/>
        </p:nvCxnSpPr>
        <p:spPr>
          <a:xfrm flipV="1">
            <a:off x="943657" y="2508847"/>
            <a:ext cx="6990926" cy="5834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37A06A1-B332-47FF-DAE8-82B75EBA5BD6}"/>
              </a:ext>
            </a:extLst>
          </p:cNvPr>
          <p:cNvSpPr/>
          <p:nvPr/>
        </p:nvSpPr>
        <p:spPr>
          <a:xfrm>
            <a:off x="2265003" y="1990452"/>
            <a:ext cx="184538" cy="557981"/>
          </a:xfrm>
          <a:prstGeom prst="rect">
            <a:avLst/>
          </a:prstGeom>
          <a:solidFill>
            <a:srgbClr val="DDFFF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BBECF6-1F27-5532-3F8D-1BE4A8934276}"/>
              </a:ext>
            </a:extLst>
          </p:cNvPr>
          <p:cNvSpPr/>
          <p:nvPr/>
        </p:nvSpPr>
        <p:spPr>
          <a:xfrm>
            <a:off x="1064130" y="1724944"/>
            <a:ext cx="173736" cy="832075"/>
          </a:xfrm>
          <a:prstGeom prst="rect">
            <a:avLst/>
          </a:prstGeom>
          <a:solidFill>
            <a:srgbClr val="DDFFF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DA97E8-C3F0-7187-0EC6-F57CC1D47A32}"/>
              </a:ext>
            </a:extLst>
          </p:cNvPr>
          <p:cNvSpPr/>
          <p:nvPr/>
        </p:nvSpPr>
        <p:spPr>
          <a:xfrm>
            <a:off x="3498511" y="2557019"/>
            <a:ext cx="184538" cy="557981"/>
          </a:xfrm>
          <a:prstGeom prst="rect">
            <a:avLst/>
          </a:prstGeom>
          <a:solidFill>
            <a:srgbClr val="DDFFF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FFEE96-A1B8-ECF9-52E8-3F7ADDA16527}"/>
              </a:ext>
            </a:extLst>
          </p:cNvPr>
          <p:cNvSpPr/>
          <p:nvPr/>
        </p:nvSpPr>
        <p:spPr>
          <a:xfrm>
            <a:off x="5855929" y="2051235"/>
            <a:ext cx="177797" cy="469766"/>
          </a:xfrm>
          <a:prstGeom prst="rect">
            <a:avLst/>
          </a:prstGeom>
          <a:solidFill>
            <a:srgbClr val="DDFFF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2614D4-A52D-2CD8-19C9-3545BCFDE6A6}"/>
              </a:ext>
            </a:extLst>
          </p:cNvPr>
          <p:cNvSpPr/>
          <p:nvPr/>
        </p:nvSpPr>
        <p:spPr>
          <a:xfrm>
            <a:off x="7024397" y="2031834"/>
            <a:ext cx="206117" cy="477055"/>
          </a:xfrm>
          <a:prstGeom prst="rect">
            <a:avLst/>
          </a:prstGeom>
          <a:solidFill>
            <a:srgbClr val="DDFFF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33DA89-C31D-F31F-D072-242230EBE4C6}"/>
              </a:ext>
            </a:extLst>
          </p:cNvPr>
          <p:cNvSpPr txBox="1"/>
          <p:nvPr/>
        </p:nvSpPr>
        <p:spPr>
          <a:xfrm rot="5400000">
            <a:off x="2182694" y="1740927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+ 5 %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B254C5-E587-B0DA-9769-5B4EAD78AEE9}"/>
              </a:ext>
            </a:extLst>
          </p:cNvPr>
          <p:cNvSpPr txBox="1"/>
          <p:nvPr/>
        </p:nvSpPr>
        <p:spPr>
          <a:xfrm rot="5400000">
            <a:off x="931199" y="1463244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+ 7 %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3C125F1-E10C-FF80-D964-8BFDB164C02D}"/>
              </a:ext>
            </a:extLst>
          </p:cNvPr>
          <p:cNvSpPr/>
          <p:nvPr/>
        </p:nvSpPr>
        <p:spPr>
          <a:xfrm>
            <a:off x="4726045" y="2051235"/>
            <a:ext cx="177797" cy="468253"/>
          </a:xfrm>
          <a:prstGeom prst="rect">
            <a:avLst/>
          </a:prstGeom>
          <a:solidFill>
            <a:srgbClr val="DDFFF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A1B0868-8C09-4877-0C4E-D0C49DFE72B3}"/>
              </a:ext>
            </a:extLst>
          </p:cNvPr>
          <p:cNvSpPr txBox="1"/>
          <p:nvPr/>
        </p:nvSpPr>
        <p:spPr>
          <a:xfrm rot="5400000">
            <a:off x="4605969" y="1800646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+ 3 %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9C6186-C65C-618C-C467-DC587C4EF6EA}"/>
              </a:ext>
            </a:extLst>
          </p:cNvPr>
          <p:cNvSpPr txBox="1"/>
          <p:nvPr/>
        </p:nvSpPr>
        <p:spPr>
          <a:xfrm rot="5400000">
            <a:off x="3400581" y="3117629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- 5 %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C5B96F-76BF-FC20-725A-2108107EA0EC}"/>
              </a:ext>
            </a:extLst>
          </p:cNvPr>
          <p:cNvSpPr txBox="1"/>
          <p:nvPr/>
        </p:nvSpPr>
        <p:spPr>
          <a:xfrm rot="5400000">
            <a:off x="5710593" y="1793729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+ 3 %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BB1F7A-608A-4CD1-5D6D-6956B1DA734B}"/>
              </a:ext>
            </a:extLst>
          </p:cNvPr>
          <p:cNvSpPr txBox="1"/>
          <p:nvPr/>
        </p:nvSpPr>
        <p:spPr>
          <a:xfrm rot="5400000">
            <a:off x="6907382" y="1758100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+ 5 %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2033986-24D6-2C91-6A51-B22853AE1C5E}"/>
              </a:ext>
            </a:extLst>
          </p:cNvPr>
          <p:cNvSpPr/>
          <p:nvPr/>
        </p:nvSpPr>
        <p:spPr>
          <a:xfrm>
            <a:off x="1363045" y="1249256"/>
            <a:ext cx="173736" cy="1315197"/>
          </a:xfrm>
          <a:prstGeom prst="rect">
            <a:avLst/>
          </a:prstGeom>
          <a:solidFill>
            <a:srgbClr val="FEF2F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85F1B7D-95E9-CA19-0E9A-28F969CB7A93}"/>
              </a:ext>
            </a:extLst>
          </p:cNvPr>
          <p:cNvSpPr txBox="1"/>
          <p:nvPr/>
        </p:nvSpPr>
        <p:spPr>
          <a:xfrm rot="5400000">
            <a:off x="1254539" y="954290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+ 13 %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64FFDD7-FEFB-43CF-5F80-E58A9339FC96}"/>
              </a:ext>
            </a:extLst>
          </p:cNvPr>
          <p:cNvSpPr/>
          <p:nvPr/>
        </p:nvSpPr>
        <p:spPr>
          <a:xfrm>
            <a:off x="2563797" y="1444400"/>
            <a:ext cx="164907" cy="1096272"/>
          </a:xfrm>
          <a:prstGeom prst="rect">
            <a:avLst/>
          </a:prstGeom>
          <a:solidFill>
            <a:srgbClr val="FEF2F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E589F73-1A63-1FB0-A9E7-B4A7807E2087}"/>
              </a:ext>
            </a:extLst>
          </p:cNvPr>
          <p:cNvSpPr txBox="1"/>
          <p:nvPr/>
        </p:nvSpPr>
        <p:spPr>
          <a:xfrm rot="5400000">
            <a:off x="2491279" y="1106300"/>
            <a:ext cx="477054" cy="582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+ 9 %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2F7350A-FACD-485C-C072-146B2C2762FD}"/>
              </a:ext>
            </a:extLst>
          </p:cNvPr>
          <p:cNvSpPr/>
          <p:nvPr/>
        </p:nvSpPr>
        <p:spPr>
          <a:xfrm>
            <a:off x="3731623" y="1991469"/>
            <a:ext cx="184538" cy="557981"/>
          </a:xfrm>
          <a:prstGeom prst="rect">
            <a:avLst/>
          </a:prstGeom>
          <a:solidFill>
            <a:srgbClr val="FEF2F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D42A2F-EC15-1F33-4F44-6D0B26DE1EDA}"/>
              </a:ext>
            </a:extLst>
          </p:cNvPr>
          <p:cNvSpPr txBox="1"/>
          <p:nvPr/>
        </p:nvSpPr>
        <p:spPr>
          <a:xfrm rot="5400000">
            <a:off x="3561973" y="1742230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+ 5 %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FC1CD97-DF5A-2F3E-642F-16A636613456}"/>
              </a:ext>
            </a:extLst>
          </p:cNvPr>
          <p:cNvSpPr/>
          <p:nvPr/>
        </p:nvSpPr>
        <p:spPr>
          <a:xfrm>
            <a:off x="4952563" y="2528074"/>
            <a:ext cx="164907" cy="983571"/>
          </a:xfrm>
          <a:prstGeom prst="rect">
            <a:avLst/>
          </a:prstGeom>
          <a:solidFill>
            <a:srgbClr val="FEF2F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1E2A858-3F09-0AC2-2E41-2FA3E37083DF}"/>
              </a:ext>
            </a:extLst>
          </p:cNvPr>
          <p:cNvSpPr txBox="1"/>
          <p:nvPr/>
        </p:nvSpPr>
        <p:spPr>
          <a:xfrm rot="5400000">
            <a:off x="4878943" y="3451283"/>
            <a:ext cx="477054" cy="5524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- 10 %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1FA7E5-EBCE-F759-1A65-A4C7B396388E}"/>
              </a:ext>
            </a:extLst>
          </p:cNvPr>
          <p:cNvSpPr/>
          <p:nvPr/>
        </p:nvSpPr>
        <p:spPr>
          <a:xfrm>
            <a:off x="6083445" y="2513322"/>
            <a:ext cx="164907" cy="906873"/>
          </a:xfrm>
          <a:prstGeom prst="rect">
            <a:avLst/>
          </a:prstGeom>
          <a:solidFill>
            <a:srgbClr val="FEF2F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7F744DB-D2AD-3B8C-0072-F34A85FB345B}"/>
              </a:ext>
            </a:extLst>
          </p:cNvPr>
          <p:cNvSpPr txBox="1"/>
          <p:nvPr/>
        </p:nvSpPr>
        <p:spPr>
          <a:xfrm rot="5400000">
            <a:off x="6040378" y="3337577"/>
            <a:ext cx="477054" cy="5524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- 8 %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FBFB403-F67D-B9C2-42F2-129E487368A5}"/>
              </a:ext>
            </a:extLst>
          </p:cNvPr>
          <p:cNvSpPr/>
          <p:nvPr/>
        </p:nvSpPr>
        <p:spPr>
          <a:xfrm>
            <a:off x="7294121" y="2505332"/>
            <a:ext cx="176519" cy="1266181"/>
          </a:xfrm>
          <a:prstGeom prst="rect">
            <a:avLst/>
          </a:prstGeom>
          <a:solidFill>
            <a:srgbClr val="FEF2F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80817B0-0921-0983-8D49-D531E4576F74}"/>
              </a:ext>
            </a:extLst>
          </p:cNvPr>
          <p:cNvSpPr txBox="1"/>
          <p:nvPr/>
        </p:nvSpPr>
        <p:spPr>
          <a:xfrm rot="5400000">
            <a:off x="7232113" y="3685549"/>
            <a:ext cx="477054" cy="5524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- 12 %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1F7CFD5-E9B8-1BD7-B630-1923371ED6F2}"/>
              </a:ext>
            </a:extLst>
          </p:cNvPr>
          <p:cNvSpPr/>
          <p:nvPr/>
        </p:nvSpPr>
        <p:spPr>
          <a:xfrm>
            <a:off x="1614255" y="1378045"/>
            <a:ext cx="157948" cy="1184856"/>
          </a:xfrm>
          <a:prstGeom prst="rect">
            <a:avLst/>
          </a:prstGeom>
          <a:solidFill>
            <a:srgbClr val="B4C7E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EFE2390-E7A5-97BF-78B8-BC598E771D8B}"/>
              </a:ext>
            </a:extLst>
          </p:cNvPr>
          <p:cNvSpPr txBox="1"/>
          <p:nvPr/>
        </p:nvSpPr>
        <p:spPr>
          <a:xfrm rot="5400000">
            <a:off x="1588353" y="1091302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+ 11 %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19107E3-AACA-5398-2FD9-03A918BA5141}"/>
              </a:ext>
            </a:extLst>
          </p:cNvPr>
          <p:cNvSpPr/>
          <p:nvPr/>
        </p:nvSpPr>
        <p:spPr>
          <a:xfrm>
            <a:off x="2833465" y="1230023"/>
            <a:ext cx="173736" cy="1315197"/>
          </a:xfrm>
          <a:prstGeom prst="rect">
            <a:avLst/>
          </a:prstGeom>
          <a:solidFill>
            <a:srgbClr val="B4C7E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1482DC8-C9AE-8B24-C944-883A444EBB7B}"/>
              </a:ext>
            </a:extLst>
          </p:cNvPr>
          <p:cNvSpPr txBox="1"/>
          <p:nvPr/>
        </p:nvSpPr>
        <p:spPr>
          <a:xfrm rot="5400000">
            <a:off x="2782615" y="929536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+ 13 %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714F7F4-9FF6-CB68-8F80-CDBAB5DBFAF6}"/>
              </a:ext>
            </a:extLst>
          </p:cNvPr>
          <p:cNvSpPr/>
          <p:nvPr/>
        </p:nvSpPr>
        <p:spPr>
          <a:xfrm>
            <a:off x="3969106" y="1853903"/>
            <a:ext cx="184538" cy="695548"/>
          </a:xfrm>
          <a:prstGeom prst="rect">
            <a:avLst/>
          </a:prstGeom>
          <a:solidFill>
            <a:srgbClr val="B4C7E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C0F2F7D-C205-5AE2-BF44-8FDA8A93C3DF}"/>
              </a:ext>
            </a:extLst>
          </p:cNvPr>
          <p:cNvSpPr txBox="1"/>
          <p:nvPr/>
        </p:nvSpPr>
        <p:spPr>
          <a:xfrm rot="5400000">
            <a:off x="3874342" y="1611580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+ 6 %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149B526-C330-3DF5-01AC-B090817C5856}"/>
              </a:ext>
            </a:extLst>
          </p:cNvPr>
          <p:cNvSpPr/>
          <p:nvPr/>
        </p:nvSpPr>
        <p:spPr>
          <a:xfrm>
            <a:off x="6297552" y="1944853"/>
            <a:ext cx="184538" cy="557981"/>
          </a:xfrm>
          <a:prstGeom prst="rect">
            <a:avLst/>
          </a:prstGeom>
          <a:solidFill>
            <a:srgbClr val="B4C7E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6FEFC21-302E-7BA9-0EC9-07C86E8FF708}"/>
              </a:ext>
            </a:extLst>
          </p:cNvPr>
          <p:cNvSpPr txBox="1"/>
          <p:nvPr/>
        </p:nvSpPr>
        <p:spPr>
          <a:xfrm rot="5400000">
            <a:off x="6215243" y="1695328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+ 5 %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E6DA7D7-0C62-5F02-A6AB-336CBBB9D208}"/>
              </a:ext>
            </a:extLst>
          </p:cNvPr>
          <p:cNvSpPr/>
          <p:nvPr/>
        </p:nvSpPr>
        <p:spPr>
          <a:xfrm>
            <a:off x="5168225" y="1966716"/>
            <a:ext cx="184538" cy="557981"/>
          </a:xfrm>
          <a:prstGeom prst="rect">
            <a:avLst/>
          </a:prstGeom>
          <a:solidFill>
            <a:srgbClr val="B4C7E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CE7F4C6-3F0D-F4FE-F89B-48EDE17159D8}"/>
              </a:ext>
            </a:extLst>
          </p:cNvPr>
          <p:cNvSpPr txBox="1"/>
          <p:nvPr/>
        </p:nvSpPr>
        <p:spPr>
          <a:xfrm rot="5400000">
            <a:off x="5085916" y="1717191"/>
            <a:ext cx="477054" cy="40067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+ 4 %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80C4269-D9DE-B1EF-D391-1702D1A5404E}"/>
              </a:ext>
            </a:extLst>
          </p:cNvPr>
          <p:cNvSpPr/>
          <p:nvPr/>
        </p:nvSpPr>
        <p:spPr>
          <a:xfrm>
            <a:off x="7555483" y="2334056"/>
            <a:ext cx="184538" cy="168778"/>
          </a:xfrm>
          <a:prstGeom prst="rect">
            <a:avLst/>
          </a:prstGeom>
          <a:solidFill>
            <a:srgbClr val="B4C7E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E5170BF-4664-1EA6-1905-67613C369447}"/>
              </a:ext>
            </a:extLst>
          </p:cNvPr>
          <p:cNvSpPr txBox="1"/>
          <p:nvPr/>
        </p:nvSpPr>
        <p:spPr>
          <a:xfrm rot="5400000">
            <a:off x="7529003" y="2003763"/>
            <a:ext cx="338554" cy="43971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+ 1 %</a:t>
            </a:r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C23D5B0-557E-4F85-B50B-82C6DE8AC936}"/>
              </a:ext>
            </a:extLst>
          </p:cNvPr>
          <p:cNvSpPr txBox="1"/>
          <p:nvPr/>
        </p:nvSpPr>
        <p:spPr>
          <a:xfrm>
            <a:off x="1391700" y="513171"/>
            <a:ext cx="2558905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Installs : Genre Vs. x Free Vs. x IAP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F983518-0D6F-23E5-718F-181769836A13}"/>
              </a:ext>
            </a:extLst>
          </p:cNvPr>
          <p:cNvSpPr txBox="1"/>
          <p:nvPr/>
        </p:nvSpPr>
        <p:spPr>
          <a:xfrm>
            <a:off x="4903842" y="510783"/>
            <a:ext cx="2558905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Ratings : Genre Vs. x Free Vs. x IAP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836DD2D-4BD2-A97B-A110-850A1DCA3D71}"/>
              </a:ext>
            </a:extLst>
          </p:cNvPr>
          <p:cNvCxnSpPr>
            <a:cxnSpLocks/>
          </p:cNvCxnSpPr>
          <p:nvPr/>
        </p:nvCxnSpPr>
        <p:spPr>
          <a:xfrm>
            <a:off x="4456996" y="514924"/>
            <a:ext cx="21477" cy="421592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C068813-0221-D710-B904-4AAC054B2E23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1064130" y="1330821"/>
            <a:ext cx="420212" cy="810161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C442DBB-A257-60B1-0A31-99E3AD4B1B88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1064130" y="1657137"/>
            <a:ext cx="597245" cy="483845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61AF9B0-FC4B-9CFC-8A75-2BF9C8069FCC}"/>
              </a:ext>
            </a:extLst>
          </p:cNvPr>
          <p:cNvCxnSpPr>
            <a:cxnSpLocks/>
            <a:stCxn id="33" idx="1"/>
          </p:cNvCxnSpPr>
          <p:nvPr/>
        </p:nvCxnSpPr>
        <p:spPr>
          <a:xfrm flipV="1">
            <a:off x="2265003" y="1657137"/>
            <a:ext cx="405217" cy="612306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2F0D619-E68A-56F3-DFAC-5954A3FB2B76}"/>
              </a:ext>
            </a:extLst>
          </p:cNvPr>
          <p:cNvCxnSpPr>
            <a:cxnSpLocks/>
            <a:stCxn id="33" idx="1"/>
          </p:cNvCxnSpPr>
          <p:nvPr/>
        </p:nvCxnSpPr>
        <p:spPr>
          <a:xfrm flipV="1">
            <a:off x="2265003" y="1444400"/>
            <a:ext cx="671380" cy="825043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C3EDFD49-B640-676C-9681-F415E771C717}"/>
              </a:ext>
            </a:extLst>
          </p:cNvPr>
          <p:cNvCxnSpPr>
            <a:cxnSpLocks/>
            <a:stCxn id="40" idx="1"/>
            <a:endCxn id="90" idx="3"/>
          </p:cNvCxnSpPr>
          <p:nvPr/>
        </p:nvCxnSpPr>
        <p:spPr>
          <a:xfrm flipV="1">
            <a:off x="3498511" y="2181094"/>
            <a:ext cx="301989" cy="654916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DA994C02-2C77-4384-2854-71573C9B9E04}"/>
              </a:ext>
            </a:extLst>
          </p:cNvPr>
          <p:cNvCxnSpPr>
            <a:cxnSpLocks/>
            <a:stCxn id="40" idx="1"/>
          </p:cNvCxnSpPr>
          <p:nvPr/>
        </p:nvCxnSpPr>
        <p:spPr>
          <a:xfrm flipV="1">
            <a:off x="3498511" y="2050444"/>
            <a:ext cx="571213" cy="785566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315E1F94-78B5-7973-BF38-BE764A889CE7}"/>
              </a:ext>
            </a:extLst>
          </p:cNvPr>
          <p:cNvCxnSpPr>
            <a:cxnSpLocks/>
            <a:stCxn id="67" idx="1"/>
          </p:cNvCxnSpPr>
          <p:nvPr/>
        </p:nvCxnSpPr>
        <p:spPr>
          <a:xfrm>
            <a:off x="4726045" y="2285362"/>
            <a:ext cx="318788" cy="1089934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B3B8592-FC31-7431-4BF9-E8E0AA421BE3}"/>
              </a:ext>
            </a:extLst>
          </p:cNvPr>
          <p:cNvCxnSpPr>
            <a:cxnSpLocks/>
            <a:stCxn id="67" idx="1"/>
          </p:cNvCxnSpPr>
          <p:nvPr/>
        </p:nvCxnSpPr>
        <p:spPr>
          <a:xfrm flipV="1">
            <a:off x="4726045" y="1990452"/>
            <a:ext cx="545707" cy="294910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175F4B4-897C-D6FB-9F8C-004F994063C0}"/>
              </a:ext>
            </a:extLst>
          </p:cNvPr>
          <p:cNvCxnSpPr>
            <a:cxnSpLocks/>
            <a:stCxn id="48" idx="1"/>
          </p:cNvCxnSpPr>
          <p:nvPr/>
        </p:nvCxnSpPr>
        <p:spPr>
          <a:xfrm>
            <a:off x="5855929" y="2286118"/>
            <a:ext cx="302347" cy="933603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557C3F4-76BB-CA32-AAB2-B8B56031AE90}"/>
              </a:ext>
            </a:extLst>
          </p:cNvPr>
          <p:cNvCxnSpPr>
            <a:cxnSpLocks/>
            <a:stCxn id="48" idx="1"/>
          </p:cNvCxnSpPr>
          <p:nvPr/>
        </p:nvCxnSpPr>
        <p:spPr>
          <a:xfrm flipV="1">
            <a:off x="5855929" y="2031834"/>
            <a:ext cx="562043" cy="254284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158FC7DD-2837-DEBE-1D09-F8E684D53BB2}"/>
              </a:ext>
            </a:extLst>
          </p:cNvPr>
          <p:cNvCxnSpPr>
            <a:cxnSpLocks/>
            <a:stCxn id="49" idx="1"/>
          </p:cNvCxnSpPr>
          <p:nvPr/>
        </p:nvCxnSpPr>
        <p:spPr>
          <a:xfrm>
            <a:off x="7024397" y="2270362"/>
            <a:ext cx="368076" cy="1357190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C7777388-F974-0F70-B9C2-F5F66C64E136}"/>
              </a:ext>
            </a:extLst>
          </p:cNvPr>
          <p:cNvCxnSpPr>
            <a:cxnSpLocks/>
            <a:stCxn id="49" idx="1"/>
            <a:endCxn id="131" idx="3"/>
          </p:cNvCxnSpPr>
          <p:nvPr/>
        </p:nvCxnSpPr>
        <p:spPr>
          <a:xfrm>
            <a:off x="7024397" y="2270362"/>
            <a:ext cx="673883" cy="122534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31C7878F-9AD1-7D17-2F49-57B696764C16}"/>
              </a:ext>
            </a:extLst>
          </p:cNvPr>
          <p:cNvSpPr txBox="1"/>
          <p:nvPr/>
        </p:nvSpPr>
        <p:spPr>
          <a:xfrm>
            <a:off x="5511654" y="37273"/>
            <a:ext cx="227577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Interaction change from baseline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2596FB94-DABA-F47E-640B-4B8DD92D3B69}"/>
              </a:ext>
            </a:extLst>
          </p:cNvPr>
          <p:cNvCxnSpPr>
            <a:cxnSpLocks/>
          </p:cNvCxnSpPr>
          <p:nvPr/>
        </p:nvCxnSpPr>
        <p:spPr>
          <a:xfrm>
            <a:off x="5275338" y="164999"/>
            <a:ext cx="173642" cy="4995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065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131C84-A7D7-E83F-C2E1-F04C38F2CAAD}"/>
              </a:ext>
            </a:extLst>
          </p:cNvPr>
          <p:cNvCxnSpPr>
            <a:cxnSpLocks/>
          </p:cNvCxnSpPr>
          <p:nvPr/>
        </p:nvCxnSpPr>
        <p:spPr>
          <a:xfrm>
            <a:off x="616456" y="854466"/>
            <a:ext cx="0" cy="13544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1921FD6-24A9-7CB6-02F1-7AD22B0CB77B}"/>
              </a:ext>
            </a:extLst>
          </p:cNvPr>
          <p:cNvSpPr/>
          <p:nvPr/>
        </p:nvSpPr>
        <p:spPr>
          <a:xfrm>
            <a:off x="727273" y="1548038"/>
            <a:ext cx="177797" cy="659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975F04-D64E-7C45-EC24-6CCC3088D5EE}"/>
              </a:ext>
            </a:extLst>
          </p:cNvPr>
          <p:cNvSpPr/>
          <p:nvPr/>
        </p:nvSpPr>
        <p:spPr>
          <a:xfrm>
            <a:off x="1036387" y="1766428"/>
            <a:ext cx="182880" cy="4364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E1042F-80E4-D452-D427-F36C4867FC16}"/>
              </a:ext>
            </a:extLst>
          </p:cNvPr>
          <p:cNvSpPr txBox="1"/>
          <p:nvPr/>
        </p:nvSpPr>
        <p:spPr>
          <a:xfrm>
            <a:off x="886500" y="2789973"/>
            <a:ext cx="50505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India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0E69D8-0742-C0B3-BE2A-E57385B4CAB8}"/>
              </a:ext>
            </a:extLst>
          </p:cNvPr>
          <p:cNvSpPr txBox="1"/>
          <p:nvPr/>
        </p:nvSpPr>
        <p:spPr>
          <a:xfrm rot="5400000">
            <a:off x="2618265" y="-1460723"/>
            <a:ext cx="338554" cy="398166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Country-Level Effect of Free x IAP Interaction on Installs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 Light" panose="020B0502040204020203" pitchFamily="34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FF578A5-AAEA-C8D0-5FDA-056ADDCC9AB7}"/>
              </a:ext>
            </a:extLst>
          </p:cNvPr>
          <p:cNvCxnSpPr>
            <a:cxnSpLocks/>
          </p:cNvCxnSpPr>
          <p:nvPr/>
        </p:nvCxnSpPr>
        <p:spPr>
          <a:xfrm flipV="1">
            <a:off x="617963" y="2186943"/>
            <a:ext cx="3677217" cy="2194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22CCE95-3433-7B3F-B9EE-B82D492BEED4}"/>
              </a:ext>
            </a:extLst>
          </p:cNvPr>
          <p:cNvSpPr txBox="1"/>
          <p:nvPr/>
        </p:nvSpPr>
        <p:spPr>
          <a:xfrm rot="5400000">
            <a:off x="613848" y="2091102"/>
            <a:ext cx="338554" cy="44471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6F04282-CA8A-7157-EF82-2824B15A5BE8}"/>
              </a:ext>
            </a:extLst>
          </p:cNvPr>
          <p:cNvSpPr/>
          <p:nvPr/>
        </p:nvSpPr>
        <p:spPr>
          <a:xfrm>
            <a:off x="1319309" y="967621"/>
            <a:ext cx="137160" cy="1232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A2E65B-D5F4-4F84-8714-53FC009CD767}"/>
              </a:ext>
            </a:extLst>
          </p:cNvPr>
          <p:cNvSpPr txBox="1"/>
          <p:nvPr/>
        </p:nvSpPr>
        <p:spPr>
          <a:xfrm rot="5400000">
            <a:off x="1261553" y="2148401"/>
            <a:ext cx="430887" cy="44472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+ IAP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49AFD7F-9142-61D7-445C-467885C087B5}"/>
              </a:ext>
            </a:extLst>
          </p:cNvPr>
          <p:cNvSpPr/>
          <p:nvPr/>
        </p:nvSpPr>
        <p:spPr>
          <a:xfrm>
            <a:off x="1455946" y="967621"/>
            <a:ext cx="137160" cy="12325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28114FF-9D57-36F0-34C3-539A13BA5F69}"/>
              </a:ext>
            </a:extLst>
          </p:cNvPr>
          <p:cNvSpPr txBox="1"/>
          <p:nvPr/>
        </p:nvSpPr>
        <p:spPr>
          <a:xfrm>
            <a:off x="1815937" y="38469"/>
            <a:ext cx="5982033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Amplification Effect (</a:t>
            </a:r>
            <a:r>
              <a:rPr lang="en-US" sz="1100" dirty="0">
                <a:latin typeface="Aptos" panose="020B0004020202020204" pitchFamily="34" charset="0"/>
                <a:ea typeface="Microsoft JhengHei UI" panose="020B0604030504040204" pitchFamily="34" charset="-120"/>
              </a:rPr>
              <a:t>Moderate Synergy from individual  to Strong Synergy when combined</a:t>
            </a:r>
            <a:r>
              <a:rPr 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9015C96-A590-BA64-7ADA-43E25C0D0566}"/>
              </a:ext>
            </a:extLst>
          </p:cNvPr>
          <p:cNvCxnSpPr>
            <a:cxnSpLocks/>
          </p:cNvCxnSpPr>
          <p:nvPr/>
        </p:nvCxnSpPr>
        <p:spPr>
          <a:xfrm>
            <a:off x="1636366" y="163299"/>
            <a:ext cx="173642" cy="4995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41D1AD0-740A-82C5-E613-629285521FF0}"/>
              </a:ext>
            </a:extLst>
          </p:cNvPr>
          <p:cNvCxnSpPr>
            <a:cxnSpLocks/>
          </p:cNvCxnSpPr>
          <p:nvPr/>
        </p:nvCxnSpPr>
        <p:spPr>
          <a:xfrm>
            <a:off x="1770987" y="908788"/>
            <a:ext cx="0" cy="220481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30EDB67-85BE-1AC7-496F-6D0F53490C61}"/>
              </a:ext>
            </a:extLst>
          </p:cNvPr>
          <p:cNvCxnSpPr>
            <a:cxnSpLocks/>
          </p:cNvCxnSpPr>
          <p:nvPr/>
        </p:nvCxnSpPr>
        <p:spPr>
          <a:xfrm>
            <a:off x="3002961" y="888227"/>
            <a:ext cx="0" cy="220481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CA1CAC-E3A3-2458-E9BE-BFA5D0FA5A30}"/>
              </a:ext>
            </a:extLst>
          </p:cNvPr>
          <p:cNvCxnSpPr>
            <a:cxnSpLocks/>
          </p:cNvCxnSpPr>
          <p:nvPr/>
        </p:nvCxnSpPr>
        <p:spPr>
          <a:xfrm>
            <a:off x="4968719" y="838436"/>
            <a:ext cx="0" cy="13544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36FF51-C185-13EE-B3BE-E53EE9FFC5AE}"/>
              </a:ext>
            </a:extLst>
          </p:cNvPr>
          <p:cNvCxnSpPr>
            <a:cxnSpLocks/>
          </p:cNvCxnSpPr>
          <p:nvPr/>
        </p:nvCxnSpPr>
        <p:spPr>
          <a:xfrm flipV="1">
            <a:off x="4970226" y="2179402"/>
            <a:ext cx="3486105" cy="134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EFCED3F-0BB2-798C-4313-D6241BA88B1C}"/>
              </a:ext>
            </a:extLst>
          </p:cNvPr>
          <p:cNvSpPr/>
          <p:nvPr/>
        </p:nvSpPr>
        <p:spPr>
          <a:xfrm>
            <a:off x="5615240" y="1307445"/>
            <a:ext cx="136637" cy="8854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A55FCD-DAC4-7219-2C2E-572D020E4D52}"/>
              </a:ext>
            </a:extLst>
          </p:cNvPr>
          <p:cNvSpPr/>
          <p:nvPr/>
        </p:nvSpPr>
        <p:spPr>
          <a:xfrm>
            <a:off x="5751876" y="1307445"/>
            <a:ext cx="160850" cy="8854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20FD75-B4EE-A979-F907-82E98891BFF3}"/>
              </a:ext>
            </a:extLst>
          </p:cNvPr>
          <p:cNvSpPr/>
          <p:nvPr/>
        </p:nvSpPr>
        <p:spPr>
          <a:xfrm>
            <a:off x="5082049" y="2055831"/>
            <a:ext cx="170248" cy="1388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9846E3-79A6-F06B-3948-37702C30143A}"/>
              </a:ext>
            </a:extLst>
          </p:cNvPr>
          <p:cNvSpPr txBox="1"/>
          <p:nvPr/>
        </p:nvSpPr>
        <p:spPr>
          <a:xfrm>
            <a:off x="4559995" y="810868"/>
            <a:ext cx="444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" panose="020B0004020202020204" pitchFamily="34" charset="0"/>
              </a:rPr>
              <a:t>+2.0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+1.5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+1.0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+0.5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  0.0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00EE2-8C79-2335-6D1B-88FDA9E9922D}"/>
              </a:ext>
            </a:extLst>
          </p:cNvPr>
          <p:cNvSpPr txBox="1"/>
          <p:nvPr/>
        </p:nvSpPr>
        <p:spPr>
          <a:xfrm>
            <a:off x="242906" y="810868"/>
            <a:ext cx="4447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" panose="020B0004020202020204" pitchFamily="34" charset="0"/>
              </a:rPr>
              <a:t>+2.0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+1.5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+1.0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+0.5</a:t>
            </a:r>
          </a:p>
          <a:p>
            <a:endParaRPr lang="en-US" sz="1000" dirty="0">
              <a:latin typeface="Aptos" panose="020B0004020202020204" pitchFamily="34" charset="0"/>
            </a:endParaRPr>
          </a:p>
          <a:p>
            <a:r>
              <a:rPr lang="en-US" sz="1000" dirty="0">
                <a:latin typeface="Aptos" panose="020B0004020202020204" pitchFamily="34" charset="0"/>
              </a:rPr>
              <a:t>  0.0</a:t>
            </a:r>
          </a:p>
          <a:p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61EB30-1247-6367-2389-67B9C9AB124D}"/>
              </a:ext>
            </a:extLst>
          </p:cNvPr>
          <p:cNvSpPr txBox="1"/>
          <p:nvPr/>
        </p:nvSpPr>
        <p:spPr>
          <a:xfrm>
            <a:off x="-39838" y="623310"/>
            <a:ext cx="338554" cy="163940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Effect Size (</a:t>
            </a:r>
            <a:r>
              <a:rPr lang="el-GR" sz="10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Δ</a:t>
            </a:r>
            <a:r>
              <a:rPr 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_Add)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3BE5CD-00B5-30EE-12F3-790255794177}"/>
              </a:ext>
            </a:extLst>
          </p:cNvPr>
          <p:cNvSpPr txBox="1"/>
          <p:nvPr/>
        </p:nvSpPr>
        <p:spPr>
          <a:xfrm rot="5400000">
            <a:off x="4995394" y="2102762"/>
            <a:ext cx="338554" cy="38558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4065F4-D571-C9B1-8468-CC5E6341F333}"/>
              </a:ext>
            </a:extLst>
          </p:cNvPr>
          <p:cNvSpPr txBox="1"/>
          <p:nvPr/>
        </p:nvSpPr>
        <p:spPr>
          <a:xfrm rot="5400000">
            <a:off x="956312" y="2069677"/>
            <a:ext cx="338554" cy="5050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IAP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8364A3-FD72-698B-804F-02DA9B01B91E}"/>
              </a:ext>
            </a:extLst>
          </p:cNvPr>
          <p:cNvSpPr/>
          <p:nvPr/>
        </p:nvSpPr>
        <p:spPr>
          <a:xfrm>
            <a:off x="5332841" y="1932623"/>
            <a:ext cx="182880" cy="2546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B45E0D-6106-8D69-8F82-4F951051F389}"/>
              </a:ext>
            </a:extLst>
          </p:cNvPr>
          <p:cNvSpPr txBox="1"/>
          <p:nvPr/>
        </p:nvSpPr>
        <p:spPr>
          <a:xfrm rot="5400000">
            <a:off x="5280479" y="2082879"/>
            <a:ext cx="338554" cy="44012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IAP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EB9EE2-2D75-5F76-FDAC-FC4C16E569C3}"/>
              </a:ext>
            </a:extLst>
          </p:cNvPr>
          <p:cNvSpPr txBox="1"/>
          <p:nvPr/>
        </p:nvSpPr>
        <p:spPr>
          <a:xfrm rot="5400000">
            <a:off x="5572273" y="2124831"/>
            <a:ext cx="430887" cy="44472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+ IAP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0509F1D-093E-1BD7-468C-9D35995F2454}"/>
              </a:ext>
            </a:extLst>
          </p:cNvPr>
          <p:cNvCxnSpPr>
            <a:cxnSpLocks/>
          </p:cNvCxnSpPr>
          <p:nvPr/>
        </p:nvCxnSpPr>
        <p:spPr>
          <a:xfrm>
            <a:off x="6067816" y="830215"/>
            <a:ext cx="0" cy="220481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8B75F8-8116-8F39-E9FA-83320450A2A2}"/>
              </a:ext>
            </a:extLst>
          </p:cNvPr>
          <p:cNvCxnSpPr>
            <a:cxnSpLocks/>
          </p:cNvCxnSpPr>
          <p:nvPr/>
        </p:nvCxnSpPr>
        <p:spPr>
          <a:xfrm flipV="1">
            <a:off x="672265" y="924256"/>
            <a:ext cx="1027549" cy="703238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166B472-18D5-00CD-30B4-7B12CCD1D040}"/>
              </a:ext>
            </a:extLst>
          </p:cNvPr>
          <p:cNvCxnSpPr>
            <a:cxnSpLocks/>
          </p:cNvCxnSpPr>
          <p:nvPr/>
        </p:nvCxnSpPr>
        <p:spPr>
          <a:xfrm flipV="1">
            <a:off x="5011876" y="1368215"/>
            <a:ext cx="931053" cy="773011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99779E3-07DD-00A8-0B7C-B5D15C78602A}"/>
              </a:ext>
            </a:extLst>
          </p:cNvPr>
          <p:cNvSpPr txBox="1"/>
          <p:nvPr/>
        </p:nvSpPr>
        <p:spPr>
          <a:xfrm>
            <a:off x="5239254" y="2836291"/>
            <a:ext cx="505051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India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5AE7FB-D310-E35D-3DA4-919439DDFA78}"/>
              </a:ext>
            </a:extLst>
          </p:cNvPr>
          <p:cNvSpPr txBox="1"/>
          <p:nvPr/>
        </p:nvSpPr>
        <p:spPr>
          <a:xfrm>
            <a:off x="2104916" y="2789973"/>
            <a:ext cx="654013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Mexico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98CA1D-35EC-BDF6-45F3-B34C39CC37F8}"/>
              </a:ext>
            </a:extLst>
          </p:cNvPr>
          <p:cNvSpPr txBox="1"/>
          <p:nvPr/>
        </p:nvSpPr>
        <p:spPr>
          <a:xfrm>
            <a:off x="6336219" y="2839166"/>
            <a:ext cx="779688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Mexico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6357D1C-BB79-BC50-D434-15F0191A137B}"/>
              </a:ext>
            </a:extLst>
          </p:cNvPr>
          <p:cNvSpPr/>
          <p:nvPr/>
        </p:nvSpPr>
        <p:spPr>
          <a:xfrm>
            <a:off x="1893628" y="1708601"/>
            <a:ext cx="172476" cy="4925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223AF-A74E-38F3-1950-3F56E8568547}"/>
              </a:ext>
            </a:extLst>
          </p:cNvPr>
          <p:cNvSpPr/>
          <p:nvPr/>
        </p:nvSpPr>
        <p:spPr>
          <a:xfrm>
            <a:off x="2202741" y="1965577"/>
            <a:ext cx="172476" cy="2308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3ADC09-227E-F144-B0A9-7687A4756253}"/>
              </a:ext>
            </a:extLst>
          </p:cNvPr>
          <p:cNvSpPr txBox="1"/>
          <p:nvPr/>
        </p:nvSpPr>
        <p:spPr>
          <a:xfrm rot="5400000">
            <a:off x="1794150" y="2126246"/>
            <a:ext cx="338554" cy="37650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B1F70D1-E913-B335-87BC-E1BA977010B8}"/>
              </a:ext>
            </a:extLst>
          </p:cNvPr>
          <p:cNvSpPr/>
          <p:nvPr/>
        </p:nvSpPr>
        <p:spPr>
          <a:xfrm>
            <a:off x="2485663" y="1143546"/>
            <a:ext cx="136637" cy="10544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EF3505F-33AB-37FF-A82D-35F36555727E}"/>
              </a:ext>
            </a:extLst>
          </p:cNvPr>
          <p:cNvSpPr/>
          <p:nvPr/>
        </p:nvSpPr>
        <p:spPr>
          <a:xfrm>
            <a:off x="2622300" y="1143546"/>
            <a:ext cx="136630" cy="10544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D33A9D0-8BFF-8559-2549-7FAAFE4D2A71}"/>
              </a:ext>
            </a:extLst>
          </p:cNvPr>
          <p:cNvSpPr txBox="1"/>
          <p:nvPr/>
        </p:nvSpPr>
        <p:spPr>
          <a:xfrm rot="5400000">
            <a:off x="2125186" y="2135547"/>
            <a:ext cx="338554" cy="37650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IAP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C2D7054-ADF3-4E48-B608-9509C4BF3CA3}"/>
              </a:ext>
            </a:extLst>
          </p:cNvPr>
          <p:cNvSpPr/>
          <p:nvPr/>
        </p:nvSpPr>
        <p:spPr>
          <a:xfrm>
            <a:off x="6738666" y="1831186"/>
            <a:ext cx="189739" cy="3560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3116CB2-950E-C016-9D52-6C7D83F31581}"/>
              </a:ext>
            </a:extLst>
          </p:cNvPr>
          <p:cNvSpPr/>
          <p:nvPr/>
        </p:nvSpPr>
        <p:spPr>
          <a:xfrm>
            <a:off x="6205475" y="1990150"/>
            <a:ext cx="165764" cy="195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F4608D-09FA-63AC-B1BA-3002BF66235B}"/>
              </a:ext>
            </a:extLst>
          </p:cNvPr>
          <p:cNvSpPr txBox="1"/>
          <p:nvPr/>
        </p:nvSpPr>
        <p:spPr>
          <a:xfrm rot="5400000">
            <a:off x="6107516" y="2064978"/>
            <a:ext cx="338554" cy="44472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0EB44AE-4245-FB8E-E059-69ED97FABD7D}"/>
              </a:ext>
            </a:extLst>
          </p:cNvPr>
          <p:cNvSpPr/>
          <p:nvPr/>
        </p:nvSpPr>
        <p:spPr>
          <a:xfrm>
            <a:off x="6456266" y="2054420"/>
            <a:ext cx="189739" cy="1272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4750B1-3920-CB02-22E2-0A216497A725}"/>
              </a:ext>
            </a:extLst>
          </p:cNvPr>
          <p:cNvSpPr txBox="1"/>
          <p:nvPr/>
        </p:nvSpPr>
        <p:spPr>
          <a:xfrm rot="5400000">
            <a:off x="6420565" y="2070764"/>
            <a:ext cx="338554" cy="44471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IAP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C561DA4-9E9A-A2F8-E768-0D3ECD0FFFD1}"/>
              </a:ext>
            </a:extLst>
          </p:cNvPr>
          <p:cNvSpPr/>
          <p:nvPr/>
        </p:nvSpPr>
        <p:spPr>
          <a:xfrm>
            <a:off x="6864768" y="1831186"/>
            <a:ext cx="137160" cy="3616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E1DBE9C-A092-ED6C-A588-F96DDCD7CC47}"/>
              </a:ext>
            </a:extLst>
          </p:cNvPr>
          <p:cNvSpPr txBox="1"/>
          <p:nvPr/>
        </p:nvSpPr>
        <p:spPr>
          <a:xfrm rot="5400000">
            <a:off x="2404307" y="2152405"/>
            <a:ext cx="430887" cy="44472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+ IAP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20CF5A5-2F50-54BB-C865-54A249A47BB1}"/>
              </a:ext>
            </a:extLst>
          </p:cNvPr>
          <p:cNvSpPr txBox="1"/>
          <p:nvPr/>
        </p:nvSpPr>
        <p:spPr>
          <a:xfrm rot="5400000">
            <a:off x="6707814" y="2140563"/>
            <a:ext cx="430887" cy="44472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+ IAP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079BC5D-088A-ED79-0932-DD75EA69AF08}"/>
              </a:ext>
            </a:extLst>
          </p:cNvPr>
          <p:cNvCxnSpPr>
            <a:cxnSpLocks/>
          </p:cNvCxnSpPr>
          <p:nvPr/>
        </p:nvCxnSpPr>
        <p:spPr>
          <a:xfrm flipV="1">
            <a:off x="6133388" y="1773722"/>
            <a:ext cx="952420" cy="344339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9245F2B-BA76-0870-890C-B5BF34AF7B32}"/>
              </a:ext>
            </a:extLst>
          </p:cNvPr>
          <p:cNvCxnSpPr>
            <a:cxnSpLocks/>
          </p:cNvCxnSpPr>
          <p:nvPr/>
        </p:nvCxnSpPr>
        <p:spPr>
          <a:xfrm flipV="1">
            <a:off x="1848430" y="1089329"/>
            <a:ext cx="1017901" cy="707365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497B79-FBAE-D9A0-979D-1E3DE4C56227}"/>
              </a:ext>
            </a:extLst>
          </p:cNvPr>
          <p:cNvCxnSpPr>
            <a:cxnSpLocks/>
          </p:cNvCxnSpPr>
          <p:nvPr/>
        </p:nvCxnSpPr>
        <p:spPr>
          <a:xfrm>
            <a:off x="7222447" y="838436"/>
            <a:ext cx="0" cy="220481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070A1BC0-690D-53F5-3B36-64E5CE0DFAEA}"/>
              </a:ext>
            </a:extLst>
          </p:cNvPr>
          <p:cNvSpPr/>
          <p:nvPr/>
        </p:nvSpPr>
        <p:spPr>
          <a:xfrm>
            <a:off x="3143346" y="1986223"/>
            <a:ext cx="171127" cy="211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6C0E647-0858-249E-7D5D-9DAA18225A07}"/>
              </a:ext>
            </a:extLst>
          </p:cNvPr>
          <p:cNvSpPr/>
          <p:nvPr/>
        </p:nvSpPr>
        <p:spPr>
          <a:xfrm>
            <a:off x="3452459" y="1961935"/>
            <a:ext cx="172476" cy="2308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532AAE5-A93A-AEE9-68BA-AD98A23DFBE9}"/>
              </a:ext>
            </a:extLst>
          </p:cNvPr>
          <p:cNvSpPr/>
          <p:nvPr/>
        </p:nvSpPr>
        <p:spPr>
          <a:xfrm>
            <a:off x="3735382" y="1757842"/>
            <a:ext cx="132048" cy="4278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C52F978-EE02-9863-D806-309000F0D118}"/>
              </a:ext>
            </a:extLst>
          </p:cNvPr>
          <p:cNvSpPr/>
          <p:nvPr/>
        </p:nvSpPr>
        <p:spPr>
          <a:xfrm>
            <a:off x="3872018" y="1757842"/>
            <a:ext cx="132041" cy="4278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99E076C-92DA-E0FC-0B52-D317527FDCDA}"/>
              </a:ext>
            </a:extLst>
          </p:cNvPr>
          <p:cNvSpPr/>
          <p:nvPr/>
        </p:nvSpPr>
        <p:spPr>
          <a:xfrm>
            <a:off x="7372566" y="2026845"/>
            <a:ext cx="172472" cy="1537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F575E1C-0575-687D-A4B9-D711C38EC3FA}"/>
              </a:ext>
            </a:extLst>
          </p:cNvPr>
          <p:cNvSpPr/>
          <p:nvPr/>
        </p:nvSpPr>
        <p:spPr>
          <a:xfrm>
            <a:off x="7682239" y="1947831"/>
            <a:ext cx="172476" cy="2308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1D12C8E-6B41-A664-1E36-E4D93120C2DE}"/>
              </a:ext>
            </a:extLst>
          </p:cNvPr>
          <p:cNvSpPr/>
          <p:nvPr/>
        </p:nvSpPr>
        <p:spPr>
          <a:xfrm>
            <a:off x="7969454" y="1713548"/>
            <a:ext cx="194435" cy="4666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87949F3-A007-1321-96A7-9CFFD0DF44CF}"/>
              </a:ext>
            </a:extLst>
          </p:cNvPr>
          <p:cNvSpPr/>
          <p:nvPr/>
        </p:nvSpPr>
        <p:spPr>
          <a:xfrm>
            <a:off x="8106091" y="1713548"/>
            <a:ext cx="172537" cy="4666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C1F1164-03C4-2F1D-5FA6-11A8977D1B5E}"/>
              </a:ext>
            </a:extLst>
          </p:cNvPr>
          <p:cNvSpPr txBox="1"/>
          <p:nvPr/>
        </p:nvSpPr>
        <p:spPr>
          <a:xfrm>
            <a:off x="3416287" y="2795355"/>
            <a:ext cx="604366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B275CB-DE6B-509B-9947-A7780B8D4143}"/>
              </a:ext>
            </a:extLst>
          </p:cNvPr>
          <p:cNvSpPr txBox="1"/>
          <p:nvPr/>
        </p:nvSpPr>
        <p:spPr>
          <a:xfrm>
            <a:off x="7797970" y="2839166"/>
            <a:ext cx="604366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E56D532-BECC-1191-C6AB-597AE19E2C6E}"/>
              </a:ext>
            </a:extLst>
          </p:cNvPr>
          <p:cNvSpPr txBox="1"/>
          <p:nvPr/>
        </p:nvSpPr>
        <p:spPr>
          <a:xfrm rot="5400000">
            <a:off x="7938414" y="2126744"/>
            <a:ext cx="430887" cy="44472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+ IAP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691E000-F422-7F45-DE10-BDFAC65E3031}"/>
              </a:ext>
            </a:extLst>
          </p:cNvPr>
          <p:cNvSpPr txBox="1"/>
          <p:nvPr/>
        </p:nvSpPr>
        <p:spPr>
          <a:xfrm rot="5400000">
            <a:off x="3662127" y="2122626"/>
            <a:ext cx="430887" cy="44472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+ IAP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D546891-EC51-3E9D-143B-70A1E3002548}"/>
              </a:ext>
            </a:extLst>
          </p:cNvPr>
          <p:cNvSpPr txBox="1"/>
          <p:nvPr/>
        </p:nvSpPr>
        <p:spPr>
          <a:xfrm rot="5400000">
            <a:off x="7618870" y="2105180"/>
            <a:ext cx="338554" cy="380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IAP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C9AF7EC-34CD-3898-C07F-A0DC72E6407B}"/>
              </a:ext>
            </a:extLst>
          </p:cNvPr>
          <p:cNvSpPr txBox="1"/>
          <p:nvPr/>
        </p:nvSpPr>
        <p:spPr>
          <a:xfrm rot="5400000">
            <a:off x="3377114" y="2105575"/>
            <a:ext cx="338554" cy="39507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IAP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82D3D72-A65C-E0B6-38DF-B018843A6D8D}"/>
              </a:ext>
            </a:extLst>
          </p:cNvPr>
          <p:cNvSpPr txBox="1"/>
          <p:nvPr/>
        </p:nvSpPr>
        <p:spPr>
          <a:xfrm rot="5400000">
            <a:off x="7303379" y="2052849"/>
            <a:ext cx="338554" cy="46897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4B5AF31-1C1E-E5D0-0D45-20191244B25E}"/>
              </a:ext>
            </a:extLst>
          </p:cNvPr>
          <p:cNvSpPr txBox="1"/>
          <p:nvPr/>
        </p:nvSpPr>
        <p:spPr>
          <a:xfrm rot="5400000">
            <a:off x="3053798" y="2103485"/>
            <a:ext cx="338554" cy="395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0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 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53CB3E6-3067-9BC9-CF78-4E8C16D5880F}"/>
              </a:ext>
            </a:extLst>
          </p:cNvPr>
          <p:cNvCxnSpPr>
            <a:cxnSpLocks/>
          </p:cNvCxnSpPr>
          <p:nvPr/>
        </p:nvCxnSpPr>
        <p:spPr>
          <a:xfrm flipV="1">
            <a:off x="3043708" y="1676935"/>
            <a:ext cx="1116169" cy="407314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228A675-A1C6-7AC3-6C64-4A0C68B94D97}"/>
              </a:ext>
            </a:extLst>
          </p:cNvPr>
          <p:cNvCxnSpPr>
            <a:cxnSpLocks/>
            <a:stCxn id="103" idx="1"/>
          </p:cNvCxnSpPr>
          <p:nvPr/>
        </p:nvCxnSpPr>
        <p:spPr>
          <a:xfrm flipV="1">
            <a:off x="7372566" y="1619766"/>
            <a:ext cx="988409" cy="483947"/>
          </a:xfrm>
          <a:prstGeom prst="straightConnector1">
            <a:avLst/>
          </a:prstGeom>
          <a:ln w="12700">
            <a:prstDash val="sysDot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B1D81AA3-F774-3FB7-89CE-39C812DD9EEC}"/>
              </a:ext>
            </a:extLst>
          </p:cNvPr>
          <p:cNvSpPr txBox="1"/>
          <p:nvPr/>
        </p:nvSpPr>
        <p:spPr>
          <a:xfrm rot="5400000">
            <a:off x="6946630" y="-1462100"/>
            <a:ext cx="338554" cy="398166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Country-Level Effect of Free x IAP Interaction on Ratings</a:t>
            </a:r>
            <a:endParaRPr lang="en-US" sz="1000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 Light" panose="020B0502040204020203" pitchFamily="34" charset="0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CAAED4C-5D1A-109B-4F0C-8661C42A1EC6}"/>
              </a:ext>
            </a:extLst>
          </p:cNvPr>
          <p:cNvCxnSpPr>
            <a:cxnSpLocks/>
          </p:cNvCxnSpPr>
          <p:nvPr/>
        </p:nvCxnSpPr>
        <p:spPr>
          <a:xfrm>
            <a:off x="4479421" y="763037"/>
            <a:ext cx="7051" cy="208565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728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4" name="Diagram 1493">
            <a:extLst>
              <a:ext uri="{FF2B5EF4-FFF2-40B4-BE49-F238E27FC236}">
                <a16:creationId xmlns:a16="http://schemas.microsoft.com/office/drawing/2014/main" id="{D1308501-F878-DC19-E2A6-104C6E2FA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179193"/>
              </p:ext>
            </p:extLst>
          </p:nvPr>
        </p:nvGraphicFramePr>
        <p:xfrm>
          <a:off x="6090180" y="94522"/>
          <a:ext cx="3142594" cy="1166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24" name="Picture 94" descr="Cloud Clip Art at Clker.com - vector clip art online, royalty free &amp; public  domain">
            <a:extLst>
              <a:ext uri="{FF2B5EF4-FFF2-40B4-BE49-F238E27FC236}">
                <a16:creationId xmlns:a16="http://schemas.microsoft.com/office/drawing/2014/main" id="{0F98FB05-0728-83E9-F50D-3CE235B2D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41"/>
          <a:stretch/>
        </p:blipFill>
        <p:spPr bwMode="auto">
          <a:xfrm>
            <a:off x="717046" y="51516"/>
            <a:ext cx="2519419" cy="141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oogle Play Logo and symbol, meaning, history, PNG">
            <a:extLst>
              <a:ext uri="{FF2B5EF4-FFF2-40B4-BE49-F238E27FC236}">
                <a16:creationId xmlns:a16="http://schemas.microsoft.com/office/drawing/2014/main" id="{5A65B885-74CE-A93D-D79A-A40DE6075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104" y="666314"/>
            <a:ext cx="686873" cy="38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 and symbol, meaning, history, PNG, brand">
            <a:extLst>
              <a:ext uri="{FF2B5EF4-FFF2-40B4-BE49-F238E27FC236}">
                <a16:creationId xmlns:a16="http://schemas.microsoft.com/office/drawing/2014/main" id="{72EC14A9-484B-F64B-411B-5B1F83454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3" t="1" r="14255" b="-8562"/>
          <a:stretch/>
        </p:blipFill>
        <p:spPr bwMode="auto">
          <a:xfrm>
            <a:off x="1476887" y="777155"/>
            <a:ext cx="499869" cy="40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op Mobile App Stores - A Comprehensive Guide (2023)">
            <a:extLst>
              <a:ext uri="{FF2B5EF4-FFF2-40B4-BE49-F238E27FC236}">
                <a16:creationId xmlns:a16="http://schemas.microsoft.com/office/drawing/2014/main" id="{48730DDD-3451-5339-8E21-B9742DEEFF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60" b="27304"/>
          <a:stretch/>
        </p:blipFill>
        <p:spPr bwMode="auto">
          <a:xfrm>
            <a:off x="1846482" y="403090"/>
            <a:ext cx="979348" cy="241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ACE6B65-5862-FAB1-F298-7036C0C6A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48" y="620180"/>
            <a:ext cx="563553" cy="21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Database - Free technology icons">
            <a:extLst>
              <a:ext uri="{FF2B5EF4-FFF2-40B4-BE49-F238E27FC236}">
                <a16:creationId xmlns:a16="http://schemas.microsoft.com/office/drawing/2014/main" id="{F84DF9F9-2109-A8B4-7C56-2FE45A362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293" y="267187"/>
            <a:ext cx="342806" cy="34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Picture 36" descr="Download Free Internet search Icons in PNG &amp; SVG">
            <a:extLst>
              <a:ext uri="{FF2B5EF4-FFF2-40B4-BE49-F238E27FC236}">
                <a16:creationId xmlns:a16="http://schemas.microsoft.com/office/drawing/2014/main" id="{1AFEDF2C-DE95-58B6-9543-8D73D1DC6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60" y="2943444"/>
            <a:ext cx="641692" cy="64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5" name="Picture 42" descr="crawling · GitHub Topics · GitHub">
            <a:extLst>
              <a:ext uri="{FF2B5EF4-FFF2-40B4-BE49-F238E27FC236}">
                <a16:creationId xmlns:a16="http://schemas.microsoft.com/office/drawing/2014/main" id="{DCF823A5-437B-0117-84BB-44FD272504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11466" r="8717"/>
          <a:stretch/>
        </p:blipFill>
        <p:spPr bwMode="auto">
          <a:xfrm>
            <a:off x="236029" y="3487722"/>
            <a:ext cx="734176" cy="39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28" descr="Selenium Python Testing">
            <a:extLst>
              <a:ext uri="{FF2B5EF4-FFF2-40B4-BE49-F238E27FC236}">
                <a16:creationId xmlns:a16="http://schemas.microsoft.com/office/drawing/2014/main" id="{C0C191A1-B2DB-CF8C-6238-4019F0F50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212" y="3347501"/>
            <a:ext cx="620774" cy="33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8" name="Picture 44" descr="Google Play Store Scraping API">
            <a:extLst>
              <a:ext uri="{FF2B5EF4-FFF2-40B4-BE49-F238E27FC236}">
                <a16:creationId xmlns:a16="http://schemas.microsoft.com/office/drawing/2014/main" id="{29B7D22C-688F-47BC-AF76-F6C3FA943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50" y="2638636"/>
            <a:ext cx="304808" cy="30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7" name="Picture 46" descr="Mobile game Generic Outline Color icon | Freepik">
            <a:extLst>
              <a:ext uri="{FF2B5EF4-FFF2-40B4-BE49-F238E27FC236}">
                <a16:creationId xmlns:a16="http://schemas.microsoft.com/office/drawing/2014/main" id="{95F0F02E-1E83-2DB2-B364-23CB22FD0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917" y="1555405"/>
            <a:ext cx="633357" cy="63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4" name="Picture 60" descr="Android Logo, Tech Symbol, Digital Identity, Green Robot, Mobile Icon PNG">
            <a:extLst>
              <a:ext uri="{FF2B5EF4-FFF2-40B4-BE49-F238E27FC236}">
                <a16:creationId xmlns:a16="http://schemas.microsoft.com/office/drawing/2014/main" id="{C45418FF-1DD4-92B5-DF3A-96FDF5F5C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501" y="1555704"/>
            <a:ext cx="337467" cy="57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5" name="Picture 62" descr="Android logo in vector SVG, EPS formats - Brandlogos.net">
            <a:extLst>
              <a:ext uri="{FF2B5EF4-FFF2-40B4-BE49-F238E27FC236}">
                <a16:creationId xmlns:a16="http://schemas.microsoft.com/office/drawing/2014/main" id="{B4D0077A-F46B-4588-8D89-3F9E1D235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304" y="1244910"/>
            <a:ext cx="483042" cy="310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30" descr="Web Scraping with Beautiful Soup – KARAN TECKWANI">
            <a:extLst>
              <a:ext uri="{FF2B5EF4-FFF2-40B4-BE49-F238E27FC236}">
                <a16:creationId xmlns:a16="http://schemas.microsoft.com/office/drawing/2014/main" id="{000E9919-C119-5B37-0A72-846792BF6E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4" r="26634"/>
          <a:stretch/>
        </p:blipFill>
        <p:spPr bwMode="auto">
          <a:xfrm>
            <a:off x="9856" y="2931074"/>
            <a:ext cx="456222" cy="58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0" name="Picture 76" descr="Html file - Free computer icons">
            <a:extLst>
              <a:ext uri="{FF2B5EF4-FFF2-40B4-BE49-F238E27FC236}">
                <a16:creationId xmlns:a16="http://schemas.microsoft.com/office/drawing/2014/main" id="{BAAD400C-0FE2-0D42-55B0-31F5CA9A3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917" y="979377"/>
            <a:ext cx="331096" cy="33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1" name="Picture 78" descr="ms excel office file icon 36897139 PNG">
            <a:extLst>
              <a:ext uri="{FF2B5EF4-FFF2-40B4-BE49-F238E27FC236}">
                <a16:creationId xmlns:a16="http://schemas.microsoft.com/office/drawing/2014/main" id="{3036E9D1-5C29-2FF3-13F9-50CA5FAFD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344" y="1283617"/>
            <a:ext cx="316746" cy="360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4" name="Picture 84" descr="Xml - Free files and folders icons">
            <a:extLst>
              <a:ext uri="{FF2B5EF4-FFF2-40B4-BE49-F238E27FC236}">
                <a16:creationId xmlns:a16="http://schemas.microsoft.com/office/drawing/2014/main" id="{F1BD9EFF-2643-ED28-C083-ACC0F3794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311" y="447410"/>
            <a:ext cx="395218" cy="39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5" name="Picture 86" descr="Txt file - Free files and folders icons">
            <a:extLst>
              <a:ext uri="{FF2B5EF4-FFF2-40B4-BE49-F238E27FC236}">
                <a16:creationId xmlns:a16="http://schemas.microsoft.com/office/drawing/2014/main" id="{E906B9B4-C00A-889D-DE0D-72EF9E701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013" y="686708"/>
            <a:ext cx="418431" cy="41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06" name="Straight Arrow Connector 1405">
            <a:extLst>
              <a:ext uri="{FF2B5EF4-FFF2-40B4-BE49-F238E27FC236}">
                <a16:creationId xmlns:a16="http://schemas.microsoft.com/office/drawing/2014/main" id="{AAF423F4-7FD0-C085-2655-3BE70FA0B177}"/>
              </a:ext>
            </a:extLst>
          </p:cNvPr>
          <p:cNvCxnSpPr>
            <a:cxnSpLocks/>
          </p:cNvCxnSpPr>
          <p:nvPr/>
        </p:nvCxnSpPr>
        <p:spPr>
          <a:xfrm>
            <a:off x="3079625" y="1274648"/>
            <a:ext cx="861308" cy="5198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9" name="Connector: Elbow 1428">
            <a:extLst>
              <a:ext uri="{FF2B5EF4-FFF2-40B4-BE49-F238E27FC236}">
                <a16:creationId xmlns:a16="http://schemas.microsoft.com/office/drawing/2014/main" id="{2CC37387-657D-8C02-3C69-886711BDEFBE}"/>
              </a:ext>
            </a:extLst>
          </p:cNvPr>
          <p:cNvCxnSpPr>
            <a:cxnSpLocks/>
            <a:stCxn id="1069" idx="3"/>
          </p:cNvCxnSpPr>
          <p:nvPr/>
        </p:nvCxnSpPr>
        <p:spPr>
          <a:xfrm flipV="1">
            <a:off x="1140152" y="1505756"/>
            <a:ext cx="945732" cy="175853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7" name="Connector: Elbow 1446">
            <a:extLst>
              <a:ext uri="{FF2B5EF4-FFF2-40B4-BE49-F238E27FC236}">
                <a16:creationId xmlns:a16="http://schemas.microsoft.com/office/drawing/2014/main" id="{C325908B-BD01-2E80-B340-F49EDB1D84EF}"/>
              </a:ext>
            </a:extLst>
          </p:cNvPr>
          <p:cNvCxnSpPr>
            <a:cxnSpLocks/>
          </p:cNvCxnSpPr>
          <p:nvPr/>
        </p:nvCxnSpPr>
        <p:spPr>
          <a:xfrm>
            <a:off x="4292475" y="2275809"/>
            <a:ext cx="1249206" cy="1023152"/>
          </a:xfrm>
          <a:prstGeom prst="bentConnector3">
            <a:avLst>
              <a:gd name="adj1" fmla="val -86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60" name="Picture 106" descr="Play - Free gaming icons">
            <a:extLst>
              <a:ext uri="{FF2B5EF4-FFF2-40B4-BE49-F238E27FC236}">
                <a16:creationId xmlns:a16="http://schemas.microsoft.com/office/drawing/2014/main" id="{598B1069-9631-5383-D778-B7567A0E9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914" y="541024"/>
            <a:ext cx="375970" cy="37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77" name="Straight Arrow Connector 1476">
            <a:extLst>
              <a:ext uri="{FF2B5EF4-FFF2-40B4-BE49-F238E27FC236}">
                <a16:creationId xmlns:a16="http://schemas.microsoft.com/office/drawing/2014/main" id="{33420495-E895-E964-911A-D3BA18F38B6B}"/>
              </a:ext>
            </a:extLst>
          </p:cNvPr>
          <p:cNvCxnSpPr>
            <a:cxnSpLocks/>
          </p:cNvCxnSpPr>
          <p:nvPr/>
        </p:nvCxnSpPr>
        <p:spPr>
          <a:xfrm flipV="1">
            <a:off x="6153473" y="1210659"/>
            <a:ext cx="1222581" cy="17518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04" name="Picture 146" descr="Server - Free technology icons">
            <a:extLst>
              <a:ext uri="{FF2B5EF4-FFF2-40B4-BE49-F238E27FC236}">
                <a16:creationId xmlns:a16="http://schemas.microsoft.com/office/drawing/2014/main" id="{DD059CB9-3E08-A376-3339-B09D5EF9C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118" y="2360914"/>
            <a:ext cx="535099" cy="53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1" name="Picture 148" descr="Csv file - Free files and folders icons">
            <a:extLst>
              <a:ext uri="{FF2B5EF4-FFF2-40B4-BE49-F238E27FC236}">
                <a16:creationId xmlns:a16="http://schemas.microsoft.com/office/drawing/2014/main" id="{007EE591-CDB4-E567-DA4C-C87431213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618" y="1563614"/>
            <a:ext cx="388994" cy="38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3" name="TextBox 1512">
            <a:extLst>
              <a:ext uri="{FF2B5EF4-FFF2-40B4-BE49-F238E27FC236}">
                <a16:creationId xmlns:a16="http://schemas.microsoft.com/office/drawing/2014/main" id="{B89E26A0-49CE-F3E2-7B83-593CDC5A002A}"/>
              </a:ext>
            </a:extLst>
          </p:cNvPr>
          <p:cNvSpPr txBox="1"/>
          <p:nvPr/>
        </p:nvSpPr>
        <p:spPr>
          <a:xfrm>
            <a:off x="222204" y="-18490"/>
            <a:ext cx="94952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Data Sources</a:t>
            </a:r>
          </a:p>
          <a:p>
            <a:pPr algn="ctr"/>
            <a:r>
              <a:rPr lang="fi-FI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Nirmala UI" panose="020B0502040204020203" pitchFamily="34" charset="0"/>
              </a:rPr>
              <a:t>(2010 to 2025)</a:t>
            </a:r>
            <a:endParaRPr 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1514" name="TextBox 1513">
            <a:extLst>
              <a:ext uri="{FF2B5EF4-FFF2-40B4-BE49-F238E27FC236}">
                <a16:creationId xmlns:a16="http://schemas.microsoft.com/office/drawing/2014/main" id="{874095B5-B2FA-086C-B086-B5B9B05C8C4F}"/>
              </a:ext>
            </a:extLst>
          </p:cNvPr>
          <p:cNvSpPr txBox="1"/>
          <p:nvPr/>
        </p:nvSpPr>
        <p:spPr>
          <a:xfrm rot="1816323">
            <a:off x="2543665" y="1513005"/>
            <a:ext cx="1568556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 2:  Collecting Android Game Info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1515" name="TextBox 1514">
            <a:extLst>
              <a:ext uri="{FF2B5EF4-FFF2-40B4-BE49-F238E27FC236}">
                <a16:creationId xmlns:a16="http://schemas.microsoft.com/office/drawing/2014/main" id="{06811960-7921-6232-F6B1-DDD9D88F7978}"/>
              </a:ext>
            </a:extLst>
          </p:cNvPr>
          <p:cNvSpPr txBox="1"/>
          <p:nvPr/>
        </p:nvSpPr>
        <p:spPr>
          <a:xfrm>
            <a:off x="3940933" y="3335718"/>
            <a:ext cx="1823387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 3: Processing </a:t>
            </a:r>
          </a:p>
          <a:p>
            <a:pPr algn="ctr"/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&amp; Cleaning Data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1516" name="TextBox 1515">
            <a:extLst>
              <a:ext uri="{FF2B5EF4-FFF2-40B4-BE49-F238E27FC236}">
                <a16:creationId xmlns:a16="http://schemas.microsoft.com/office/drawing/2014/main" id="{ECCACD21-187C-96AA-30AD-F43779D71DD1}"/>
              </a:ext>
            </a:extLst>
          </p:cNvPr>
          <p:cNvSpPr txBox="1"/>
          <p:nvPr/>
        </p:nvSpPr>
        <p:spPr>
          <a:xfrm rot="18337658">
            <a:off x="5178399" y="1808590"/>
            <a:ext cx="270843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 4: Creating Metadata</a:t>
            </a:r>
          </a:p>
          <a:p>
            <a:pPr algn="ctr"/>
            <a:r>
              <a:rPr lang="en-US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(Games + Country-Specific Details)</a:t>
            </a:r>
          </a:p>
        </p:txBody>
      </p:sp>
      <p:sp>
        <p:nvSpPr>
          <p:cNvPr id="1517" name="TextBox 1516">
            <a:extLst>
              <a:ext uri="{FF2B5EF4-FFF2-40B4-BE49-F238E27FC236}">
                <a16:creationId xmlns:a16="http://schemas.microsoft.com/office/drawing/2014/main" id="{35AF1808-A0CF-B835-729B-45965899E025}"/>
              </a:ext>
            </a:extLst>
          </p:cNvPr>
          <p:cNvSpPr txBox="1"/>
          <p:nvPr/>
        </p:nvSpPr>
        <p:spPr>
          <a:xfrm>
            <a:off x="8311980" y="294138"/>
            <a:ext cx="1689749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 5: Dataset </a:t>
            </a:r>
          </a:p>
          <a:p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Compilation &amp; Storage</a:t>
            </a:r>
          </a:p>
        </p:txBody>
      </p:sp>
      <p:sp>
        <p:nvSpPr>
          <p:cNvPr id="1518" name="TextBox 1517">
            <a:extLst>
              <a:ext uri="{FF2B5EF4-FFF2-40B4-BE49-F238E27FC236}">
                <a16:creationId xmlns:a16="http://schemas.microsoft.com/office/drawing/2014/main" id="{3A536B28-3A3F-98F6-3912-636376CC8413}"/>
              </a:ext>
            </a:extLst>
          </p:cNvPr>
          <p:cNvSpPr txBox="1"/>
          <p:nvPr/>
        </p:nvSpPr>
        <p:spPr>
          <a:xfrm>
            <a:off x="489163" y="1649674"/>
            <a:ext cx="1575392" cy="55399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 1. Web Scraping </a:t>
            </a:r>
          </a:p>
          <a:p>
            <a:pPr algn="ctr"/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&amp; </a:t>
            </a:r>
          </a:p>
          <a:p>
            <a:pPr algn="ctr"/>
            <a:r>
              <a:rPr lang="fi-FI" sz="1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Data Extraction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Nirmala UI" panose="020B0502040204020203" pitchFamily="34" charset="0"/>
            </a:endParaRPr>
          </a:p>
        </p:txBody>
      </p:sp>
      <p:pic>
        <p:nvPicPr>
          <p:cNvPr id="17" name="Picture 16" descr="Python - Free interface icons">
            <a:extLst>
              <a:ext uri="{FF2B5EF4-FFF2-40B4-BE49-F238E27FC236}">
                <a16:creationId xmlns:a16="http://schemas.microsoft.com/office/drawing/2014/main" id="{4C3D8A14-CD4B-903D-CAAC-B1F08792D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550" y="1108001"/>
            <a:ext cx="397755" cy="39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0" descr="Cloud sync - Free icons">
            <a:extLst>
              <a:ext uri="{FF2B5EF4-FFF2-40B4-BE49-F238E27FC236}">
                <a16:creationId xmlns:a16="http://schemas.microsoft.com/office/drawing/2014/main" id="{27679622-9DEF-A605-192B-ED5C540C2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490" y="2900307"/>
            <a:ext cx="565923" cy="56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GitHub Logo and symbol, meaning, history, PNG, brand">
            <a:extLst>
              <a:ext uri="{FF2B5EF4-FFF2-40B4-BE49-F238E27FC236}">
                <a16:creationId xmlns:a16="http://schemas.microsoft.com/office/drawing/2014/main" id="{FDA891C3-FF45-4027-B4E8-E76246ACAE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3" t="1" r="14255" b="-8562"/>
          <a:stretch/>
        </p:blipFill>
        <p:spPr bwMode="auto">
          <a:xfrm>
            <a:off x="9517000" y="2665972"/>
            <a:ext cx="474633" cy="384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5FACCD3-AC6A-8AEC-6310-362C0A5DA2C6}"/>
              </a:ext>
            </a:extLst>
          </p:cNvPr>
          <p:cNvCxnSpPr>
            <a:cxnSpLocks/>
            <a:endCxn id="18" idx="1"/>
          </p:cNvCxnSpPr>
          <p:nvPr/>
        </p:nvCxnSpPr>
        <p:spPr>
          <a:xfrm rot="16200000" flipH="1">
            <a:off x="8913138" y="2960916"/>
            <a:ext cx="246003" cy="19870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2" name="Connector: Elbow 1131">
            <a:extLst>
              <a:ext uri="{FF2B5EF4-FFF2-40B4-BE49-F238E27FC236}">
                <a16:creationId xmlns:a16="http://schemas.microsoft.com/office/drawing/2014/main" id="{0598B1F0-353C-FD4D-BAA4-EBF24715E1C1}"/>
              </a:ext>
            </a:extLst>
          </p:cNvPr>
          <p:cNvCxnSpPr>
            <a:cxnSpLocks/>
            <a:endCxn id="1504" idx="0"/>
          </p:cNvCxnSpPr>
          <p:nvPr/>
        </p:nvCxnSpPr>
        <p:spPr>
          <a:xfrm rot="16200000" flipH="1">
            <a:off x="7903987" y="1315232"/>
            <a:ext cx="1583759" cy="507603"/>
          </a:xfrm>
          <a:prstGeom prst="bentConnector3">
            <a:avLst>
              <a:gd name="adj1" fmla="val -123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6" name="Picture 22" descr="Web Scraping Vector Art, Icons, and Graphics for Free Download">
            <a:extLst>
              <a:ext uri="{FF2B5EF4-FFF2-40B4-BE49-F238E27FC236}">
                <a16:creationId xmlns:a16="http://schemas.microsoft.com/office/drawing/2014/main" id="{9D24C4FB-0A24-1BDA-11F1-0FA7D36CD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751" y="3029894"/>
            <a:ext cx="657359" cy="61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5" name="Picture 96" descr="Process - Free icons">
            <a:extLst>
              <a:ext uri="{FF2B5EF4-FFF2-40B4-BE49-F238E27FC236}">
                <a16:creationId xmlns:a16="http://schemas.microsoft.com/office/drawing/2014/main" id="{3918A1E1-8B54-7BC9-BDE0-57F6EB65D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75826">
            <a:off x="6151650" y="3451901"/>
            <a:ext cx="514573" cy="51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1" name="Picture 34" descr="Colorful Cartoon World Map Stock Vector (Royalty Free) 286176023 |  Shutterstock">
            <a:extLst>
              <a:ext uri="{FF2B5EF4-FFF2-40B4-BE49-F238E27FC236}">
                <a16:creationId xmlns:a16="http://schemas.microsoft.com/office/drawing/2014/main" id="{58D2D30F-1456-716F-8B00-7B042408BC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82"/>
          <a:stretch/>
        </p:blipFill>
        <p:spPr bwMode="auto">
          <a:xfrm>
            <a:off x="7462488" y="518556"/>
            <a:ext cx="709957" cy="46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20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CC0854-8944-39FC-010D-3690D32D8B05}"/>
              </a:ext>
            </a:extLst>
          </p:cNvPr>
          <p:cNvSpPr/>
          <p:nvPr/>
        </p:nvSpPr>
        <p:spPr>
          <a:xfrm>
            <a:off x="858590" y="64394"/>
            <a:ext cx="682580" cy="605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Survey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298853-9DF4-C531-C888-28AFBBA082B6}"/>
              </a:ext>
            </a:extLst>
          </p:cNvPr>
          <p:cNvSpPr/>
          <p:nvPr/>
        </p:nvSpPr>
        <p:spPr>
          <a:xfrm>
            <a:off x="1833093" y="64925"/>
            <a:ext cx="1691425" cy="602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Baseline Metadata from Existing Dataset (Kaggle &amp; GitHub)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B04A4F-E96D-C3D4-8166-69ADCE7E721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1541170" y="366241"/>
            <a:ext cx="291923" cy="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CEAB5CD-3D39-1068-61D7-7F47DB26E4F0}"/>
              </a:ext>
            </a:extLst>
          </p:cNvPr>
          <p:cNvSpPr/>
          <p:nvPr/>
        </p:nvSpPr>
        <p:spPr>
          <a:xfrm>
            <a:off x="3696237" y="62778"/>
            <a:ext cx="1528292" cy="602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Google Play Store 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Scraping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902E98-6AD0-E394-B3A5-CB1AA95F4542}"/>
              </a:ext>
            </a:extLst>
          </p:cNvPr>
          <p:cNvSpPr/>
          <p:nvPr/>
        </p:nvSpPr>
        <p:spPr>
          <a:xfrm>
            <a:off x="5402681" y="56338"/>
            <a:ext cx="1676401" cy="602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AppBrain for Cross-Country Information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10B9D1-5745-B1D9-D413-D3B86166B91C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3524518" y="364094"/>
            <a:ext cx="171719" cy="21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7B461F0-A483-F07F-AB85-887F0A36B336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5224529" y="357654"/>
            <a:ext cx="178152" cy="64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57BA07D-AA12-A7B8-BC56-9F03265332A6}"/>
              </a:ext>
            </a:extLst>
          </p:cNvPr>
          <p:cNvSpPr/>
          <p:nvPr/>
        </p:nvSpPr>
        <p:spPr>
          <a:xfrm>
            <a:off x="892935" y="1762259"/>
            <a:ext cx="774878" cy="4056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Data Sources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07621B-1114-1A8A-A942-490D0ADEEC6A}"/>
              </a:ext>
            </a:extLst>
          </p:cNvPr>
          <p:cNvSpPr/>
          <p:nvPr/>
        </p:nvSpPr>
        <p:spPr>
          <a:xfrm>
            <a:off x="2616832" y="1762259"/>
            <a:ext cx="1285468" cy="4038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Identify App ID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7A09E3-899E-EA40-5C70-432CC52F4D28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1667813" y="1964205"/>
            <a:ext cx="949019" cy="8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6707D8-E593-1C91-CFF4-88C8A7AF5AC5}"/>
              </a:ext>
            </a:extLst>
          </p:cNvPr>
          <p:cNvSpPr/>
          <p:nvPr/>
        </p:nvSpPr>
        <p:spPr>
          <a:xfrm>
            <a:off x="4823137" y="1116170"/>
            <a:ext cx="2127162" cy="341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Collect Data for Country 1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2C6985-B1B7-4F2B-C1EB-8C9516E0A947}"/>
              </a:ext>
            </a:extLst>
          </p:cNvPr>
          <p:cNvSpPr/>
          <p:nvPr/>
        </p:nvSpPr>
        <p:spPr>
          <a:xfrm>
            <a:off x="4838161" y="1518634"/>
            <a:ext cx="2103551" cy="341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Collect Data for Country 2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66A946A-A4B6-5E26-E4A9-02A0BAA44EAB}"/>
              </a:ext>
            </a:extLst>
          </p:cNvPr>
          <p:cNvCxnSpPr>
            <a:cxnSpLocks/>
            <a:stCxn id="32" idx="3"/>
            <a:endCxn id="37" idx="1"/>
          </p:cNvCxnSpPr>
          <p:nvPr/>
        </p:nvCxnSpPr>
        <p:spPr>
          <a:xfrm flipV="1">
            <a:off x="3902300" y="1286815"/>
            <a:ext cx="920837" cy="6773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1A2FBA-5E53-9513-CF30-4164159AC345}"/>
              </a:ext>
            </a:extLst>
          </p:cNvPr>
          <p:cNvCxnSpPr>
            <a:cxnSpLocks/>
            <a:stCxn id="32" idx="3"/>
            <a:endCxn id="38" idx="1"/>
          </p:cNvCxnSpPr>
          <p:nvPr/>
        </p:nvCxnSpPr>
        <p:spPr>
          <a:xfrm flipV="1">
            <a:off x="3902300" y="1689279"/>
            <a:ext cx="935861" cy="2749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2D5A795-9794-231C-A923-C6557FD07E63}"/>
              </a:ext>
            </a:extLst>
          </p:cNvPr>
          <p:cNvSpPr/>
          <p:nvPr/>
        </p:nvSpPr>
        <p:spPr>
          <a:xfrm>
            <a:off x="4848894" y="1897483"/>
            <a:ext cx="2105698" cy="341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Collect Data for Country 3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725BAE-E1F0-86C9-53B0-E6FDE5CC9621}"/>
              </a:ext>
            </a:extLst>
          </p:cNvPr>
          <p:cNvSpPr/>
          <p:nvPr/>
        </p:nvSpPr>
        <p:spPr>
          <a:xfrm>
            <a:off x="4868210" y="2582215"/>
            <a:ext cx="2137895" cy="341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Collect Data for Country 10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61ED1A-2D10-235C-B02E-BA76F15F8E63}"/>
              </a:ext>
            </a:extLst>
          </p:cNvPr>
          <p:cNvSpPr txBox="1"/>
          <p:nvPr/>
        </p:nvSpPr>
        <p:spPr>
          <a:xfrm rot="5400000">
            <a:off x="5674840" y="2291383"/>
            <a:ext cx="431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Segoe UI Variable Display Semib" pitchFamily="2" charset="0"/>
              </a:rPr>
              <a:t>……</a:t>
            </a:r>
            <a:endParaRPr lang="fi-FI" sz="1200" dirty="0">
              <a:latin typeface="Segoe UI Variable Display Semib" pitchFamily="2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C26798C-C131-957F-F0B3-C7111A76AD1A}"/>
              </a:ext>
            </a:extLst>
          </p:cNvPr>
          <p:cNvCxnSpPr>
            <a:cxnSpLocks/>
            <a:stCxn id="32" idx="3"/>
            <a:endCxn id="45" idx="1"/>
          </p:cNvCxnSpPr>
          <p:nvPr/>
        </p:nvCxnSpPr>
        <p:spPr>
          <a:xfrm>
            <a:off x="3902300" y="1964205"/>
            <a:ext cx="946594" cy="103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2593611-132B-31C6-C025-2BEA50282B0B}"/>
              </a:ext>
            </a:extLst>
          </p:cNvPr>
          <p:cNvCxnSpPr>
            <a:cxnSpLocks/>
            <a:stCxn id="32" idx="3"/>
            <a:endCxn id="46" idx="1"/>
          </p:cNvCxnSpPr>
          <p:nvPr/>
        </p:nvCxnSpPr>
        <p:spPr>
          <a:xfrm>
            <a:off x="3902300" y="1964205"/>
            <a:ext cx="965910" cy="788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AF0ECACC-D3D1-395B-0E4B-E8B6CCCF7C8A}"/>
              </a:ext>
            </a:extLst>
          </p:cNvPr>
          <p:cNvSpPr/>
          <p:nvPr/>
        </p:nvSpPr>
        <p:spPr>
          <a:xfrm>
            <a:off x="170645" y="4400280"/>
            <a:ext cx="1144073" cy="3541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App IDs from existing sources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D3569CC-734B-F6B8-ED52-CE19D994017A}"/>
              </a:ext>
            </a:extLst>
          </p:cNvPr>
          <p:cNvSpPr/>
          <p:nvPr/>
        </p:nvSpPr>
        <p:spPr>
          <a:xfrm>
            <a:off x="55809" y="4977683"/>
            <a:ext cx="1373746" cy="482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Scrape Google Play Store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8C6EA0F-5559-2A30-DE55-2517B8CA65FC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>
            <a:off x="742682" y="4754449"/>
            <a:ext cx="0" cy="2232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96D87E2-63BA-4D5B-D322-E52EE1A58ABF}"/>
              </a:ext>
            </a:extLst>
          </p:cNvPr>
          <p:cNvCxnSpPr>
            <a:cxnSpLocks/>
            <a:stCxn id="70" idx="3"/>
            <a:endCxn id="79" idx="1"/>
          </p:cNvCxnSpPr>
          <p:nvPr/>
        </p:nvCxnSpPr>
        <p:spPr>
          <a:xfrm>
            <a:off x="1429555" y="5219163"/>
            <a:ext cx="145954" cy="21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Diamond 78">
            <a:extLst>
              <a:ext uri="{FF2B5EF4-FFF2-40B4-BE49-F238E27FC236}">
                <a16:creationId xmlns:a16="http://schemas.microsoft.com/office/drawing/2014/main" id="{531E52DC-56D4-D9F4-B103-84CFFD6C269E}"/>
              </a:ext>
            </a:extLst>
          </p:cNvPr>
          <p:cNvSpPr/>
          <p:nvPr/>
        </p:nvSpPr>
        <p:spPr>
          <a:xfrm>
            <a:off x="1575509" y="4882166"/>
            <a:ext cx="583842" cy="67828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>
              <a:latin typeface="Segoe UI Variable Display Semib" pitchFamily="2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D5B3436-5683-9E7B-7ADD-344F3D918A42}"/>
              </a:ext>
            </a:extLst>
          </p:cNvPr>
          <p:cNvSpPr/>
          <p:nvPr/>
        </p:nvSpPr>
        <p:spPr>
          <a:xfrm>
            <a:off x="3636135" y="4979830"/>
            <a:ext cx="1688211" cy="482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Try to Collect missing cross country Info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C102B37-CC66-05EC-F859-6CD455C5FC06}"/>
              </a:ext>
            </a:extLst>
          </p:cNvPr>
          <p:cNvCxnSpPr>
            <a:cxnSpLocks/>
            <a:stCxn id="79" idx="3"/>
            <a:endCxn id="88" idx="1"/>
          </p:cNvCxnSpPr>
          <p:nvPr/>
        </p:nvCxnSpPr>
        <p:spPr>
          <a:xfrm>
            <a:off x="2159351" y="5221310"/>
            <a:ext cx="147678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13726AD-77D7-BEA1-131D-ADC001D37464}"/>
              </a:ext>
            </a:extLst>
          </p:cNvPr>
          <p:cNvSpPr txBox="1"/>
          <p:nvPr/>
        </p:nvSpPr>
        <p:spPr>
          <a:xfrm>
            <a:off x="2052033" y="4808044"/>
            <a:ext cx="15540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If App ID Matches from existing sources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57FE09F-E198-9CD2-93E5-94830EA92E47}"/>
              </a:ext>
            </a:extLst>
          </p:cNvPr>
          <p:cNvSpPr txBox="1"/>
          <p:nvPr/>
        </p:nvSpPr>
        <p:spPr>
          <a:xfrm>
            <a:off x="2462012" y="5836208"/>
            <a:ext cx="11397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If new App ID is Identified</a:t>
            </a:r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C633DF54-BD01-7205-A576-F2B9D4D179CD}"/>
              </a:ext>
            </a:extLst>
          </p:cNvPr>
          <p:cNvCxnSpPr>
            <a:cxnSpLocks/>
            <a:stCxn id="79" idx="2"/>
            <a:endCxn id="101" idx="1"/>
          </p:cNvCxnSpPr>
          <p:nvPr/>
        </p:nvCxnSpPr>
        <p:spPr>
          <a:xfrm rot="16200000" flipH="1">
            <a:off x="2321414" y="5106469"/>
            <a:ext cx="693313" cy="160128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BEE15CF-2578-FA2F-9DFB-B0BDF2455C9F}"/>
              </a:ext>
            </a:extLst>
          </p:cNvPr>
          <p:cNvSpPr/>
          <p:nvPr/>
        </p:nvSpPr>
        <p:spPr>
          <a:xfrm>
            <a:off x="3468710" y="6012286"/>
            <a:ext cx="1998372" cy="482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Mark new App and collect all countries Info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2DBB041-B9C9-CBB1-4CFA-0D4715007F66}"/>
              </a:ext>
            </a:extLst>
          </p:cNvPr>
          <p:cNvSpPr/>
          <p:nvPr/>
        </p:nvSpPr>
        <p:spPr>
          <a:xfrm>
            <a:off x="5529329" y="4977685"/>
            <a:ext cx="1195572" cy="482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App list with countries Info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3735E8FF-5BCD-E619-66E8-3B140B34CDD4}"/>
              </a:ext>
            </a:extLst>
          </p:cNvPr>
          <p:cNvCxnSpPr>
            <a:cxnSpLocks/>
            <a:stCxn id="101" idx="3"/>
            <a:endCxn id="105" idx="2"/>
          </p:cNvCxnSpPr>
          <p:nvPr/>
        </p:nvCxnSpPr>
        <p:spPr>
          <a:xfrm flipV="1">
            <a:off x="5467082" y="5460645"/>
            <a:ext cx="660033" cy="79312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E33054F-BE96-1A92-9F91-564B87372BBD}"/>
              </a:ext>
            </a:extLst>
          </p:cNvPr>
          <p:cNvCxnSpPr>
            <a:cxnSpLocks/>
            <a:stCxn id="88" idx="3"/>
            <a:endCxn id="105" idx="1"/>
          </p:cNvCxnSpPr>
          <p:nvPr/>
        </p:nvCxnSpPr>
        <p:spPr>
          <a:xfrm flipV="1">
            <a:off x="5324346" y="5219165"/>
            <a:ext cx="204983" cy="21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2906F64-849E-0669-4FDA-3AB195803C79}"/>
              </a:ext>
            </a:extLst>
          </p:cNvPr>
          <p:cNvSpPr/>
          <p:nvPr/>
        </p:nvSpPr>
        <p:spPr>
          <a:xfrm>
            <a:off x="6903054" y="4977685"/>
            <a:ext cx="1665685" cy="482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Check if all countries info is available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CD98EB0-813D-011F-D0F8-5267E8A32071}"/>
              </a:ext>
            </a:extLst>
          </p:cNvPr>
          <p:cNvCxnSpPr>
            <a:cxnSpLocks/>
            <a:stCxn id="105" idx="3"/>
            <a:endCxn id="133" idx="1"/>
          </p:cNvCxnSpPr>
          <p:nvPr/>
        </p:nvCxnSpPr>
        <p:spPr>
          <a:xfrm>
            <a:off x="6724901" y="5219165"/>
            <a:ext cx="17815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B487EA33-124F-496E-558B-DE75CC66F0A8}"/>
              </a:ext>
            </a:extLst>
          </p:cNvPr>
          <p:cNvCxnSpPr>
            <a:cxnSpLocks/>
            <a:stCxn id="133" idx="0"/>
            <a:endCxn id="79" idx="0"/>
          </p:cNvCxnSpPr>
          <p:nvPr/>
        </p:nvCxnSpPr>
        <p:spPr>
          <a:xfrm rot="16200000" flipV="1">
            <a:off x="4753905" y="1995692"/>
            <a:ext cx="95519" cy="5868467"/>
          </a:xfrm>
          <a:prstGeom prst="bentConnector3">
            <a:avLst>
              <a:gd name="adj1" fmla="val 568535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A0FF238F-9EDE-0BE4-FABC-28E2EB521CF3}"/>
              </a:ext>
            </a:extLst>
          </p:cNvPr>
          <p:cNvSpPr txBox="1"/>
          <p:nvPr/>
        </p:nvSpPr>
        <p:spPr>
          <a:xfrm>
            <a:off x="4782337" y="4170539"/>
            <a:ext cx="31939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If 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Time-out</a:t>
            </a:r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 or missing fields, reprocess 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687711F-3081-6ED8-1E35-3D0A52E99397}"/>
              </a:ext>
            </a:extLst>
          </p:cNvPr>
          <p:cNvSpPr/>
          <p:nvPr/>
        </p:nvSpPr>
        <p:spPr>
          <a:xfrm>
            <a:off x="10017609" y="4971246"/>
            <a:ext cx="1221351" cy="482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Scrape AppBrain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D7EC19F-EBFA-295B-74A3-08CB4E247B6F}"/>
              </a:ext>
            </a:extLst>
          </p:cNvPr>
          <p:cNvSpPr txBox="1"/>
          <p:nvPr/>
        </p:nvSpPr>
        <p:spPr>
          <a:xfrm>
            <a:off x="8045000" y="4705012"/>
            <a:ext cx="24899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If missing info is not-available </a:t>
            </a:r>
          </a:p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on Google Play Store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B5FA5F3-0DB6-2D00-E132-393F14926ACD}"/>
              </a:ext>
            </a:extLst>
          </p:cNvPr>
          <p:cNvCxnSpPr>
            <a:cxnSpLocks/>
            <a:stCxn id="133" idx="3"/>
            <a:endCxn id="159" idx="1"/>
          </p:cNvCxnSpPr>
          <p:nvPr/>
        </p:nvCxnSpPr>
        <p:spPr>
          <a:xfrm flipV="1">
            <a:off x="8568739" y="5212726"/>
            <a:ext cx="1448870" cy="64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022568ED-1C8F-9625-5CB7-3CCDA3AD514F}"/>
              </a:ext>
            </a:extLst>
          </p:cNvPr>
          <p:cNvCxnSpPr>
            <a:cxnSpLocks/>
            <a:stCxn id="159" idx="0"/>
            <a:endCxn id="216" idx="2"/>
          </p:cNvCxnSpPr>
          <p:nvPr/>
        </p:nvCxnSpPr>
        <p:spPr>
          <a:xfrm flipV="1">
            <a:off x="10628285" y="4670741"/>
            <a:ext cx="7514" cy="3005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6" name="Rectangle: Folded Corner 215">
            <a:extLst>
              <a:ext uri="{FF2B5EF4-FFF2-40B4-BE49-F238E27FC236}">
                <a16:creationId xmlns:a16="http://schemas.microsoft.com/office/drawing/2014/main" id="{C7DAC472-5BAB-0A66-4D3D-C59707C07CCF}"/>
              </a:ext>
            </a:extLst>
          </p:cNvPr>
          <p:cNvSpPr/>
          <p:nvPr/>
        </p:nvSpPr>
        <p:spPr>
          <a:xfrm>
            <a:off x="10041224" y="3666187"/>
            <a:ext cx="1189149" cy="1004554"/>
          </a:xfrm>
          <a:prstGeom prst="foldedCorner">
            <a:avLst>
              <a:gd name="adj" fmla="val 21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Final List of Apps with Cross Country Data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3575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9C2582-48BC-B2EB-2D22-7383655A697C}"/>
              </a:ext>
            </a:extLst>
          </p:cNvPr>
          <p:cNvCxnSpPr>
            <a:cxnSpLocks/>
          </p:cNvCxnSpPr>
          <p:nvPr/>
        </p:nvCxnSpPr>
        <p:spPr>
          <a:xfrm flipV="1">
            <a:off x="1307205" y="4410635"/>
            <a:ext cx="7157107" cy="360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A802AD-8CB7-2247-3EB1-39A698930A00}"/>
              </a:ext>
            </a:extLst>
          </p:cNvPr>
          <p:cNvCxnSpPr>
            <a:cxnSpLocks/>
          </p:cNvCxnSpPr>
          <p:nvPr/>
        </p:nvCxnSpPr>
        <p:spPr>
          <a:xfrm flipV="1">
            <a:off x="1296473" y="1339816"/>
            <a:ext cx="0" cy="31165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6A5D4B-63D2-7ED8-10F7-61681D5B203B}"/>
              </a:ext>
            </a:extLst>
          </p:cNvPr>
          <p:cNvSpPr txBox="1"/>
          <p:nvPr/>
        </p:nvSpPr>
        <p:spPr>
          <a:xfrm>
            <a:off x="1369454" y="4469147"/>
            <a:ext cx="3649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US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C4ADF-3929-AFA0-B2FC-8E8844CA8800}"/>
              </a:ext>
            </a:extLst>
          </p:cNvPr>
          <p:cNvSpPr txBox="1"/>
          <p:nvPr/>
        </p:nvSpPr>
        <p:spPr>
          <a:xfrm>
            <a:off x="2466305" y="4514223"/>
            <a:ext cx="6074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India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0DE2E-D5BD-D6B6-5E9E-CAF49CEE7FE8}"/>
              </a:ext>
            </a:extLst>
          </p:cNvPr>
          <p:cNvSpPr txBox="1"/>
          <p:nvPr/>
        </p:nvSpPr>
        <p:spPr>
          <a:xfrm>
            <a:off x="3462271" y="4522809"/>
            <a:ext cx="7877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Germany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4C2FE7-7376-23CF-22B5-AFC471221C9F}"/>
              </a:ext>
            </a:extLst>
          </p:cNvPr>
          <p:cNvSpPr txBox="1"/>
          <p:nvPr/>
        </p:nvSpPr>
        <p:spPr>
          <a:xfrm>
            <a:off x="4464677" y="4520663"/>
            <a:ext cx="7877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Finland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2F6DFB-2BE6-DE03-7FE2-6838A315B0F5}"/>
              </a:ext>
            </a:extLst>
          </p:cNvPr>
          <p:cNvSpPr txBox="1"/>
          <p:nvPr/>
        </p:nvSpPr>
        <p:spPr>
          <a:xfrm>
            <a:off x="6913030" y="4531396"/>
            <a:ext cx="10152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Aggregated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D2F22-D235-8120-735F-7540933D2512}"/>
              </a:ext>
            </a:extLst>
          </p:cNvPr>
          <p:cNvSpPr txBox="1"/>
          <p:nvPr/>
        </p:nvSpPr>
        <p:spPr>
          <a:xfrm>
            <a:off x="5282486" y="4535688"/>
            <a:ext cx="7877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Brazil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D8C22D-983F-4146-2D12-898B1EBD5A97}"/>
              </a:ext>
            </a:extLst>
          </p:cNvPr>
          <p:cNvCxnSpPr>
            <a:cxnSpLocks/>
          </p:cNvCxnSpPr>
          <p:nvPr/>
        </p:nvCxnSpPr>
        <p:spPr>
          <a:xfrm>
            <a:off x="6242867" y="1403384"/>
            <a:ext cx="0" cy="29971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F2C0A6A-1DC8-A0B7-74B2-1517C82D1418}"/>
              </a:ext>
            </a:extLst>
          </p:cNvPr>
          <p:cNvSpPr/>
          <p:nvPr/>
        </p:nvSpPr>
        <p:spPr>
          <a:xfrm>
            <a:off x="1388714" y="3540244"/>
            <a:ext cx="182880" cy="9010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CCA8D2-38D0-006D-62D7-866C7B0B96D6}"/>
              </a:ext>
            </a:extLst>
          </p:cNvPr>
          <p:cNvSpPr/>
          <p:nvPr/>
        </p:nvSpPr>
        <p:spPr>
          <a:xfrm>
            <a:off x="1636689" y="2278665"/>
            <a:ext cx="182880" cy="2160498"/>
          </a:xfrm>
          <a:prstGeom prst="rect">
            <a:avLst/>
          </a:prstGeom>
          <a:pattFill prst="ltHorz">
            <a:fgClr>
              <a:srgbClr val="00000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2CA283-B450-E4E0-D77C-90EE27020AF6}"/>
              </a:ext>
            </a:extLst>
          </p:cNvPr>
          <p:cNvSpPr txBox="1"/>
          <p:nvPr/>
        </p:nvSpPr>
        <p:spPr>
          <a:xfrm>
            <a:off x="741378" y="1542176"/>
            <a:ext cx="51812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egoe UI Variable Display Semib" pitchFamily="2" charset="0"/>
              </a:rPr>
              <a:t>5.5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5.0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4.5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4.0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3.5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3.0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2.5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2.0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1.5 M</a:t>
            </a:r>
          </a:p>
          <a:p>
            <a:endParaRPr lang="en-US" sz="1000" dirty="0">
              <a:latin typeface="Segoe UI Variable Display Semib" pitchFamily="2" charset="0"/>
            </a:endParaRPr>
          </a:p>
          <a:p>
            <a:r>
              <a:rPr lang="en-US" sz="1000" dirty="0">
                <a:latin typeface="Segoe UI Variable Display Semib" pitchFamily="2" charset="0"/>
              </a:rPr>
              <a:t>1.0 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E8928D-C7C9-6BF7-28FF-B64510500D2B}"/>
              </a:ext>
            </a:extLst>
          </p:cNvPr>
          <p:cNvSpPr txBox="1"/>
          <p:nvPr/>
        </p:nvSpPr>
        <p:spPr>
          <a:xfrm rot="16200000">
            <a:off x="-153285" y="3194389"/>
            <a:ext cx="1365965" cy="267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Average Installs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F27AF7-D3AC-42F6-F5BC-AAC829D9AA9B}"/>
              </a:ext>
            </a:extLst>
          </p:cNvPr>
          <p:cNvSpPr/>
          <p:nvPr/>
        </p:nvSpPr>
        <p:spPr>
          <a:xfrm>
            <a:off x="2528862" y="2141749"/>
            <a:ext cx="182880" cy="22905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81DBAF-A032-6197-E764-8DF2111574E8}"/>
              </a:ext>
            </a:extLst>
          </p:cNvPr>
          <p:cNvSpPr/>
          <p:nvPr/>
        </p:nvSpPr>
        <p:spPr>
          <a:xfrm>
            <a:off x="2776839" y="4166142"/>
            <a:ext cx="182880" cy="264057"/>
          </a:xfrm>
          <a:prstGeom prst="rect">
            <a:avLst/>
          </a:prstGeom>
          <a:pattFill prst="ltHorz">
            <a:fgClr>
              <a:srgbClr val="00000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17B0DD-E940-DB7F-94C6-7D279B680AA4}"/>
              </a:ext>
            </a:extLst>
          </p:cNvPr>
          <p:cNvSpPr/>
          <p:nvPr/>
        </p:nvSpPr>
        <p:spPr>
          <a:xfrm>
            <a:off x="3590780" y="3765176"/>
            <a:ext cx="182880" cy="663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D2CFFB-5FA4-13AF-6674-D8A496B02F07}"/>
              </a:ext>
            </a:extLst>
          </p:cNvPr>
          <p:cNvSpPr/>
          <p:nvPr/>
        </p:nvSpPr>
        <p:spPr>
          <a:xfrm>
            <a:off x="3838755" y="3193066"/>
            <a:ext cx="182880" cy="1233060"/>
          </a:xfrm>
          <a:prstGeom prst="rect">
            <a:avLst/>
          </a:prstGeom>
          <a:pattFill prst="ltHorz">
            <a:fgClr>
              <a:srgbClr val="00000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AE6E54-C30C-F963-5B57-8CF25B72448E}"/>
              </a:ext>
            </a:extLst>
          </p:cNvPr>
          <p:cNvSpPr/>
          <p:nvPr/>
        </p:nvSpPr>
        <p:spPr>
          <a:xfrm>
            <a:off x="4603797" y="3926541"/>
            <a:ext cx="182880" cy="5025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952190-2862-BD17-0920-7D406BB0687B}"/>
              </a:ext>
            </a:extLst>
          </p:cNvPr>
          <p:cNvSpPr/>
          <p:nvPr/>
        </p:nvSpPr>
        <p:spPr>
          <a:xfrm>
            <a:off x="4851774" y="3471786"/>
            <a:ext cx="182880" cy="955149"/>
          </a:xfrm>
          <a:prstGeom prst="rect">
            <a:avLst/>
          </a:prstGeom>
          <a:pattFill prst="ltHorz">
            <a:fgClr>
              <a:srgbClr val="00000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609939-06F9-A04D-6C6B-3B4C6ED9A666}"/>
              </a:ext>
            </a:extLst>
          </p:cNvPr>
          <p:cNvSpPr/>
          <p:nvPr/>
        </p:nvSpPr>
        <p:spPr>
          <a:xfrm>
            <a:off x="5430179" y="2410691"/>
            <a:ext cx="182880" cy="2003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9DE65C-B072-DDB6-0828-07EA18946D37}"/>
              </a:ext>
            </a:extLst>
          </p:cNvPr>
          <p:cNvSpPr/>
          <p:nvPr/>
        </p:nvSpPr>
        <p:spPr>
          <a:xfrm>
            <a:off x="5678155" y="3672270"/>
            <a:ext cx="182880" cy="740002"/>
          </a:xfrm>
          <a:prstGeom prst="rect">
            <a:avLst/>
          </a:prstGeom>
          <a:pattFill prst="ltHorz">
            <a:fgClr>
              <a:srgbClr val="00000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67F4F5-5FF2-0215-48DA-AF7FBDF3EB15}"/>
              </a:ext>
            </a:extLst>
          </p:cNvPr>
          <p:cNvSpPr/>
          <p:nvPr/>
        </p:nvSpPr>
        <p:spPr>
          <a:xfrm>
            <a:off x="7127775" y="3193066"/>
            <a:ext cx="182880" cy="12172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02FEA0-F3B1-4BC3-2764-7A9D0EC0963A}"/>
              </a:ext>
            </a:extLst>
          </p:cNvPr>
          <p:cNvSpPr/>
          <p:nvPr/>
        </p:nvSpPr>
        <p:spPr>
          <a:xfrm>
            <a:off x="7375751" y="2894785"/>
            <a:ext cx="182880" cy="1513408"/>
          </a:xfrm>
          <a:prstGeom prst="rect">
            <a:avLst/>
          </a:prstGeom>
          <a:pattFill prst="ltHorz">
            <a:fgClr>
              <a:srgbClr val="00000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1D5B22-775B-EFCE-D6B3-871AE5671FC1}"/>
              </a:ext>
            </a:extLst>
          </p:cNvPr>
          <p:cNvSpPr/>
          <p:nvPr/>
        </p:nvSpPr>
        <p:spPr>
          <a:xfrm>
            <a:off x="4982154" y="1154816"/>
            <a:ext cx="254864" cy="184999"/>
          </a:xfrm>
          <a:prstGeom prst="rect">
            <a:avLst/>
          </a:prstGeom>
          <a:pattFill prst="ltHorz">
            <a:fgClr>
              <a:srgbClr val="00000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D22DD6-DF44-F267-C13B-FD5F2E2681D1}"/>
              </a:ext>
            </a:extLst>
          </p:cNvPr>
          <p:cNvSpPr txBox="1"/>
          <p:nvPr/>
        </p:nvSpPr>
        <p:spPr>
          <a:xfrm>
            <a:off x="5220099" y="1111710"/>
            <a:ext cx="8481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Paid  Apps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109EF7F-0756-58D8-A851-68E61669F8A3}"/>
              </a:ext>
            </a:extLst>
          </p:cNvPr>
          <p:cNvSpPr/>
          <p:nvPr/>
        </p:nvSpPr>
        <p:spPr>
          <a:xfrm>
            <a:off x="3134610" y="1155631"/>
            <a:ext cx="254864" cy="184999"/>
          </a:xfrm>
          <a:prstGeom prst="rect">
            <a:avLst/>
          </a:prstGeom>
          <a:pattFill prst="ltHorz">
            <a:fgClr>
              <a:srgbClr val="00000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A9C35F-52C9-90E3-1DC8-C86D76F6BBFB}"/>
              </a:ext>
            </a:extLst>
          </p:cNvPr>
          <p:cNvSpPr txBox="1"/>
          <p:nvPr/>
        </p:nvSpPr>
        <p:spPr>
          <a:xfrm>
            <a:off x="3372555" y="1112525"/>
            <a:ext cx="8481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Free Apps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C2128B-E472-AACB-7C16-56034C835681}"/>
              </a:ext>
            </a:extLst>
          </p:cNvPr>
          <p:cNvSpPr txBox="1"/>
          <p:nvPr/>
        </p:nvSpPr>
        <p:spPr>
          <a:xfrm>
            <a:off x="2250012" y="1653114"/>
            <a:ext cx="27856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1100" dirty="0">
                <a:latin typeface="Segoe UI Variable Display Semib" pitchFamily="2" charset="0"/>
              </a:rPr>
              <a:t>Country-</a:t>
            </a:r>
            <a:r>
              <a:rPr lang="fi-FI" sz="1100" dirty="0" err="1">
                <a:latin typeface="Segoe UI Variable Display Semib" pitchFamily="2" charset="0"/>
              </a:rPr>
              <a:t>level</a:t>
            </a:r>
            <a:r>
              <a:rPr lang="fi-FI" sz="1100" dirty="0">
                <a:latin typeface="Segoe UI Variable Display Semib" pitchFamily="2" charset="0"/>
              </a:rPr>
              <a:t> relationships </a:t>
            </a:r>
          </a:p>
          <a:p>
            <a:pPr algn="ctr"/>
            <a:r>
              <a:rPr lang="fi-FI" sz="1100" dirty="0">
                <a:latin typeface="Segoe UI Variable Display Semib" pitchFamily="2" charset="0"/>
              </a:rPr>
              <a:t>(</a:t>
            </a:r>
            <a:r>
              <a:rPr lang="fi-FI" sz="1100" dirty="0" err="1">
                <a:latin typeface="Segoe UI Variable Display Semib" pitchFamily="2" charset="0"/>
              </a:rPr>
              <a:t>heterogeneous</a:t>
            </a:r>
            <a:r>
              <a:rPr lang="fi-FI" sz="1100" dirty="0">
                <a:latin typeface="Segoe UI Variable Display Semib" pitchFamily="2" charset="0"/>
              </a:rPr>
              <a:t>)</a:t>
            </a:r>
            <a:endParaRPr lang="en-US" sz="1100" dirty="0">
              <a:solidFill>
                <a:schemeClr val="bg2">
                  <a:lumMod val="50000"/>
                </a:schemeClr>
              </a:solidFill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6738A1-97C9-0501-1F5A-83E632EDEFDB}"/>
              </a:ext>
            </a:extLst>
          </p:cNvPr>
          <p:cNvSpPr txBox="1"/>
          <p:nvPr/>
        </p:nvSpPr>
        <p:spPr>
          <a:xfrm>
            <a:off x="6759259" y="1590363"/>
            <a:ext cx="1680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1100" dirty="0" err="1">
                <a:latin typeface="Segoe UI Variable Display Semib" pitchFamily="2" charset="0"/>
              </a:rPr>
              <a:t>Pooled</a:t>
            </a:r>
            <a:r>
              <a:rPr lang="fi-FI" sz="1100" dirty="0">
                <a:latin typeface="Segoe UI Variable Display Semib" pitchFamily="2" charset="0"/>
              </a:rPr>
              <a:t> </a:t>
            </a:r>
            <a:r>
              <a:rPr lang="fi-FI" sz="1100">
                <a:latin typeface="Segoe UI Variable Display Semib" pitchFamily="2" charset="0"/>
              </a:rPr>
              <a:t>relationship </a:t>
            </a:r>
            <a:r>
              <a:rPr lang="fi-FI" sz="1100" dirty="0">
                <a:latin typeface="Segoe UI Variable Display Semib" pitchFamily="2" charset="0"/>
              </a:rPr>
              <a:t>(</a:t>
            </a:r>
            <a:r>
              <a:rPr lang="fi-FI" sz="1100" dirty="0" err="1">
                <a:latin typeface="Segoe UI Variable Display Semib" pitchFamily="2" charset="0"/>
              </a:rPr>
              <a:t>aggregated</a:t>
            </a:r>
            <a:r>
              <a:rPr lang="fi-FI" sz="1100" dirty="0">
                <a:latin typeface="Segoe UI Variable Display Semib" pitchFamily="2" charset="0"/>
              </a:rPr>
              <a:t>)</a:t>
            </a:r>
            <a:endParaRPr lang="en-US" sz="1100" dirty="0">
              <a:solidFill>
                <a:schemeClr val="bg2">
                  <a:lumMod val="50000"/>
                </a:schemeClr>
              </a:solidFill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1764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D1C49A-6353-FE71-60E1-E33706890EFE}"/>
              </a:ext>
            </a:extLst>
          </p:cNvPr>
          <p:cNvCxnSpPr>
            <a:cxnSpLocks/>
          </p:cNvCxnSpPr>
          <p:nvPr/>
        </p:nvCxnSpPr>
        <p:spPr>
          <a:xfrm>
            <a:off x="736659" y="1622745"/>
            <a:ext cx="0" cy="232050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32970D-A98C-EA49-BE08-88F3982E9794}"/>
              </a:ext>
            </a:extLst>
          </p:cNvPr>
          <p:cNvSpPr txBox="1"/>
          <p:nvPr/>
        </p:nvSpPr>
        <p:spPr>
          <a:xfrm>
            <a:off x="322059" y="1647845"/>
            <a:ext cx="36481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ptos" panose="020B0004020202020204" pitchFamily="34" charset="0"/>
              </a:rPr>
              <a:t>0.8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0.6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0.5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0.4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0.3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0.2</a:t>
            </a:r>
          </a:p>
          <a:p>
            <a:endParaRPr lang="en-US" sz="1000" b="1" dirty="0">
              <a:latin typeface="Aptos" panose="020B0004020202020204" pitchFamily="34" charset="0"/>
            </a:endParaRPr>
          </a:p>
          <a:p>
            <a:r>
              <a:rPr lang="en-US" sz="1000" b="1" dirty="0">
                <a:latin typeface="Aptos" panose="020B0004020202020204" pitchFamily="34" charset="0"/>
              </a:rPr>
              <a:t>0.1</a:t>
            </a:r>
          </a:p>
          <a:p>
            <a:r>
              <a:rPr lang="en-US" sz="1000" b="1" dirty="0">
                <a:latin typeface="Aptos" panose="020B0004020202020204" pitchFamily="34" charset="0"/>
              </a:rPr>
              <a:t>  0.0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07C26-F050-61DA-9960-9E8430A53EC1}"/>
              </a:ext>
            </a:extLst>
          </p:cNvPr>
          <p:cNvSpPr txBox="1"/>
          <p:nvPr/>
        </p:nvSpPr>
        <p:spPr>
          <a:xfrm>
            <a:off x="1246879" y="4369826"/>
            <a:ext cx="1011216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Light" panose="020B0502040204020203" pitchFamily="34" charset="-122"/>
              </a:rPr>
              <a:t>Free + Ads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61E767-97B5-9EC3-2785-1055BA4ECCD0}"/>
              </a:ext>
            </a:extLst>
          </p:cNvPr>
          <p:cNvCxnSpPr>
            <a:cxnSpLocks/>
          </p:cNvCxnSpPr>
          <p:nvPr/>
        </p:nvCxnSpPr>
        <p:spPr>
          <a:xfrm flipV="1">
            <a:off x="738166" y="3910891"/>
            <a:ext cx="8358612" cy="323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C8194-B92C-5289-9FF1-4F5D53642704}"/>
              </a:ext>
            </a:extLst>
          </p:cNvPr>
          <p:cNvSpPr/>
          <p:nvPr/>
        </p:nvSpPr>
        <p:spPr>
          <a:xfrm>
            <a:off x="2268939" y="2039162"/>
            <a:ext cx="137160" cy="1898105"/>
          </a:xfrm>
          <a:prstGeom prst="rect">
            <a:avLst/>
          </a:prstGeom>
          <a:solidFill>
            <a:srgbClr val="DEEBF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46F3F3-EF19-1DD0-FB0C-7B2F00D97C28}"/>
              </a:ext>
            </a:extLst>
          </p:cNvPr>
          <p:cNvSpPr txBox="1"/>
          <p:nvPr/>
        </p:nvSpPr>
        <p:spPr>
          <a:xfrm rot="5400000">
            <a:off x="2314927" y="3447619"/>
            <a:ext cx="323165" cy="120552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Installs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7DA811-E6FF-3274-A4A5-C954BDCE6EC5}"/>
              </a:ext>
            </a:extLst>
          </p:cNvPr>
          <p:cNvSpPr/>
          <p:nvPr/>
        </p:nvSpPr>
        <p:spPr>
          <a:xfrm>
            <a:off x="2405576" y="2039162"/>
            <a:ext cx="137160" cy="18981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8970E-53AE-1A12-8289-B55D387E0EFE}"/>
              </a:ext>
            </a:extLst>
          </p:cNvPr>
          <p:cNvSpPr txBox="1"/>
          <p:nvPr/>
        </p:nvSpPr>
        <p:spPr>
          <a:xfrm>
            <a:off x="39317" y="2361134"/>
            <a:ext cx="338554" cy="87565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 Light" panose="020B0502040204020203" pitchFamily="34" charset="0"/>
              </a:rPr>
              <a:t>Probabilities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D804628-6AE2-FD65-17BA-8E585D2E3343}"/>
              </a:ext>
            </a:extLst>
          </p:cNvPr>
          <p:cNvCxnSpPr>
            <a:cxnSpLocks/>
          </p:cNvCxnSpPr>
          <p:nvPr/>
        </p:nvCxnSpPr>
        <p:spPr>
          <a:xfrm>
            <a:off x="3226300" y="377783"/>
            <a:ext cx="0" cy="4430337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0A319A-48FA-5CD9-634E-6C0069903075}"/>
              </a:ext>
            </a:extLst>
          </p:cNvPr>
          <p:cNvCxnSpPr>
            <a:cxnSpLocks/>
          </p:cNvCxnSpPr>
          <p:nvPr/>
        </p:nvCxnSpPr>
        <p:spPr>
          <a:xfrm>
            <a:off x="6484236" y="751268"/>
            <a:ext cx="0" cy="407831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5EF7225-C080-D81D-1D29-52C6C51B222E}"/>
              </a:ext>
            </a:extLst>
          </p:cNvPr>
          <p:cNvSpPr/>
          <p:nvPr/>
        </p:nvSpPr>
        <p:spPr>
          <a:xfrm>
            <a:off x="1090521" y="1910373"/>
            <a:ext cx="137160" cy="2029041"/>
          </a:xfrm>
          <a:prstGeom prst="rect">
            <a:avLst/>
          </a:prstGeom>
          <a:solidFill>
            <a:srgbClr val="DEEBF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3A4272-670C-2992-C327-52EB51B3489C}"/>
              </a:ext>
            </a:extLst>
          </p:cNvPr>
          <p:cNvSpPr/>
          <p:nvPr/>
        </p:nvSpPr>
        <p:spPr>
          <a:xfrm>
            <a:off x="1227158" y="1910373"/>
            <a:ext cx="137160" cy="20290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97A9CC-15C0-F149-62E0-A66303D105E1}"/>
              </a:ext>
            </a:extLst>
          </p:cNvPr>
          <p:cNvSpPr txBox="1"/>
          <p:nvPr/>
        </p:nvSpPr>
        <p:spPr>
          <a:xfrm rot="5400000">
            <a:off x="1063529" y="3471230"/>
            <a:ext cx="323165" cy="120552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Low Installs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D4B99D-3613-C77F-B5C5-C24207497CBA}"/>
              </a:ext>
            </a:extLst>
          </p:cNvPr>
          <p:cNvSpPr txBox="1"/>
          <p:nvPr/>
        </p:nvSpPr>
        <p:spPr>
          <a:xfrm rot="5400000">
            <a:off x="1082820" y="1593949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 64 %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F1F4B9-CBD2-7DEE-DCAE-80C1441A7F40}"/>
              </a:ext>
            </a:extLst>
          </p:cNvPr>
          <p:cNvSpPr txBox="1"/>
          <p:nvPr/>
        </p:nvSpPr>
        <p:spPr>
          <a:xfrm rot="5400000">
            <a:off x="2286997" y="1729178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60 %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E1B650-9EA1-934F-80B3-69B62AC481A8}"/>
              </a:ext>
            </a:extLst>
          </p:cNvPr>
          <p:cNvSpPr txBox="1"/>
          <p:nvPr/>
        </p:nvSpPr>
        <p:spPr>
          <a:xfrm>
            <a:off x="3442956" y="4298993"/>
            <a:ext cx="282047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Light" panose="020B0502040204020203" pitchFamily="34" charset="-122"/>
              </a:rPr>
              <a:t>Free + Ads + Age Rating (</a:t>
            </a:r>
            <a:r>
              <a:rPr lang="en-US" sz="1200" dirty="0">
                <a:solidFill>
                  <a:srgbClr val="000000"/>
                </a:solidFill>
                <a:effectLst/>
                <a:latin typeface="Segoe UI Variable Display Semib" pitchFamily="2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≥</a:t>
            </a:r>
            <a:r>
              <a:rPr lang="en-US" sz="1800" dirty="0">
                <a:solidFill>
                  <a:srgbClr val="000000"/>
                </a:solidFill>
                <a:effectLst/>
                <a:latin typeface="Segoe UI Variable Display Semib" pitchFamily="2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Segoe UI Variable Display Semib" pitchFamily="2" charset="0"/>
                <a:ea typeface="Microsoft YaHei Light" panose="020B0502040204020203" pitchFamily="34" charset="-122"/>
              </a:rPr>
              <a:t> 18+)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D904B8-9F1F-42B5-9796-9A8D11B92B58}"/>
              </a:ext>
            </a:extLst>
          </p:cNvPr>
          <p:cNvSpPr txBox="1"/>
          <p:nvPr/>
        </p:nvSpPr>
        <p:spPr>
          <a:xfrm>
            <a:off x="6471634" y="4356950"/>
            <a:ext cx="2820473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Light" panose="020B0502040204020203" pitchFamily="34" charset="-122"/>
              </a:rPr>
              <a:t>Free + Ads + Age Rating (</a:t>
            </a:r>
            <a:r>
              <a:rPr lang="en-US" sz="1200" dirty="0">
                <a:solidFill>
                  <a:srgbClr val="000000"/>
                </a:solidFill>
                <a:effectLst/>
                <a:latin typeface="Segoe UI Variable Display Semib" pitchFamily="2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&lt;</a:t>
            </a:r>
            <a:r>
              <a:rPr lang="en-US" sz="1200" dirty="0">
                <a:latin typeface="Segoe UI Variable Display Semib" pitchFamily="2" charset="0"/>
                <a:ea typeface="Microsoft YaHei Light" panose="020B0502040204020203" pitchFamily="34" charset="-122"/>
              </a:rPr>
              <a:t> 18+)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90ECA49-D889-6440-7597-79A730D83BF8}"/>
              </a:ext>
            </a:extLst>
          </p:cNvPr>
          <p:cNvSpPr txBox="1"/>
          <p:nvPr/>
        </p:nvSpPr>
        <p:spPr>
          <a:xfrm rot="5400000">
            <a:off x="5296389" y="3436887"/>
            <a:ext cx="323165" cy="120552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Installs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69F279B-A4FC-10CA-BFAD-D60ED900544A}"/>
              </a:ext>
            </a:extLst>
          </p:cNvPr>
          <p:cNvSpPr/>
          <p:nvPr/>
        </p:nvSpPr>
        <p:spPr>
          <a:xfrm>
            <a:off x="4071983" y="1704311"/>
            <a:ext cx="137160" cy="2224371"/>
          </a:xfrm>
          <a:prstGeom prst="rect">
            <a:avLst/>
          </a:prstGeom>
          <a:pattFill prst="pct5">
            <a:fgClr>
              <a:srgbClr val="000000"/>
            </a:fgClr>
            <a:bgClr>
              <a:schemeClr val="accent1">
                <a:lumMod val="20000"/>
                <a:lumOff val="80000"/>
              </a:schemeClr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6CC07F9-5A1F-D793-CA54-4954E70B6270}"/>
              </a:ext>
            </a:extLst>
          </p:cNvPr>
          <p:cNvSpPr/>
          <p:nvPr/>
        </p:nvSpPr>
        <p:spPr>
          <a:xfrm>
            <a:off x="4208620" y="1704311"/>
            <a:ext cx="137160" cy="2224371"/>
          </a:xfrm>
          <a:prstGeom prst="rect">
            <a:avLst/>
          </a:prstGeom>
          <a:pattFill prst="pct5">
            <a:fgClr>
              <a:srgbClr val="000000"/>
            </a:fgClr>
            <a:bgClr>
              <a:srgbClr val="FBE5D6"/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FCC42E-C011-0B7A-6038-9877D059E735}"/>
              </a:ext>
            </a:extLst>
          </p:cNvPr>
          <p:cNvSpPr txBox="1"/>
          <p:nvPr/>
        </p:nvSpPr>
        <p:spPr>
          <a:xfrm rot="5400000">
            <a:off x="4044991" y="3460498"/>
            <a:ext cx="323165" cy="120552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Low Installs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F2AAAE-9EE2-5961-A8C9-52B2B72EC394}"/>
              </a:ext>
            </a:extLst>
          </p:cNvPr>
          <p:cNvSpPr txBox="1"/>
          <p:nvPr/>
        </p:nvSpPr>
        <p:spPr>
          <a:xfrm rot="5400000">
            <a:off x="4043897" y="1368571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 80 %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5187651-AFE5-55B8-5127-F1E89C415167}"/>
              </a:ext>
            </a:extLst>
          </p:cNvPr>
          <p:cNvSpPr/>
          <p:nvPr/>
        </p:nvSpPr>
        <p:spPr>
          <a:xfrm>
            <a:off x="5310503" y="1693579"/>
            <a:ext cx="137160" cy="2224371"/>
          </a:xfrm>
          <a:prstGeom prst="rect">
            <a:avLst/>
          </a:prstGeom>
          <a:pattFill prst="pct5">
            <a:fgClr>
              <a:srgbClr val="000000"/>
            </a:fgClr>
            <a:bgClr>
              <a:schemeClr val="accent1">
                <a:lumMod val="20000"/>
                <a:lumOff val="80000"/>
              </a:schemeClr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9BD1B28-9953-CEEA-9233-3FE808326796}"/>
              </a:ext>
            </a:extLst>
          </p:cNvPr>
          <p:cNvSpPr/>
          <p:nvPr/>
        </p:nvSpPr>
        <p:spPr>
          <a:xfrm>
            <a:off x="5447140" y="1693579"/>
            <a:ext cx="137160" cy="2224371"/>
          </a:xfrm>
          <a:prstGeom prst="rect">
            <a:avLst/>
          </a:prstGeom>
          <a:pattFill prst="pct5">
            <a:fgClr>
              <a:srgbClr val="000000"/>
            </a:fgClr>
            <a:bgClr>
              <a:srgbClr val="FBE5D6"/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599CB8-38DA-0A86-3BFE-093A28C13096}"/>
              </a:ext>
            </a:extLst>
          </p:cNvPr>
          <p:cNvSpPr txBox="1"/>
          <p:nvPr/>
        </p:nvSpPr>
        <p:spPr>
          <a:xfrm rot="5400000">
            <a:off x="5273831" y="1366424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 80 %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015E714-1771-B899-6B49-E337A6061063}"/>
              </a:ext>
            </a:extLst>
          </p:cNvPr>
          <p:cNvSpPr txBox="1"/>
          <p:nvPr/>
        </p:nvSpPr>
        <p:spPr>
          <a:xfrm rot="5400000">
            <a:off x="8204864" y="3430449"/>
            <a:ext cx="323165" cy="120552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High Installs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91BCBF5-B4F8-F789-57AE-A04145BDB6B4}"/>
              </a:ext>
            </a:extLst>
          </p:cNvPr>
          <p:cNvSpPr/>
          <p:nvPr/>
        </p:nvSpPr>
        <p:spPr>
          <a:xfrm>
            <a:off x="6980459" y="3183236"/>
            <a:ext cx="137160" cy="739008"/>
          </a:xfrm>
          <a:prstGeom prst="rect">
            <a:avLst/>
          </a:prstGeom>
          <a:pattFill prst="pct5">
            <a:fgClr>
              <a:srgbClr val="000000"/>
            </a:fgClr>
            <a:bgClr>
              <a:schemeClr val="accent1">
                <a:lumMod val="20000"/>
                <a:lumOff val="80000"/>
              </a:schemeClr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134079B-93FF-6130-F04D-465E202E3AAA}"/>
              </a:ext>
            </a:extLst>
          </p:cNvPr>
          <p:cNvSpPr/>
          <p:nvPr/>
        </p:nvSpPr>
        <p:spPr>
          <a:xfrm>
            <a:off x="7117096" y="3183236"/>
            <a:ext cx="137160" cy="739008"/>
          </a:xfrm>
          <a:prstGeom prst="rect">
            <a:avLst/>
          </a:prstGeom>
          <a:pattFill prst="pct5">
            <a:fgClr>
              <a:srgbClr val="000000"/>
            </a:fgClr>
            <a:bgClr>
              <a:srgbClr val="FBE5D6"/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5D8F13-29A5-8B89-EA75-83617EC420FE}"/>
              </a:ext>
            </a:extLst>
          </p:cNvPr>
          <p:cNvSpPr txBox="1"/>
          <p:nvPr/>
        </p:nvSpPr>
        <p:spPr>
          <a:xfrm rot="5400000">
            <a:off x="6953466" y="3454060"/>
            <a:ext cx="323165" cy="120552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Low Installs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7CFE1A-6475-12EB-58CD-BCB35EBC4010}"/>
              </a:ext>
            </a:extLst>
          </p:cNvPr>
          <p:cNvSpPr txBox="1"/>
          <p:nvPr/>
        </p:nvSpPr>
        <p:spPr>
          <a:xfrm rot="5400000">
            <a:off x="6950582" y="2881841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 20 %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F198CAE-B1F3-238D-F62E-1DB27BDCD001}"/>
              </a:ext>
            </a:extLst>
          </p:cNvPr>
          <p:cNvSpPr/>
          <p:nvPr/>
        </p:nvSpPr>
        <p:spPr>
          <a:xfrm>
            <a:off x="8218979" y="3172504"/>
            <a:ext cx="137160" cy="739008"/>
          </a:xfrm>
          <a:prstGeom prst="rect">
            <a:avLst/>
          </a:prstGeom>
          <a:pattFill prst="pct5">
            <a:fgClr>
              <a:srgbClr val="000000"/>
            </a:fgClr>
            <a:bgClr>
              <a:schemeClr val="accent1">
                <a:lumMod val="20000"/>
                <a:lumOff val="80000"/>
              </a:schemeClr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08D200C-58BC-67CF-6F58-FC1751ABB7F0}"/>
              </a:ext>
            </a:extLst>
          </p:cNvPr>
          <p:cNvSpPr/>
          <p:nvPr/>
        </p:nvSpPr>
        <p:spPr>
          <a:xfrm>
            <a:off x="8355616" y="3172504"/>
            <a:ext cx="137160" cy="739008"/>
          </a:xfrm>
          <a:prstGeom prst="rect">
            <a:avLst/>
          </a:prstGeom>
          <a:pattFill prst="pct5">
            <a:fgClr>
              <a:srgbClr val="000000"/>
            </a:fgClr>
            <a:bgClr>
              <a:srgbClr val="FBE5D6"/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4F6173-E5BA-C0AF-D62C-B6150B295837}"/>
              </a:ext>
            </a:extLst>
          </p:cNvPr>
          <p:cNvSpPr txBox="1"/>
          <p:nvPr/>
        </p:nvSpPr>
        <p:spPr>
          <a:xfrm rot="5400000">
            <a:off x="8180516" y="2879694"/>
            <a:ext cx="477054" cy="50715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b="1" dirty="0">
                <a:ea typeface="Microsoft YaHei" panose="020B0503020204020204" pitchFamily="34" charset="-122"/>
                <a:cs typeface="Segoe UI Light" panose="020B0502040204020203" pitchFamily="34" charset="0"/>
              </a:rPr>
              <a:t> 20 %</a:t>
            </a:r>
          </a:p>
          <a:p>
            <a:endParaRPr lang="en-US" sz="900" b="1" dirty="0">
              <a:ea typeface="Microsoft YaHei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916C561-5742-C500-4705-71ADB3136A03}"/>
              </a:ext>
            </a:extLst>
          </p:cNvPr>
          <p:cNvSpPr txBox="1"/>
          <p:nvPr/>
        </p:nvSpPr>
        <p:spPr>
          <a:xfrm>
            <a:off x="716698" y="375227"/>
            <a:ext cx="26618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" panose="020B0503020204020204" pitchFamily="34" charset="-122"/>
              </a:rPr>
              <a:t>Marginal Effect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6D5412-4015-81CC-B677-9B5B0A439249}"/>
              </a:ext>
            </a:extLst>
          </p:cNvPr>
          <p:cNvSpPr txBox="1"/>
          <p:nvPr/>
        </p:nvSpPr>
        <p:spPr>
          <a:xfrm>
            <a:off x="5896154" y="283343"/>
            <a:ext cx="1618671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" panose="020B0503020204020204" pitchFamily="34" charset="-122"/>
              </a:rPr>
              <a:t>Conditional Effect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352A7E4-38C4-6693-C59E-42AAC04417C8}"/>
              </a:ext>
            </a:extLst>
          </p:cNvPr>
          <p:cNvSpPr txBox="1"/>
          <p:nvPr/>
        </p:nvSpPr>
        <p:spPr>
          <a:xfrm>
            <a:off x="420710" y="840234"/>
            <a:ext cx="3125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P(Monetization=1∣Low Installs) </a:t>
            </a:r>
          </a:p>
          <a:p>
            <a:pPr algn="ctr"/>
            <a:r>
              <a:rPr lang="en-US" sz="1200" dirty="0"/>
              <a:t>Vs</a:t>
            </a:r>
          </a:p>
          <a:p>
            <a:pPr algn="ctr"/>
            <a:r>
              <a:rPr lang="en-US" sz="1200" dirty="0"/>
              <a:t> P(Monetization=1∣High Installs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5B0678-D301-B7F0-B442-F97129D9CC19}"/>
              </a:ext>
            </a:extLst>
          </p:cNvPr>
          <p:cNvSpPr txBox="1"/>
          <p:nvPr/>
        </p:nvSpPr>
        <p:spPr>
          <a:xfrm>
            <a:off x="3299141" y="812330"/>
            <a:ext cx="3125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P(Monetization=1∣Low Installs , Age </a:t>
            </a:r>
            <a:r>
              <a:rPr lang="fi-FI" sz="1200" dirty="0"/>
              <a:t>≥ 18 </a:t>
            </a:r>
            <a:r>
              <a:rPr lang="en-US" sz="1200" dirty="0"/>
              <a:t>) </a:t>
            </a:r>
          </a:p>
          <a:p>
            <a:pPr algn="ctr"/>
            <a:r>
              <a:rPr lang="en-US" sz="1200" dirty="0"/>
              <a:t>vs </a:t>
            </a:r>
          </a:p>
          <a:p>
            <a:pPr algn="ctr"/>
            <a:r>
              <a:rPr lang="en-US" sz="1200" dirty="0"/>
              <a:t>P(Monetization=1∣High Installs, Age </a:t>
            </a:r>
            <a:r>
              <a:rPr lang="fi-FI" sz="1200" dirty="0"/>
              <a:t>≥ 18 )</a:t>
            </a:r>
            <a:endParaRPr 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AC2F03F-AF38-1CEF-C143-18BDF372D851}"/>
              </a:ext>
            </a:extLst>
          </p:cNvPr>
          <p:cNvSpPr txBox="1"/>
          <p:nvPr/>
        </p:nvSpPr>
        <p:spPr>
          <a:xfrm>
            <a:off x="6357870" y="840234"/>
            <a:ext cx="3125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P(Monetization=1∣Low Installs , Age </a:t>
            </a:r>
            <a:r>
              <a:rPr lang="fi-FI" sz="1200" dirty="0"/>
              <a:t>&lt; 18 </a:t>
            </a:r>
            <a:r>
              <a:rPr lang="en-US" sz="1200" dirty="0"/>
              <a:t>) </a:t>
            </a:r>
          </a:p>
          <a:p>
            <a:pPr algn="ctr"/>
            <a:r>
              <a:rPr lang="en-US" sz="1200" dirty="0"/>
              <a:t>Vs</a:t>
            </a:r>
          </a:p>
          <a:p>
            <a:pPr algn="ctr"/>
            <a:r>
              <a:rPr lang="en-US" sz="1200" dirty="0"/>
              <a:t> P(Monetization=1∣High Installs, Age </a:t>
            </a:r>
            <a:r>
              <a:rPr lang="fi-FI" sz="1200" dirty="0"/>
              <a:t>&lt; 18 )</a:t>
            </a:r>
            <a:endParaRPr lang="en-US" sz="12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0E01EE7-2210-E405-E8D0-0578BF7A8B29}"/>
              </a:ext>
            </a:extLst>
          </p:cNvPr>
          <p:cNvSpPr/>
          <p:nvPr/>
        </p:nvSpPr>
        <p:spPr>
          <a:xfrm rot="5400000">
            <a:off x="2485623" y="53670"/>
            <a:ext cx="121506" cy="2382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5B817E-98E2-05C6-3FCD-A599FE402BB9}"/>
              </a:ext>
            </a:extLst>
          </p:cNvPr>
          <p:cNvSpPr txBox="1"/>
          <p:nvPr/>
        </p:nvSpPr>
        <p:spPr>
          <a:xfrm rot="5400000">
            <a:off x="2695316" y="-72448"/>
            <a:ext cx="323165" cy="49382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Free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3618FA5-909C-AB7B-D4CA-905CF1BBF479}"/>
              </a:ext>
            </a:extLst>
          </p:cNvPr>
          <p:cNvSpPr/>
          <p:nvPr/>
        </p:nvSpPr>
        <p:spPr>
          <a:xfrm rot="5400000">
            <a:off x="3625405" y="40791"/>
            <a:ext cx="121506" cy="238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68908B9-80E8-BE3F-C4BC-7AD67D1AD8B1}"/>
              </a:ext>
            </a:extLst>
          </p:cNvPr>
          <p:cNvSpPr txBox="1"/>
          <p:nvPr/>
        </p:nvSpPr>
        <p:spPr>
          <a:xfrm rot="5400000">
            <a:off x="3835098" y="-85327"/>
            <a:ext cx="323165" cy="49382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633B64A-A041-BD4C-DEF3-E12DE65E451B}"/>
              </a:ext>
            </a:extLst>
          </p:cNvPr>
          <p:cNvSpPr/>
          <p:nvPr/>
        </p:nvSpPr>
        <p:spPr>
          <a:xfrm rot="5400000">
            <a:off x="4647129" y="40791"/>
            <a:ext cx="121506" cy="238253"/>
          </a:xfrm>
          <a:prstGeom prst="rect">
            <a:avLst/>
          </a:prstGeom>
          <a:pattFill prst="pct5">
            <a:fgClr>
              <a:srgbClr val="000000"/>
            </a:fgClr>
            <a:bgClr>
              <a:schemeClr val="bg1"/>
            </a:bgClr>
          </a:patt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5A73437-1CE0-61DB-3383-F04445BC5F16}"/>
              </a:ext>
            </a:extLst>
          </p:cNvPr>
          <p:cNvSpPr txBox="1"/>
          <p:nvPr/>
        </p:nvSpPr>
        <p:spPr>
          <a:xfrm rot="5400000">
            <a:off x="5072543" y="-301048"/>
            <a:ext cx="323165" cy="92526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9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Age Rating</a:t>
            </a:r>
          </a:p>
        </p:txBody>
      </p:sp>
    </p:spTree>
    <p:extLst>
      <p:ext uri="{BB962C8B-B14F-4D97-AF65-F5344CB8AC3E}">
        <p14:creationId xmlns:p14="http://schemas.microsoft.com/office/powerpoint/2010/main" val="2201259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Android Logo transparent PNG - StickPNG">
            <a:extLst>
              <a:ext uri="{FF2B5EF4-FFF2-40B4-BE49-F238E27FC236}">
                <a16:creationId xmlns:a16="http://schemas.microsoft.com/office/drawing/2014/main" id="{5DF749CB-97BD-8B36-D4F2-BF4A93B98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350" y="72442"/>
            <a:ext cx="573696" cy="3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1AAEC9-42A0-D762-7920-FA04D413C631}"/>
              </a:ext>
            </a:extLst>
          </p:cNvPr>
          <p:cNvSpPr/>
          <p:nvPr/>
        </p:nvSpPr>
        <p:spPr>
          <a:xfrm>
            <a:off x="40369" y="2550878"/>
            <a:ext cx="487682" cy="504305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Ads             </a:t>
            </a:r>
            <a:endParaRPr lang="fi-FI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517C8C-6878-56D4-0FCA-AB7BEDC2A0E3}"/>
              </a:ext>
            </a:extLst>
          </p:cNvPr>
          <p:cNvSpPr/>
          <p:nvPr/>
        </p:nvSpPr>
        <p:spPr>
          <a:xfrm>
            <a:off x="569269" y="2550871"/>
            <a:ext cx="507763" cy="504305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IAP             </a:t>
            </a:r>
            <a:endParaRPr lang="fi-FI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BA9508-BB82-11F2-F2D0-A0AAA3C1628F}"/>
              </a:ext>
            </a:extLst>
          </p:cNvPr>
          <p:cNvSpPr/>
          <p:nvPr/>
        </p:nvSpPr>
        <p:spPr>
          <a:xfrm>
            <a:off x="1124318" y="2550871"/>
            <a:ext cx="536698" cy="504305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Free</a:t>
            </a:r>
            <a:endParaRPr lang="fi-FI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21E828-ABCF-911E-AFF4-47AA5D5ED0B9}"/>
              </a:ext>
            </a:extLst>
          </p:cNvPr>
          <p:cNvSpPr/>
          <p:nvPr/>
        </p:nvSpPr>
        <p:spPr>
          <a:xfrm>
            <a:off x="1855326" y="2550873"/>
            <a:ext cx="719047" cy="504305"/>
          </a:xfrm>
          <a:prstGeom prst="rect">
            <a:avLst/>
          </a:prstGeom>
          <a:solidFill>
            <a:srgbClr val="EEF7D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Genre</a:t>
            </a:r>
            <a:endParaRPr lang="fi-FI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E8C7B2-8E8C-D5F5-A3CA-4EC74F4DB7F7}"/>
              </a:ext>
            </a:extLst>
          </p:cNvPr>
          <p:cNvSpPr/>
          <p:nvPr/>
        </p:nvSpPr>
        <p:spPr>
          <a:xfrm>
            <a:off x="4455616" y="2554798"/>
            <a:ext cx="829188" cy="504305"/>
          </a:xfrm>
          <a:prstGeom prst="rect">
            <a:avLst/>
          </a:prstGeom>
          <a:solidFill>
            <a:srgbClr val="F4F3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Reviews</a:t>
            </a:r>
            <a:endParaRPr lang="fi-FI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2C9635-0038-ACB2-B264-CA690939D01E}"/>
              </a:ext>
            </a:extLst>
          </p:cNvPr>
          <p:cNvSpPr/>
          <p:nvPr/>
        </p:nvSpPr>
        <p:spPr>
          <a:xfrm>
            <a:off x="7969570" y="2545101"/>
            <a:ext cx="769619" cy="504305"/>
          </a:xfrm>
          <a:prstGeom prst="rect">
            <a:avLst/>
          </a:prstGeom>
          <a:solidFill>
            <a:srgbClr val="F4F3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Ratings</a:t>
            </a:r>
            <a:endParaRPr lang="fi-FI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8A4F25-8EB5-D63A-C316-B00FEADE3833}"/>
              </a:ext>
            </a:extLst>
          </p:cNvPr>
          <p:cNvSpPr/>
          <p:nvPr/>
        </p:nvSpPr>
        <p:spPr>
          <a:xfrm>
            <a:off x="7179276" y="2545102"/>
            <a:ext cx="743644" cy="504305"/>
          </a:xfrm>
          <a:prstGeom prst="rect">
            <a:avLst/>
          </a:prstGeom>
          <a:solidFill>
            <a:srgbClr val="F4F3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Installs</a:t>
            </a:r>
            <a:endParaRPr lang="fi-FI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3B9538-F7C2-2050-F485-082B5B262CE8}"/>
              </a:ext>
            </a:extLst>
          </p:cNvPr>
          <p:cNvSpPr/>
          <p:nvPr/>
        </p:nvSpPr>
        <p:spPr>
          <a:xfrm>
            <a:off x="2622000" y="2550872"/>
            <a:ext cx="719047" cy="504305"/>
          </a:xfrm>
          <a:prstGeom prst="rect">
            <a:avLst/>
          </a:prstGeom>
          <a:solidFill>
            <a:srgbClr val="EEF7D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Region</a:t>
            </a:r>
            <a:endParaRPr lang="fi-FI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08FD4A-D7F0-4CC4-EA35-FC85F714ED69}"/>
              </a:ext>
            </a:extLst>
          </p:cNvPr>
          <p:cNvSpPr/>
          <p:nvPr/>
        </p:nvSpPr>
        <p:spPr>
          <a:xfrm>
            <a:off x="3384518" y="2550870"/>
            <a:ext cx="913361" cy="504305"/>
          </a:xfrm>
          <a:prstGeom prst="rect">
            <a:avLst/>
          </a:prstGeom>
          <a:solidFill>
            <a:srgbClr val="EEF7D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Audience</a:t>
            </a:r>
            <a:endParaRPr lang="fi-FI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FB60D6-D090-5BA9-E2C2-4D308254B9FE}"/>
              </a:ext>
            </a:extLst>
          </p:cNvPr>
          <p:cNvSpPr/>
          <p:nvPr/>
        </p:nvSpPr>
        <p:spPr>
          <a:xfrm>
            <a:off x="5325331" y="2554798"/>
            <a:ext cx="635576" cy="504305"/>
          </a:xfrm>
          <a:prstGeom prst="rect">
            <a:avLst/>
          </a:prstGeom>
          <a:solidFill>
            <a:srgbClr val="F4F3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Price</a:t>
            </a:r>
            <a:endParaRPr lang="fi-FI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A256E5-0E6C-71BA-5D1F-8E92614E1D60}"/>
              </a:ext>
            </a:extLst>
          </p:cNvPr>
          <p:cNvSpPr/>
          <p:nvPr/>
        </p:nvSpPr>
        <p:spPr>
          <a:xfrm>
            <a:off x="6001434" y="2545102"/>
            <a:ext cx="1076849" cy="504305"/>
          </a:xfrm>
          <a:prstGeom prst="rect">
            <a:avLst/>
          </a:prstGeom>
          <a:solidFill>
            <a:srgbClr val="F4F3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1400" dirty="0" err="1"/>
              <a:t>DescChars</a:t>
            </a:r>
            <a:endParaRPr lang="fi-FI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A925CF-153A-6684-C1DD-D059AA3A23AA}"/>
              </a:ext>
            </a:extLst>
          </p:cNvPr>
          <p:cNvSpPr/>
          <p:nvPr/>
        </p:nvSpPr>
        <p:spPr>
          <a:xfrm>
            <a:off x="563904" y="1342758"/>
            <a:ext cx="804950" cy="504305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Binary</a:t>
            </a:r>
            <a:endParaRPr lang="fi-FI" sz="1400" dirty="0">
              <a:latin typeface="Segoe UI Variable Small Semibol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F9CA4D-E0E5-4CD9-3413-53063FB92560}"/>
              </a:ext>
            </a:extLst>
          </p:cNvPr>
          <p:cNvSpPr/>
          <p:nvPr/>
        </p:nvSpPr>
        <p:spPr>
          <a:xfrm>
            <a:off x="2505090" y="1298073"/>
            <a:ext cx="1086887" cy="504305"/>
          </a:xfrm>
          <a:prstGeom prst="rect">
            <a:avLst/>
          </a:prstGeom>
          <a:solidFill>
            <a:srgbClr val="EEF7D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Categorial</a:t>
            </a:r>
            <a:endParaRPr lang="fi-FI" sz="1400" dirty="0">
              <a:latin typeface="Segoe UI Variable Small Semibol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DF41EA-244E-017E-1C82-D3BC67930CE7}"/>
              </a:ext>
            </a:extLst>
          </p:cNvPr>
          <p:cNvSpPr/>
          <p:nvPr/>
        </p:nvSpPr>
        <p:spPr>
          <a:xfrm>
            <a:off x="5714335" y="1324752"/>
            <a:ext cx="1165166" cy="504305"/>
          </a:xfrm>
          <a:prstGeom prst="rect">
            <a:avLst/>
          </a:prstGeom>
          <a:solidFill>
            <a:srgbClr val="F4F3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Continuous</a:t>
            </a:r>
            <a:endParaRPr lang="fi-FI" sz="1400" dirty="0">
              <a:latin typeface="Segoe UI Variable Small Semibol" pitchFamily="2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6AB0525-A81A-027B-D56A-0A3CEAAE7D34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 rot="5400000">
            <a:off x="2129865" y="-368576"/>
            <a:ext cx="547849" cy="2874819"/>
          </a:xfrm>
          <a:prstGeom prst="bentConnector3">
            <a:avLst>
              <a:gd name="adj1" fmla="val 4403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E89B625-9559-6808-8454-EACA99EEF3B4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rot="5400000">
            <a:off x="3193284" y="650159"/>
            <a:ext cx="503164" cy="7926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ABC228A-F0F3-1BD7-40A4-2CFC8C4971E5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rot="16200000" flipH="1">
            <a:off x="4804137" y="-168030"/>
            <a:ext cx="529843" cy="2455720"/>
          </a:xfrm>
          <a:prstGeom prst="bentConnector3">
            <a:avLst>
              <a:gd name="adj1" fmla="val 473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3265354-B85D-BEBD-DB79-5D9CE6940203}"/>
              </a:ext>
            </a:extLst>
          </p:cNvPr>
          <p:cNvCxnSpPr>
            <a:cxnSpLocks/>
            <a:stCxn id="18" idx="2"/>
            <a:endCxn id="7" idx="0"/>
          </p:cNvCxnSpPr>
          <p:nvPr/>
        </p:nvCxnSpPr>
        <p:spPr>
          <a:xfrm rot="5400000">
            <a:off x="273388" y="1857886"/>
            <a:ext cx="703815" cy="6821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CD511C5-ADD2-F608-51F4-6AEE1A51DA35}"/>
              </a:ext>
            </a:extLst>
          </p:cNvPr>
          <p:cNvCxnSpPr>
            <a:cxnSpLocks/>
            <a:stCxn id="18" idx="2"/>
            <a:endCxn id="8" idx="0"/>
          </p:cNvCxnSpPr>
          <p:nvPr/>
        </p:nvCxnSpPr>
        <p:spPr>
          <a:xfrm rot="5400000">
            <a:off x="542861" y="2127353"/>
            <a:ext cx="703808" cy="1432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0A93EA5D-A2F9-53D8-C383-8B80728B2CEF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 rot="16200000" flipH="1">
            <a:off x="827619" y="1985823"/>
            <a:ext cx="703808" cy="4262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A49BDCE-8257-5DFD-9E84-18C133C9D859}"/>
              </a:ext>
            </a:extLst>
          </p:cNvPr>
          <p:cNvCxnSpPr>
            <a:cxnSpLocks/>
            <a:stCxn id="19" idx="2"/>
            <a:endCxn id="10" idx="0"/>
          </p:cNvCxnSpPr>
          <p:nvPr/>
        </p:nvCxnSpPr>
        <p:spPr>
          <a:xfrm rot="5400000">
            <a:off x="2257445" y="1759783"/>
            <a:ext cx="748495" cy="8336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CABDE92E-1281-AF73-1696-242D0488AE34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 rot="5400000">
            <a:off x="2640782" y="2143120"/>
            <a:ext cx="748494" cy="670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49F215A-5024-E639-44F4-97EECB13606E}"/>
              </a:ext>
            </a:extLst>
          </p:cNvPr>
          <p:cNvCxnSpPr>
            <a:cxnSpLocks/>
            <a:stCxn id="19" idx="2"/>
            <a:endCxn id="15" idx="0"/>
          </p:cNvCxnSpPr>
          <p:nvPr/>
        </p:nvCxnSpPr>
        <p:spPr>
          <a:xfrm rot="16200000" flipH="1">
            <a:off x="3070620" y="1780291"/>
            <a:ext cx="748492" cy="7926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AA3AE18-6E5A-73B2-39F0-6A25E9A4D0E7}"/>
              </a:ext>
            </a:extLst>
          </p:cNvPr>
          <p:cNvCxnSpPr>
            <a:cxnSpLocks/>
            <a:stCxn id="20" idx="2"/>
            <a:endCxn id="12" idx="0"/>
          </p:cNvCxnSpPr>
          <p:nvPr/>
        </p:nvCxnSpPr>
        <p:spPr>
          <a:xfrm rot="16200000" flipH="1">
            <a:off x="6967627" y="1158348"/>
            <a:ext cx="716044" cy="20574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46784EE-A636-7675-34D1-D1C26890723B}"/>
              </a:ext>
            </a:extLst>
          </p:cNvPr>
          <p:cNvCxnSpPr>
            <a:cxnSpLocks/>
            <a:stCxn id="20" idx="2"/>
            <a:endCxn id="13" idx="0"/>
          </p:cNvCxnSpPr>
          <p:nvPr/>
        </p:nvCxnSpPr>
        <p:spPr>
          <a:xfrm rot="16200000" flipH="1">
            <a:off x="6565986" y="1559989"/>
            <a:ext cx="716045" cy="12541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0C05F36-CBEC-44E6-95B5-27E8C75DC054}"/>
              </a:ext>
            </a:extLst>
          </p:cNvPr>
          <p:cNvCxnSpPr>
            <a:cxnSpLocks/>
            <a:stCxn id="20" idx="2"/>
            <a:endCxn id="11" idx="0"/>
          </p:cNvCxnSpPr>
          <p:nvPr/>
        </p:nvCxnSpPr>
        <p:spPr>
          <a:xfrm rot="5400000">
            <a:off x="5220694" y="1478573"/>
            <a:ext cx="725741" cy="14267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DA7F8D99-0DED-065C-A058-46F1649F7ADE}"/>
              </a:ext>
            </a:extLst>
          </p:cNvPr>
          <p:cNvCxnSpPr>
            <a:cxnSpLocks/>
            <a:stCxn id="20" idx="2"/>
            <a:endCxn id="16" idx="0"/>
          </p:cNvCxnSpPr>
          <p:nvPr/>
        </p:nvCxnSpPr>
        <p:spPr>
          <a:xfrm rot="5400000">
            <a:off x="5607149" y="1865028"/>
            <a:ext cx="725741" cy="653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0E0EAE5C-CEE0-507B-7710-4D3A1A7BDA9B}"/>
              </a:ext>
            </a:extLst>
          </p:cNvPr>
          <p:cNvCxnSpPr>
            <a:cxnSpLocks/>
            <a:stCxn id="20" idx="2"/>
            <a:endCxn id="17" idx="0"/>
          </p:cNvCxnSpPr>
          <p:nvPr/>
        </p:nvCxnSpPr>
        <p:spPr>
          <a:xfrm rot="16200000" flipH="1">
            <a:off x="6060366" y="2065608"/>
            <a:ext cx="716045" cy="2429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9" name="Picture 148" descr="A black cell phone with a black background&#10;&#10;AI-generated content may be incorrect.">
            <a:extLst>
              <a:ext uri="{FF2B5EF4-FFF2-40B4-BE49-F238E27FC236}">
                <a16:creationId xmlns:a16="http://schemas.microsoft.com/office/drawing/2014/main" id="{73E25D52-83AB-0CE2-E5E5-68DC9E0C40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31862" y="-659513"/>
            <a:ext cx="1760851" cy="21644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7AAAE5-2AF7-D6D7-3E7F-4BCFA49A7256}"/>
              </a:ext>
            </a:extLst>
          </p:cNvPr>
          <p:cNvSpPr/>
          <p:nvPr/>
        </p:nvSpPr>
        <p:spPr>
          <a:xfrm>
            <a:off x="2824492" y="168316"/>
            <a:ext cx="2033411" cy="626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GameMetaDroid            </a:t>
            </a:r>
            <a:endParaRPr lang="fi-FI" dirty="0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0F85ACAC-4193-AC67-CE24-E21F88D41E21}"/>
              </a:ext>
            </a:extLst>
          </p:cNvPr>
          <p:cNvSpPr/>
          <p:nvPr/>
        </p:nvSpPr>
        <p:spPr>
          <a:xfrm>
            <a:off x="599205" y="4867647"/>
            <a:ext cx="804950" cy="504305"/>
          </a:xfrm>
          <a:prstGeom prst="rect">
            <a:avLst/>
          </a:prstGeom>
          <a:solidFill>
            <a:srgbClr val="F7E1F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Inputs</a:t>
            </a:r>
            <a:endParaRPr lang="fi-FI" sz="1400" dirty="0">
              <a:latin typeface="Segoe UI Variable Small Semibol" pitchFamily="2" charset="0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8F2B4268-031A-8208-B71B-C2C534019A21}"/>
              </a:ext>
            </a:extLst>
          </p:cNvPr>
          <p:cNvSpPr/>
          <p:nvPr/>
        </p:nvSpPr>
        <p:spPr>
          <a:xfrm>
            <a:off x="7233376" y="4869114"/>
            <a:ext cx="1299215" cy="5043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Outcomes</a:t>
            </a:r>
            <a:endParaRPr lang="fi-FI" sz="1400" dirty="0">
              <a:latin typeface="Segoe UI Variable Small Semibol" pitchFamily="2" charset="0"/>
            </a:endParaRPr>
          </a:p>
        </p:txBody>
      </p:sp>
      <p:cxnSp>
        <p:nvCxnSpPr>
          <p:cNvPr id="1047" name="Connector: Elbow 1046">
            <a:extLst>
              <a:ext uri="{FF2B5EF4-FFF2-40B4-BE49-F238E27FC236}">
                <a16:creationId xmlns:a16="http://schemas.microsoft.com/office/drawing/2014/main" id="{BE06D12B-5130-7E3E-A819-0CCF47747EC2}"/>
              </a:ext>
            </a:extLst>
          </p:cNvPr>
          <p:cNvCxnSpPr>
            <a:cxnSpLocks/>
            <a:stCxn id="7" idx="2"/>
            <a:endCxn id="1044" idx="0"/>
          </p:cNvCxnSpPr>
          <p:nvPr/>
        </p:nvCxnSpPr>
        <p:spPr>
          <a:xfrm rot="16200000" flipH="1">
            <a:off x="-263287" y="3602680"/>
            <a:ext cx="1812464" cy="717470"/>
          </a:xfrm>
          <a:prstGeom prst="bentConnector3">
            <a:avLst>
              <a:gd name="adj1" fmla="val 1834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3" name="Connector: Elbow 1052">
            <a:extLst>
              <a:ext uri="{FF2B5EF4-FFF2-40B4-BE49-F238E27FC236}">
                <a16:creationId xmlns:a16="http://schemas.microsoft.com/office/drawing/2014/main" id="{8F39BD04-ED97-75E2-DD44-A4827334EA6D}"/>
              </a:ext>
            </a:extLst>
          </p:cNvPr>
          <p:cNvCxnSpPr>
            <a:cxnSpLocks/>
            <a:stCxn id="8" idx="2"/>
            <a:endCxn id="1044" idx="0"/>
          </p:cNvCxnSpPr>
          <p:nvPr/>
        </p:nvCxnSpPr>
        <p:spPr>
          <a:xfrm rot="16200000" flipH="1">
            <a:off x="6180" y="3872146"/>
            <a:ext cx="1812471" cy="178529"/>
          </a:xfrm>
          <a:prstGeom prst="bentConnector3">
            <a:avLst>
              <a:gd name="adj1" fmla="val 18597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9" name="Connector: Elbow 1058">
            <a:extLst>
              <a:ext uri="{FF2B5EF4-FFF2-40B4-BE49-F238E27FC236}">
                <a16:creationId xmlns:a16="http://schemas.microsoft.com/office/drawing/2014/main" id="{B71D4D4B-02FE-A556-5B47-6345E2B2F19D}"/>
              </a:ext>
            </a:extLst>
          </p:cNvPr>
          <p:cNvCxnSpPr>
            <a:cxnSpLocks/>
            <a:stCxn id="9" idx="2"/>
            <a:endCxn id="1044" idx="0"/>
          </p:cNvCxnSpPr>
          <p:nvPr/>
        </p:nvCxnSpPr>
        <p:spPr>
          <a:xfrm rot="5400000">
            <a:off x="290939" y="3765918"/>
            <a:ext cx="1812471" cy="390987"/>
          </a:xfrm>
          <a:prstGeom prst="bentConnector3">
            <a:avLst>
              <a:gd name="adj1" fmla="val 1834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Connector: Elbow 1088">
            <a:extLst>
              <a:ext uri="{FF2B5EF4-FFF2-40B4-BE49-F238E27FC236}">
                <a16:creationId xmlns:a16="http://schemas.microsoft.com/office/drawing/2014/main" id="{3F19E3C1-0F44-8A9A-8012-F2C35B139628}"/>
              </a:ext>
            </a:extLst>
          </p:cNvPr>
          <p:cNvCxnSpPr>
            <a:cxnSpLocks/>
            <a:stCxn id="1122" idx="2"/>
            <a:endCxn id="1045" idx="0"/>
          </p:cNvCxnSpPr>
          <p:nvPr/>
        </p:nvCxnSpPr>
        <p:spPr>
          <a:xfrm rot="16200000" flipH="1">
            <a:off x="6830745" y="3816875"/>
            <a:ext cx="851510" cy="1252967"/>
          </a:xfrm>
          <a:prstGeom prst="bentConnector3">
            <a:avLst>
              <a:gd name="adj1" fmla="val 6643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92" name="Connector: Elbow 1091">
            <a:extLst>
              <a:ext uri="{FF2B5EF4-FFF2-40B4-BE49-F238E27FC236}">
                <a16:creationId xmlns:a16="http://schemas.microsoft.com/office/drawing/2014/main" id="{086920FC-2BB7-0076-11BE-5397749005F7}"/>
              </a:ext>
            </a:extLst>
          </p:cNvPr>
          <p:cNvCxnSpPr>
            <a:cxnSpLocks/>
            <a:stCxn id="1122" idx="2"/>
            <a:endCxn id="1044" idx="0"/>
          </p:cNvCxnSpPr>
          <p:nvPr/>
        </p:nvCxnSpPr>
        <p:spPr>
          <a:xfrm rot="5400000">
            <a:off x="3390828" y="1628457"/>
            <a:ext cx="850043" cy="5628337"/>
          </a:xfrm>
          <a:prstGeom prst="bentConnector3">
            <a:avLst>
              <a:gd name="adj1" fmla="val 67563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9732C9F0-2F91-266A-F804-2704E93ACDCD}"/>
              </a:ext>
            </a:extLst>
          </p:cNvPr>
          <p:cNvSpPr/>
          <p:nvPr/>
        </p:nvSpPr>
        <p:spPr>
          <a:xfrm>
            <a:off x="2417260" y="3630651"/>
            <a:ext cx="1424930" cy="504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One Hot Encoded</a:t>
            </a:r>
            <a:endParaRPr lang="fi-FI" sz="1400" dirty="0">
              <a:latin typeface="Segoe UI Variable Small Semibol" pitchFamily="2" charset="0"/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38F57299-FE09-EAD7-2953-CF6423613C43}"/>
              </a:ext>
            </a:extLst>
          </p:cNvPr>
          <p:cNvSpPr/>
          <p:nvPr/>
        </p:nvSpPr>
        <p:spPr>
          <a:xfrm>
            <a:off x="5917552" y="3513299"/>
            <a:ext cx="1424930" cy="504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Threshold</a:t>
            </a:r>
            <a:endParaRPr lang="fi-FI" sz="1400" dirty="0">
              <a:latin typeface="Segoe UI Variable Small Semibol" pitchFamily="2" charset="0"/>
            </a:endParaRPr>
          </a:p>
        </p:txBody>
      </p:sp>
      <p:cxnSp>
        <p:nvCxnSpPr>
          <p:cNvPr id="1151" name="Connector: Elbow 1150">
            <a:extLst>
              <a:ext uri="{FF2B5EF4-FFF2-40B4-BE49-F238E27FC236}">
                <a16:creationId xmlns:a16="http://schemas.microsoft.com/office/drawing/2014/main" id="{91384568-E140-2CFF-3D85-F392D58DC298}"/>
              </a:ext>
            </a:extLst>
          </p:cNvPr>
          <p:cNvCxnSpPr>
            <a:cxnSpLocks/>
            <a:stCxn id="10" idx="2"/>
            <a:endCxn id="1121" idx="0"/>
          </p:cNvCxnSpPr>
          <p:nvPr/>
        </p:nvCxnSpPr>
        <p:spPr>
          <a:xfrm rot="16200000" flipH="1">
            <a:off x="2384551" y="2885476"/>
            <a:ext cx="575473" cy="91487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4" name="Connector: Elbow 1153">
            <a:extLst>
              <a:ext uri="{FF2B5EF4-FFF2-40B4-BE49-F238E27FC236}">
                <a16:creationId xmlns:a16="http://schemas.microsoft.com/office/drawing/2014/main" id="{F8CFFA82-68AE-0AE3-DEDC-BDFF8C054FF7}"/>
              </a:ext>
            </a:extLst>
          </p:cNvPr>
          <p:cNvCxnSpPr>
            <a:cxnSpLocks/>
            <a:stCxn id="14" idx="2"/>
            <a:endCxn id="1121" idx="0"/>
          </p:cNvCxnSpPr>
          <p:nvPr/>
        </p:nvCxnSpPr>
        <p:spPr>
          <a:xfrm rot="16200000" flipH="1">
            <a:off x="2767887" y="3268813"/>
            <a:ext cx="575474" cy="14820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7" name="Connector: Elbow 1156">
            <a:extLst>
              <a:ext uri="{FF2B5EF4-FFF2-40B4-BE49-F238E27FC236}">
                <a16:creationId xmlns:a16="http://schemas.microsoft.com/office/drawing/2014/main" id="{EC18072B-9E14-3B49-AA31-CB9CC3EF0E88}"/>
              </a:ext>
            </a:extLst>
          </p:cNvPr>
          <p:cNvCxnSpPr>
            <a:cxnSpLocks/>
            <a:stCxn id="15" idx="2"/>
            <a:endCxn id="1121" idx="0"/>
          </p:cNvCxnSpPr>
          <p:nvPr/>
        </p:nvCxnSpPr>
        <p:spPr>
          <a:xfrm rot="5400000">
            <a:off x="3197724" y="2987176"/>
            <a:ext cx="575476" cy="71147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1" name="Connector: Elbow 1160">
            <a:extLst>
              <a:ext uri="{FF2B5EF4-FFF2-40B4-BE49-F238E27FC236}">
                <a16:creationId xmlns:a16="http://schemas.microsoft.com/office/drawing/2014/main" id="{E3BCC07C-4F7F-E52D-15DF-15A33587B916}"/>
              </a:ext>
            </a:extLst>
          </p:cNvPr>
          <p:cNvCxnSpPr>
            <a:cxnSpLocks/>
            <a:stCxn id="1121" idx="2"/>
            <a:endCxn id="1044" idx="0"/>
          </p:cNvCxnSpPr>
          <p:nvPr/>
        </p:nvCxnSpPr>
        <p:spPr>
          <a:xfrm rot="5400000">
            <a:off x="1699358" y="3437279"/>
            <a:ext cx="732691" cy="2128045"/>
          </a:xfrm>
          <a:prstGeom prst="bentConnector3">
            <a:avLst>
              <a:gd name="adj1" fmla="val 41722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65" name="Connector: Elbow 1164">
            <a:extLst>
              <a:ext uri="{FF2B5EF4-FFF2-40B4-BE49-F238E27FC236}">
                <a16:creationId xmlns:a16="http://schemas.microsoft.com/office/drawing/2014/main" id="{DAFB55DD-8489-13CC-981A-1DFC7372160E}"/>
              </a:ext>
            </a:extLst>
          </p:cNvPr>
          <p:cNvCxnSpPr>
            <a:cxnSpLocks/>
            <a:stCxn id="11" idx="2"/>
            <a:endCxn id="1122" idx="0"/>
          </p:cNvCxnSpPr>
          <p:nvPr/>
        </p:nvCxnSpPr>
        <p:spPr>
          <a:xfrm rot="16200000" flipH="1">
            <a:off x="5523015" y="2406297"/>
            <a:ext cx="454196" cy="17598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8" name="Connector: Elbow 1167">
            <a:extLst>
              <a:ext uri="{FF2B5EF4-FFF2-40B4-BE49-F238E27FC236}">
                <a16:creationId xmlns:a16="http://schemas.microsoft.com/office/drawing/2014/main" id="{817C31B4-41EE-D9BF-A893-1ED8BAC9AEE8}"/>
              </a:ext>
            </a:extLst>
          </p:cNvPr>
          <p:cNvCxnSpPr>
            <a:cxnSpLocks/>
            <a:stCxn id="16" idx="2"/>
            <a:endCxn id="1122" idx="0"/>
          </p:cNvCxnSpPr>
          <p:nvPr/>
        </p:nvCxnSpPr>
        <p:spPr>
          <a:xfrm rot="16200000" flipH="1">
            <a:off x="5909470" y="2792752"/>
            <a:ext cx="454196" cy="98689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1" name="Connector: Elbow 1170">
            <a:extLst>
              <a:ext uri="{FF2B5EF4-FFF2-40B4-BE49-F238E27FC236}">
                <a16:creationId xmlns:a16="http://schemas.microsoft.com/office/drawing/2014/main" id="{A1B7FFF2-C3B9-254A-3D08-C4DB5A7B6FF6}"/>
              </a:ext>
            </a:extLst>
          </p:cNvPr>
          <p:cNvCxnSpPr>
            <a:cxnSpLocks/>
            <a:stCxn id="17" idx="2"/>
            <a:endCxn id="1122" idx="0"/>
          </p:cNvCxnSpPr>
          <p:nvPr/>
        </p:nvCxnSpPr>
        <p:spPr>
          <a:xfrm rot="16200000" flipH="1">
            <a:off x="6352992" y="3236274"/>
            <a:ext cx="463892" cy="9015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4" name="Connector: Elbow 1173">
            <a:extLst>
              <a:ext uri="{FF2B5EF4-FFF2-40B4-BE49-F238E27FC236}">
                <a16:creationId xmlns:a16="http://schemas.microsoft.com/office/drawing/2014/main" id="{05F478C2-43DD-C64D-F33F-D81A2C0C34C8}"/>
              </a:ext>
            </a:extLst>
          </p:cNvPr>
          <p:cNvCxnSpPr>
            <a:cxnSpLocks/>
            <a:stCxn id="13" idx="2"/>
            <a:endCxn id="1122" idx="0"/>
          </p:cNvCxnSpPr>
          <p:nvPr/>
        </p:nvCxnSpPr>
        <p:spPr>
          <a:xfrm rot="5400000">
            <a:off x="6858612" y="2820813"/>
            <a:ext cx="463892" cy="9210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77" name="Connector: Elbow 1176">
            <a:extLst>
              <a:ext uri="{FF2B5EF4-FFF2-40B4-BE49-F238E27FC236}">
                <a16:creationId xmlns:a16="http://schemas.microsoft.com/office/drawing/2014/main" id="{D2705A2A-6CB6-5279-A831-049831B60333}"/>
              </a:ext>
            </a:extLst>
          </p:cNvPr>
          <p:cNvCxnSpPr>
            <a:cxnSpLocks/>
            <a:stCxn id="12" idx="2"/>
            <a:endCxn id="1122" idx="0"/>
          </p:cNvCxnSpPr>
          <p:nvPr/>
        </p:nvCxnSpPr>
        <p:spPr>
          <a:xfrm rot="5400000">
            <a:off x="7260253" y="2419171"/>
            <a:ext cx="463893" cy="17243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612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9A5E6C7-6B3C-5ED6-9DB6-E1ED6B3F5C75}"/>
              </a:ext>
            </a:extLst>
          </p:cNvPr>
          <p:cNvSpPr/>
          <p:nvPr/>
        </p:nvSpPr>
        <p:spPr>
          <a:xfrm>
            <a:off x="3808045" y="1203319"/>
            <a:ext cx="1784000" cy="1076459"/>
          </a:xfrm>
          <a:prstGeom prst="ellipse">
            <a:avLst/>
          </a:prstGeom>
          <a:solidFill>
            <a:srgbClr val="ECC5FF">
              <a:alpha val="4100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1DC4851-54E7-C79C-0E79-CD258A1071E7}"/>
              </a:ext>
            </a:extLst>
          </p:cNvPr>
          <p:cNvSpPr/>
          <p:nvPr/>
        </p:nvSpPr>
        <p:spPr>
          <a:xfrm rot="10183401">
            <a:off x="3622385" y="72333"/>
            <a:ext cx="2068797" cy="1075634"/>
          </a:xfrm>
          <a:prstGeom prst="ellipse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BFF37F-0BDA-4F8F-EAC0-306B69DB5713}"/>
              </a:ext>
            </a:extLst>
          </p:cNvPr>
          <p:cNvSpPr/>
          <p:nvPr/>
        </p:nvSpPr>
        <p:spPr>
          <a:xfrm>
            <a:off x="788972" y="210233"/>
            <a:ext cx="485344" cy="44115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76B4CB-A0AF-10CC-08F7-E53A64A53E51}"/>
              </a:ext>
            </a:extLst>
          </p:cNvPr>
          <p:cNvSpPr/>
          <p:nvPr/>
        </p:nvSpPr>
        <p:spPr>
          <a:xfrm>
            <a:off x="171045" y="191102"/>
            <a:ext cx="485344" cy="44115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D52500-E572-248A-EA68-D3C6519056CB}"/>
              </a:ext>
            </a:extLst>
          </p:cNvPr>
          <p:cNvSpPr txBox="1"/>
          <p:nvPr/>
        </p:nvSpPr>
        <p:spPr>
          <a:xfrm>
            <a:off x="281434" y="260451"/>
            <a:ext cx="2808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1FC52-C2BD-2127-8A6D-B27CBE492859}"/>
              </a:ext>
            </a:extLst>
          </p:cNvPr>
          <p:cNvSpPr txBox="1"/>
          <p:nvPr/>
        </p:nvSpPr>
        <p:spPr>
          <a:xfrm>
            <a:off x="901636" y="301163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B</a:t>
            </a:r>
          </a:p>
        </p:txBody>
      </p:sp>
      <p:cxnSp>
        <p:nvCxnSpPr>
          <p:cNvPr id="10" name="Elbow Connector 30">
            <a:extLst>
              <a:ext uri="{FF2B5EF4-FFF2-40B4-BE49-F238E27FC236}">
                <a16:creationId xmlns:a16="http://schemas.microsoft.com/office/drawing/2014/main" id="{49507ABD-6319-2128-E43E-34C4A3B8423C}"/>
              </a:ext>
            </a:extLst>
          </p:cNvPr>
          <p:cNvCxnSpPr>
            <a:stCxn id="6" idx="4"/>
            <a:endCxn id="14" idx="0"/>
          </p:cNvCxnSpPr>
          <p:nvPr/>
        </p:nvCxnSpPr>
        <p:spPr>
          <a:xfrm rot="5400000">
            <a:off x="669473" y="673728"/>
            <a:ext cx="384508" cy="339835"/>
          </a:xfrm>
          <a:prstGeom prst="bentConnector3">
            <a:avLst>
              <a:gd name="adj1" fmla="val 2156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B96ED25-3ACB-CE98-4DAF-37D625B2A433}"/>
              </a:ext>
            </a:extLst>
          </p:cNvPr>
          <p:cNvSpPr/>
          <p:nvPr/>
        </p:nvSpPr>
        <p:spPr>
          <a:xfrm>
            <a:off x="526184" y="1544352"/>
            <a:ext cx="485344" cy="4411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51">
            <a:extLst>
              <a:ext uri="{FF2B5EF4-FFF2-40B4-BE49-F238E27FC236}">
                <a16:creationId xmlns:a16="http://schemas.microsoft.com/office/drawing/2014/main" id="{70109EEC-93E7-8B2B-CD73-35C594B0266F}"/>
              </a:ext>
            </a:extLst>
          </p:cNvPr>
          <p:cNvSpPr/>
          <p:nvPr/>
        </p:nvSpPr>
        <p:spPr>
          <a:xfrm>
            <a:off x="90581" y="1028606"/>
            <a:ext cx="1117759" cy="27699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Elbow Connector 56">
            <a:extLst>
              <a:ext uri="{FF2B5EF4-FFF2-40B4-BE49-F238E27FC236}">
                <a16:creationId xmlns:a16="http://schemas.microsoft.com/office/drawing/2014/main" id="{8D91C7DA-8030-6698-E703-36DFB18CE3AE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16200000" flipH="1">
            <a:off x="350944" y="695033"/>
            <a:ext cx="403639" cy="278092"/>
          </a:xfrm>
          <a:prstGeom prst="bentConnector3">
            <a:avLst>
              <a:gd name="adj1" fmla="val 2537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545072-6BA2-14C3-89E3-5059BEA39BF0}"/>
              </a:ext>
            </a:extLst>
          </p:cNvPr>
          <p:cNvSpPr txBox="1"/>
          <p:nvPr/>
        </p:nvSpPr>
        <p:spPr>
          <a:xfrm>
            <a:off x="88628" y="1035899"/>
            <a:ext cx="1206361" cy="27699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Combinations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5EB5C4-E693-6593-3AC3-DC91BEE97199}"/>
              </a:ext>
            </a:extLst>
          </p:cNvPr>
          <p:cNvSpPr/>
          <p:nvPr/>
        </p:nvSpPr>
        <p:spPr>
          <a:xfrm>
            <a:off x="4297915" y="308864"/>
            <a:ext cx="206277" cy="2075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14E37D-EA32-1CC6-3A98-36D514F6B9B3}"/>
              </a:ext>
            </a:extLst>
          </p:cNvPr>
          <p:cNvSpPr/>
          <p:nvPr/>
        </p:nvSpPr>
        <p:spPr>
          <a:xfrm>
            <a:off x="4640770" y="308864"/>
            <a:ext cx="206277" cy="20759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09DB9-C2BE-D6D6-8A8A-F6379C6851FF}"/>
              </a:ext>
            </a:extLst>
          </p:cNvPr>
          <p:cNvSpPr txBox="1"/>
          <p:nvPr/>
        </p:nvSpPr>
        <p:spPr>
          <a:xfrm>
            <a:off x="4449598" y="258509"/>
            <a:ext cx="264816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+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9BBB7E-2D66-ED1C-F246-D3700424EB4B}"/>
              </a:ext>
            </a:extLst>
          </p:cNvPr>
          <p:cNvSpPr/>
          <p:nvPr/>
        </p:nvSpPr>
        <p:spPr>
          <a:xfrm>
            <a:off x="5089669" y="307884"/>
            <a:ext cx="206277" cy="20759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6D99CB-79D4-6357-0020-1D23FE450C0F}"/>
              </a:ext>
            </a:extLst>
          </p:cNvPr>
          <p:cNvCxnSpPr/>
          <p:nvPr/>
        </p:nvCxnSpPr>
        <p:spPr>
          <a:xfrm>
            <a:off x="4895757" y="411681"/>
            <a:ext cx="1452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DDCAEE2-E3E0-0905-C1A1-45278313E8F0}"/>
              </a:ext>
            </a:extLst>
          </p:cNvPr>
          <p:cNvSpPr/>
          <p:nvPr/>
        </p:nvSpPr>
        <p:spPr>
          <a:xfrm>
            <a:off x="4296861" y="1270072"/>
            <a:ext cx="206277" cy="2075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A22A9C-ED78-B9C0-B584-FA379975E1A1}"/>
              </a:ext>
            </a:extLst>
          </p:cNvPr>
          <p:cNvSpPr/>
          <p:nvPr/>
        </p:nvSpPr>
        <p:spPr>
          <a:xfrm>
            <a:off x="4658766" y="1270072"/>
            <a:ext cx="206277" cy="20759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D9E19A-9ED7-B2EB-30ED-8FBBC2D6A808}"/>
              </a:ext>
            </a:extLst>
          </p:cNvPr>
          <p:cNvSpPr txBox="1"/>
          <p:nvPr/>
        </p:nvSpPr>
        <p:spPr>
          <a:xfrm>
            <a:off x="4448544" y="1219717"/>
            <a:ext cx="261610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x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5F9D5E2-8BF8-5F68-6014-28470F30D544}"/>
              </a:ext>
            </a:extLst>
          </p:cNvPr>
          <p:cNvSpPr/>
          <p:nvPr/>
        </p:nvSpPr>
        <p:spPr>
          <a:xfrm>
            <a:off x="5088615" y="1269092"/>
            <a:ext cx="206277" cy="20759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4E173C-BE43-7C9E-9EB8-2D43929B816E}"/>
              </a:ext>
            </a:extLst>
          </p:cNvPr>
          <p:cNvCxnSpPr/>
          <p:nvPr/>
        </p:nvCxnSpPr>
        <p:spPr>
          <a:xfrm>
            <a:off x="4904228" y="1372889"/>
            <a:ext cx="1452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8F40928-0E6B-B966-D4E1-311AB5151C2E}"/>
              </a:ext>
            </a:extLst>
          </p:cNvPr>
          <p:cNvSpPr/>
          <p:nvPr/>
        </p:nvSpPr>
        <p:spPr>
          <a:xfrm>
            <a:off x="3839593" y="584800"/>
            <a:ext cx="1677213" cy="492443"/>
          </a:xfrm>
          <a:prstGeom prst="rect">
            <a:avLst/>
          </a:prstGeom>
          <a:ln w="12700"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l-GR" sz="1300" b="1" dirty="0"/>
              <a:t>Δ</a:t>
            </a:r>
            <a:r>
              <a:rPr lang="fi-FI" sz="1300" b="1" dirty="0"/>
              <a:t>ₐ</a:t>
            </a:r>
            <a:r>
              <a:rPr lang="fi-FI" sz="1300" b="1" dirty="0" err="1"/>
              <a:t>dd</a:t>
            </a:r>
            <a:endParaRPr lang="en-US" sz="1300" b="1" dirty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  <a:ea typeface="Microsoft JhengHei" panose="020B0604030504040204" pitchFamily="34" charset="-120"/>
            </a:endParaRPr>
          </a:p>
          <a:p>
            <a:pPr algn="ctr"/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ea typeface="Microsoft JhengHei" panose="020B0604030504040204" pitchFamily="34" charset="-120"/>
              </a:rPr>
              <a:t>p₁₁ − p₁₀ − p₀₁ + p₀₀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F9ADA7-B016-6CD7-6114-F925BFF386E9}"/>
              </a:ext>
            </a:extLst>
          </p:cNvPr>
          <p:cNvSpPr/>
          <p:nvPr/>
        </p:nvSpPr>
        <p:spPr>
          <a:xfrm>
            <a:off x="3729484" y="1599561"/>
            <a:ext cx="1705786" cy="477054"/>
          </a:xfrm>
          <a:prstGeom prst="rect">
            <a:avLst/>
          </a:prstGeom>
          <a:ln w="12700"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Multiplicative (Multi)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(p₁₁ x </a:t>
            </a: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ea typeface="Microsoft JhengHei" panose="020B0604030504040204" pitchFamily="34" charset="-120"/>
              </a:rPr>
              <a:t>p₀₀</a:t>
            </a: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/ (p₁₀ × p₀₁)</a:t>
            </a:r>
            <a:endParaRPr lang="en-US" sz="13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596ADA-77A0-E4F0-C365-DA6643A18BE4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4577173" y="469762"/>
            <a:ext cx="101027" cy="162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5386D2-6398-BDB5-49E0-C8729B790920}"/>
              </a:ext>
            </a:extLst>
          </p:cNvPr>
          <p:cNvCxnSpPr>
            <a:stCxn id="26" idx="0"/>
          </p:cNvCxnSpPr>
          <p:nvPr/>
        </p:nvCxnSpPr>
        <p:spPr>
          <a:xfrm flipH="1" flipV="1">
            <a:off x="4581585" y="1485844"/>
            <a:ext cx="792" cy="11371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67">
            <a:extLst>
              <a:ext uri="{FF2B5EF4-FFF2-40B4-BE49-F238E27FC236}">
                <a16:creationId xmlns:a16="http://schemas.microsoft.com/office/drawing/2014/main" id="{1914CF2B-61EC-66AB-59DC-20145A3A0A0D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rot="16200000" flipV="1">
            <a:off x="589786" y="1365281"/>
            <a:ext cx="238747" cy="11939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Diamond 29">
            <a:extLst>
              <a:ext uri="{FF2B5EF4-FFF2-40B4-BE49-F238E27FC236}">
                <a16:creationId xmlns:a16="http://schemas.microsoft.com/office/drawing/2014/main" id="{51D41FED-1E79-B2C6-E719-30528EF61BBA}"/>
              </a:ext>
            </a:extLst>
          </p:cNvPr>
          <p:cNvSpPr/>
          <p:nvPr/>
        </p:nvSpPr>
        <p:spPr>
          <a:xfrm>
            <a:off x="6335331" y="910488"/>
            <a:ext cx="269099" cy="263415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Elbow Connector 53">
            <a:extLst>
              <a:ext uri="{FF2B5EF4-FFF2-40B4-BE49-F238E27FC236}">
                <a16:creationId xmlns:a16="http://schemas.microsoft.com/office/drawing/2014/main" id="{0FFCDEC7-82A5-5488-95AC-BEDC3FBB2500}"/>
              </a:ext>
            </a:extLst>
          </p:cNvPr>
          <p:cNvCxnSpPr>
            <a:stCxn id="30" idx="0"/>
            <a:endCxn id="38" idx="3"/>
          </p:cNvCxnSpPr>
          <p:nvPr/>
        </p:nvCxnSpPr>
        <p:spPr>
          <a:xfrm rot="5400000" flipH="1" flipV="1">
            <a:off x="6501997" y="674380"/>
            <a:ext cx="203993" cy="26822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Elbow Connector 64">
            <a:extLst>
              <a:ext uri="{FF2B5EF4-FFF2-40B4-BE49-F238E27FC236}">
                <a16:creationId xmlns:a16="http://schemas.microsoft.com/office/drawing/2014/main" id="{B89B3D05-32A8-AD32-3F24-E6299346B43A}"/>
              </a:ext>
            </a:extLst>
          </p:cNvPr>
          <p:cNvCxnSpPr>
            <a:stCxn id="30" idx="2"/>
            <a:endCxn id="37" idx="1"/>
          </p:cNvCxnSpPr>
          <p:nvPr/>
        </p:nvCxnSpPr>
        <p:spPr>
          <a:xfrm rot="16200000" flipH="1">
            <a:off x="6392060" y="1251724"/>
            <a:ext cx="269964" cy="11432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9CC99CB-F1EE-55A2-6E41-94ADD1BE5144}"/>
              </a:ext>
            </a:extLst>
          </p:cNvPr>
          <p:cNvSpPr txBox="1"/>
          <p:nvPr/>
        </p:nvSpPr>
        <p:spPr>
          <a:xfrm>
            <a:off x="8082244" y="196174"/>
            <a:ext cx="1627369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 Add &gt; 0 &amp; Multi</a:t>
            </a:r>
            <a:r>
              <a:rPr lang="fr-FR" sz="1050" b="1" dirty="0">
                <a:latin typeface="Segoe UI Variable Small Semibol" pitchFamily="2" charset="0"/>
              </a:rPr>
              <a:t> &gt;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Positive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68C9DF-8CA2-46F8-528F-B870222FC0BA}"/>
              </a:ext>
            </a:extLst>
          </p:cNvPr>
          <p:cNvSpPr txBox="1"/>
          <p:nvPr/>
        </p:nvSpPr>
        <p:spPr>
          <a:xfrm>
            <a:off x="8082244" y="1580367"/>
            <a:ext cx="1627369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(Add &lt; 0 &amp; Multi</a:t>
            </a:r>
            <a:r>
              <a:rPr lang="fr-FR" sz="1050" b="1" dirty="0">
                <a:latin typeface="Segoe UI Variable Small Semibol" pitchFamily="2" charset="0"/>
              </a:rPr>
              <a:t> &lt;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Negative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EB8FB2-CA45-F1CD-6872-61BDC8D82CAC}"/>
              </a:ext>
            </a:extLst>
          </p:cNvPr>
          <p:cNvSpPr txBox="1"/>
          <p:nvPr/>
        </p:nvSpPr>
        <p:spPr>
          <a:xfrm>
            <a:off x="8223839" y="824796"/>
            <a:ext cx="1590500" cy="415498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Segoe UI Variable Small Semibol" pitchFamily="2" charset="0"/>
              </a:rPr>
              <a:t>(Add = 0 &amp; Multi</a:t>
            </a:r>
            <a:r>
              <a:rPr lang="fr-FR" sz="1050" b="1" dirty="0">
                <a:latin typeface="Segoe UI Variable Small Semibol" pitchFamily="2" charset="0"/>
              </a:rPr>
              <a:t> = 1 ) </a:t>
            </a:r>
          </a:p>
          <a:p>
            <a:r>
              <a:rPr lang="en-US" sz="1050" b="1" dirty="0">
                <a:latin typeface="Segoe UI Variable Small Semibol" pitchFamily="2" charset="0"/>
              </a:rPr>
              <a:t>→ No interaction</a:t>
            </a:r>
            <a:endParaRPr lang="en-US" sz="1050" b="1" dirty="0">
              <a:latin typeface="Segoe UI Variable Small Semibol" pitchFamily="2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pic>
        <p:nvPicPr>
          <p:cNvPr id="36" name="Picture 4" descr="Red cross not OK vector symbol | Free SVG">
            <a:extLst>
              <a:ext uri="{FF2B5EF4-FFF2-40B4-BE49-F238E27FC236}">
                <a16:creationId xmlns:a16="http://schemas.microsoft.com/office/drawing/2014/main" id="{948C9F15-A7EC-D07D-D77A-00B87014E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447" y="985390"/>
            <a:ext cx="192423" cy="192423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Thumbs down Generic Outline Color icon">
            <a:extLst>
              <a:ext uri="{FF2B5EF4-FFF2-40B4-BE49-F238E27FC236}">
                <a16:creationId xmlns:a16="http://schemas.microsoft.com/office/drawing/2014/main" id="{EE9CB3FA-EABB-9934-62F2-50F2EB165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203" y="1312898"/>
            <a:ext cx="261938" cy="261938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Thumb up - free icon">
            <a:extLst>
              <a:ext uri="{FF2B5EF4-FFF2-40B4-BE49-F238E27FC236}">
                <a16:creationId xmlns:a16="http://schemas.microsoft.com/office/drawing/2014/main" id="{DF977099-8F5A-0331-0C90-929E39FD78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85" r="13507" b="3750"/>
          <a:stretch/>
        </p:blipFill>
        <p:spPr bwMode="auto">
          <a:xfrm flipH="1">
            <a:off x="6738106" y="535045"/>
            <a:ext cx="387037" cy="342900"/>
          </a:xfrm>
          <a:prstGeom prst="rect">
            <a:avLst/>
          </a:prstGeom>
          <a:ln w="190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1DE80D9-2342-644B-A46B-9D2581C42C0C}"/>
              </a:ext>
            </a:extLst>
          </p:cNvPr>
          <p:cNvSpPr/>
          <p:nvPr/>
        </p:nvSpPr>
        <p:spPr>
          <a:xfrm>
            <a:off x="1439602" y="403923"/>
            <a:ext cx="1904967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P₀₀ =&gt; </a:t>
            </a:r>
            <a:r>
              <a:rPr lang="es-ES" sz="1300" b="1" dirty="0"/>
              <a:t>Y = 1 | A = 0, B = 0</a:t>
            </a:r>
            <a:endParaRPr lang="en-US" sz="1300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AA1744-7F31-D20B-40E9-C43BB2BEF5AE}"/>
              </a:ext>
            </a:extLst>
          </p:cNvPr>
          <p:cNvSpPr/>
          <p:nvPr/>
        </p:nvSpPr>
        <p:spPr>
          <a:xfrm>
            <a:off x="1432050" y="812336"/>
            <a:ext cx="1911897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P₁₀ =&gt; </a:t>
            </a:r>
            <a:r>
              <a:rPr lang="es-ES" sz="1300" b="1" dirty="0"/>
              <a:t>Y = 1 | A = 1, B = 0</a:t>
            </a:r>
            <a:endParaRPr lang="en-US" sz="1300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23955A-42E6-EFCB-5633-189F3C0DCD87}"/>
              </a:ext>
            </a:extLst>
          </p:cNvPr>
          <p:cNvSpPr/>
          <p:nvPr/>
        </p:nvSpPr>
        <p:spPr>
          <a:xfrm>
            <a:off x="1426397" y="1253482"/>
            <a:ext cx="1917085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P₀₁ =&gt; </a:t>
            </a:r>
            <a:r>
              <a:rPr lang="es-ES" sz="1300" b="1" dirty="0"/>
              <a:t>Y = 1 | A = 0, B = 1</a:t>
            </a:r>
            <a:endParaRPr lang="en-US" sz="13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A58C77-D280-B925-AD12-B1822E8195AB}"/>
              </a:ext>
            </a:extLst>
          </p:cNvPr>
          <p:cNvSpPr/>
          <p:nvPr/>
        </p:nvSpPr>
        <p:spPr>
          <a:xfrm>
            <a:off x="1422626" y="1664638"/>
            <a:ext cx="1921276" cy="29580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P₁₁ =&gt; </a:t>
            </a:r>
            <a:r>
              <a:rPr lang="es-ES" sz="1300" b="1" dirty="0"/>
              <a:t>Y = 1 | A = 1, B = 1</a:t>
            </a:r>
            <a:endParaRPr lang="en-US" sz="1300" b="1" dirty="0"/>
          </a:p>
        </p:txBody>
      </p:sp>
      <p:sp>
        <p:nvSpPr>
          <p:cNvPr id="43" name="Rounded Rectangle 140">
            <a:extLst>
              <a:ext uri="{FF2B5EF4-FFF2-40B4-BE49-F238E27FC236}">
                <a16:creationId xmlns:a16="http://schemas.microsoft.com/office/drawing/2014/main" id="{FA89AD73-06E3-F6D0-536C-B68D35713684}"/>
              </a:ext>
            </a:extLst>
          </p:cNvPr>
          <p:cNvSpPr/>
          <p:nvPr/>
        </p:nvSpPr>
        <p:spPr>
          <a:xfrm>
            <a:off x="5582772" y="902082"/>
            <a:ext cx="605005" cy="2799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60CB44-9EEC-8245-5441-1E753F615E22}"/>
              </a:ext>
            </a:extLst>
          </p:cNvPr>
          <p:cNvSpPr txBox="1"/>
          <p:nvPr/>
        </p:nvSpPr>
        <p:spPr>
          <a:xfrm>
            <a:off x="5534826" y="891996"/>
            <a:ext cx="700833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rebuchet MS" panose="020B0603020202020204" pitchFamily="34" charset="0"/>
                <a:ea typeface="Roboto" panose="02000000000000000000" pitchFamily="2" charset="0"/>
                <a:cs typeface="Nirmala UI" panose="020B0502040204020203" pitchFamily="34" charset="0"/>
              </a:rPr>
              <a:t>95 % CI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B1AE5A7-60D8-B536-F65F-AEF004BC47E5}"/>
              </a:ext>
            </a:extLst>
          </p:cNvPr>
          <p:cNvCxnSpPr>
            <a:stCxn id="43" idx="3"/>
            <a:endCxn id="30" idx="1"/>
          </p:cNvCxnSpPr>
          <p:nvPr/>
        </p:nvCxnSpPr>
        <p:spPr>
          <a:xfrm>
            <a:off x="6187777" y="1042070"/>
            <a:ext cx="147554" cy="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C722822-A5A6-1043-F92E-1D92C4930C39}"/>
              </a:ext>
            </a:extLst>
          </p:cNvPr>
          <p:cNvSpPr txBox="1"/>
          <p:nvPr/>
        </p:nvSpPr>
        <p:spPr>
          <a:xfrm>
            <a:off x="6107121" y="605254"/>
            <a:ext cx="38978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∉</a:t>
            </a:r>
            <a:r>
              <a:rPr lang="en-US" sz="11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 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E045A2-818C-4585-1685-909851649D47}"/>
              </a:ext>
            </a:extLst>
          </p:cNvPr>
          <p:cNvSpPr txBox="1"/>
          <p:nvPr/>
        </p:nvSpPr>
        <p:spPr>
          <a:xfrm>
            <a:off x="6075401" y="1283553"/>
            <a:ext cx="420165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∈</a:t>
            </a:r>
            <a:r>
              <a:rPr lang="en-US" sz="11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 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747E1C-AE6B-E05C-0178-51ECB0F463D8}"/>
              </a:ext>
            </a:extLst>
          </p:cNvPr>
          <p:cNvSpPr txBox="1"/>
          <p:nvPr/>
        </p:nvSpPr>
        <p:spPr>
          <a:xfrm>
            <a:off x="6341837" y="353389"/>
            <a:ext cx="104290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Significant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8040A5-9C9C-00B3-777C-275AF486FBE3}"/>
              </a:ext>
            </a:extLst>
          </p:cNvPr>
          <p:cNvSpPr txBox="1"/>
          <p:nvPr/>
        </p:nvSpPr>
        <p:spPr>
          <a:xfrm>
            <a:off x="6029623" y="1436704"/>
            <a:ext cx="1042901" cy="41549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Not Significant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6B63A7E-0E6F-F4B2-12BE-B2B97EAA6E59}"/>
              </a:ext>
            </a:extLst>
          </p:cNvPr>
          <p:cNvCxnSpPr/>
          <p:nvPr/>
        </p:nvCxnSpPr>
        <p:spPr>
          <a:xfrm flipH="1">
            <a:off x="7609780" y="37846"/>
            <a:ext cx="11896" cy="22091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1FD77E2-7555-AF90-2973-5DA605668692}"/>
              </a:ext>
            </a:extLst>
          </p:cNvPr>
          <p:cNvSpPr txBox="1"/>
          <p:nvPr/>
        </p:nvSpPr>
        <p:spPr>
          <a:xfrm flipH="1">
            <a:off x="7605794" y="1066836"/>
            <a:ext cx="14664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238DC9-E853-6C24-73CF-B8B6A0F2AA43}"/>
              </a:ext>
            </a:extLst>
          </p:cNvPr>
          <p:cNvSpPr txBox="1"/>
          <p:nvPr/>
        </p:nvSpPr>
        <p:spPr>
          <a:xfrm flipH="1">
            <a:off x="7603423" y="832677"/>
            <a:ext cx="14664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2D64EB-EB62-B5F9-8B52-13BF906F3A85}"/>
              </a:ext>
            </a:extLst>
          </p:cNvPr>
          <p:cNvSpPr txBox="1"/>
          <p:nvPr/>
        </p:nvSpPr>
        <p:spPr>
          <a:xfrm flipH="1">
            <a:off x="7467715" y="1315889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790E0E-91C7-DEB5-FE1D-5A077C9930A2}"/>
              </a:ext>
            </a:extLst>
          </p:cNvPr>
          <p:cNvSpPr txBox="1"/>
          <p:nvPr/>
        </p:nvSpPr>
        <p:spPr>
          <a:xfrm flipH="1">
            <a:off x="7479529" y="1611567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172F3B-D855-354D-A449-9841270D4672}"/>
              </a:ext>
            </a:extLst>
          </p:cNvPr>
          <p:cNvSpPr txBox="1"/>
          <p:nvPr/>
        </p:nvSpPr>
        <p:spPr>
          <a:xfrm flipH="1">
            <a:off x="7507739" y="498853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51DE47-F89C-EEBA-FE49-50160697F324}"/>
              </a:ext>
            </a:extLst>
          </p:cNvPr>
          <p:cNvSpPr txBox="1"/>
          <p:nvPr/>
        </p:nvSpPr>
        <p:spPr>
          <a:xfrm flipH="1">
            <a:off x="7509114" y="232366"/>
            <a:ext cx="33167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85C280-F976-CB38-31F3-B87F9BBE1DB2}"/>
              </a:ext>
            </a:extLst>
          </p:cNvPr>
          <p:cNvSpPr txBox="1"/>
          <p:nvPr/>
        </p:nvSpPr>
        <p:spPr>
          <a:xfrm flipH="1">
            <a:off x="7467004" y="1838562"/>
            <a:ext cx="336736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-3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97EAA4-A564-D941-9C59-628246A68819}"/>
              </a:ext>
            </a:extLst>
          </p:cNvPr>
          <p:cNvSpPr txBox="1"/>
          <p:nvPr/>
        </p:nvSpPr>
        <p:spPr>
          <a:xfrm flipH="1">
            <a:off x="7550434" y="-32381"/>
            <a:ext cx="385555" cy="261610"/>
          </a:xfrm>
          <a:prstGeom prst="rect">
            <a:avLst/>
          </a:prstGeom>
          <a:noFill/>
          <a:ln w="19050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…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BC16F0-D756-E9AE-0EAC-7D19542B2887}"/>
              </a:ext>
            </a:extLst>
          </p:cNvPr>
          <p:cNvSpPr txBox="1"/>
          <p:nvPr/>
        </p:nvSpPr>
        <p:spPr>
          <a:xfrm flipH="1">
            <a:off x="7572668" y="2109008"/>
            <a:ext cx="385555" cy="261610"/>
          </a:xfrm>
          <a:prstGeom prst="rect">
            <a:avLst/>
          </a:prstGeom>
          <a:noFill/>
          <a:ln w="19050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US" sz="1100" dirty="0">
                <a:ea typeface="Roboto" panose="02000000000000000000" pitchFamily="2" charset="0"/>
                <a:cs typeface="Nirmala UI" panose="020B0502040204020203" pitchFamily="34" charset="0"/>
              </a:rPr>
              <a:t>…</a:t>
            </a:r>
          </a:p>
        </p:txBody>
      </p:sp>
      <p:cxnSp>
        <p:nvCxnSpPr>
          <p:cNvPr id="60" name="Elbow Connector 148">
            <a:extLst>
              <a:ext uri="{FF2B5EF4-FFF2-40B4-BE49-F238E27FC236}">
                <a16:creationId xmlns:a16="http://schemas.microsoft.com/office/drawing/2014/main" id="{DCE1C9D1-AE3E-3612-AD44-2E2BC9EA1388}"/>
              </a:ext>
            </a:extLst>
          </p:cNvPr>
          <p:cNvCxnSpPr>
            <a:stCxn id="38" idx="2"/>
            <a:endCxn id="51" idx="3"/>
          </p:cNvCxnSpPr>
          <p:nvPr/>
        </p:nvCxnSpPr>
        <p:spPr>
          <a:xfrm rot="16200000" flipH="1">
            <a:off x="7108861" y="700708"/>
            <a:ext cx="319696" cy="67417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ight Brace 60">
            <a:extLst>
              <a:ext uri="{FF2B5EF4-FFF2-40B4-BE49-F238E27FC236}">
                <a16:creationId xmlns:a16="http://schemas.microsoft.com/office/drawing/2014/main" id="{165C9CA3-6962-D260-F1AE-105F6B4F2EBB}"/>
              </a:ext>
            </a:extLst>
          </p:cNvPr>
          <p:cNvSpPr/>
          <p:nvPr/>
        </p:nvSpPr>
        <p:spPr>
          <a:xfrm>
            <a:off x="7787287" y="87024"/>
            <a:ext cx="202330" cy="756971"/>
          </a:xfrm>
          <a:prstGeom prst="rightBrace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1C616FE3-6571-699F-E691-3E9286B8A904}"/>
              </a:ext>
            </a:extLst>
          </p:cNvPr>
          <p:cNvSpPr/>
          <p:nvPr/>
        </p:nvSpPr>
        <p:spPr>
          <a:xfrm>
            <a:off x="7819034" y="1441786"/>
            <a:ext cx="217413" cy="805247"/>
          </a:xfrm>
          <a:prstGeom prst="rightBrace">
            <a:avLst/>
          </a:prstGeom>
          <a:effectLst>
            <a:glow rad="228600">
              <a:srgbClr val="F05261"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Brace 62">
            <a:extLst>
              <a:ext uri="{FF2B5EF4-FFF2-40B4-BE49-F238E27FC236}">
                <a16:creationId xmlns:a16="http://schemas.microsoft.com/office/drawing/2014/main" id="{4B086916-D2E7-2DAD-9FC0-05915E28BABC}"/>
              </a:ext>
            </a:extLst>
          </p:cNvPr>
          <p:cNvSpPr/>
          <p:nvPr/>
        </p:nvSpPr>
        <p:spPr>
          <a:xfrm>
            <a:off x="7788654" y="965131"/>
            <a:ext cx="116459" cy="240824"/>
          </a:xfrm>
          <a:prstGeom prst="rightBrace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A12BCBE-107B-7FB9-712F-9AD11BE3911D}"/>
              </a:ext>
            </a:extLst>
          </p:cNvPr>
          <p:cNvSpPr/>
          <p:nvPr/>
        </p:nvSpPr>
        <p:spPr>
          <a:xfrm>
            <a:off x="1637191" y="165460"/>
            <a:ext cx="13756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Outcome Probabilities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C37176-16CF-88B2-2CC9-49062A5D515E}"/>
              </a:ext>
            </a:extLst>
          </p:cNvPr>
          <p:cNvSpPr txBox="1"/>
          <p:nvPr/>
        </p:nvSpPr>
        <p:spPr>
          <a:xfrm>
            <a:off x="629686" y="1604904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E9590D5-7EF3-4BE8-87CE-6FA4934F2E1E}"/>
              </a:ext>
            </a:extLst>
          </p:cNvPr>
          <p:cNvSpPr/>
          <p:nvPr/>
        </p:nvSpPr>
        <p:spPr>
          <a:xfrm>
            <a:off x="1" y="781673"/>
            <a:ext cx="5677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Step1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2DE727-27E9-FF3C-F7A7-052DC67EB987}"/>
              </a:ext>
            </a:extLst>
          </p:cNvPr>
          <p:cNvSpPr/>
          <p:nvPr/>
        </p:nvSpPr>
        <p:spPr>
          <a:xfrm rot="18773322">
            <a:off x="984638" y="479225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Step2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C0240A2-870A-A23D-9293-AECD218D4480}"/>
              </a:ext>
            </a:extLst>
          </p:cNvPr>
          <p:cNvSpPr/>
          <p:nvPr/>
        </p:nvSpPr>
        <p:spPr>
          <a:xfrm>
            <a:off x="3358218" y="654397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Step3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69" name="Right Brace 68">
            <a:extLst>
              <a:ext uri="{FF2B5EF4-FFF2-40B4-BE49-F238E27FC236}">
                <a16:creationId xmlns:a16="http://schemas.microsoft.com/office/drawing/2014/main" id="{1B58A55C-EE47-4764-2180-C3961699CBF6}"/>
              </a:ext>
            </a:extLst>
          </p:cNvPr>
          <p:cNvSpPr/>
          <p:nvPr/>
        </p:nvSpPr>
        <p:spPr>
          <a:xfrm>
            <a:off x="3359427" y="649923"/>
            <a:ext cx="112366" cy="1143298"/>
          </a:xfrm>
          <a:prstGeom prst="rightBrace">
            <a:avLst>
              <a:gd name="adj1" fmla="val 42419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Left Brace 69">
            <a:extLst>
              <a:ext uri="{FF2B5EF4-FFF2-40B4-BE49-F238E27FC236}">
                <a16:creationId xmlns:a16="http://schemas.microsoft.com/office/drawing/2014/main" id="{C5AD553B-B025-CD10-7A62-970CCC881E11}"/>
              </a:ext>
            </a:extLst>
          </p:cNvPr>
          <p:cNvSpPr/>
          <p:nvPr/>
        </p:nvSpPr>
        <p:spPr>
          <a:xfrm>
            <a:off x="1276687" y="649924"/>
            <a:ext cx="155086" cy="1143298"/>
          </a:xfrm>
          <a:prstGeom prst="leftBrace">
            <a:avLst>
              <a:gd name="adj1" fmla="val 39636"/>
              <a:gd name="adj2" fmla="val 4405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F050E9F-A945-1526-9934-ABB922125FE6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543088" y="854751"/>
            <a:ext cx="296505" cy="3040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67BB295-3C02-83F2-4328-C21EDCC9DFA5}"/>
              </a:ext>
            </a:extLst>
          </p:cNvPr>
          <p:cNvCxnSpPr>
            <a:endCxn id="26" idx="1"/>
          </p:cNvCxnSpPr>
          <p:nvPr/>
        </p:nvCxnSpPr>
        <p:spPr>
          <a:xfrm>
            <a:off x="3546107" y="1219717"/>
            <a:ext cx="183377" cy="6183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ight Brace 72">
            <a:extLst>
              <a:ext uri="{FF2B5EF4-FFF2-40B4-BE49-F238E27FC236}">
                <a16:creationId xmlns:a16="http://schemas.microsoft.com/office/drawing/2014/main" id="{24C309DE-75A6-ED03-DA86-365078B5C17E}"/>
              </a:ext>
            </a:extLst>
          </p:cNvPr>
          <p:cNvSpPr/>
          <p:nvPr/>
        </p:nvSpPr>
        <p:spPr>
          <a:xfrm>
            <a:off x="5389642" y="493112"/>
            <a:ext cx="112366" cy="1143298"/>
          </a:xfrm>
          <a:prstGeom prst="rightBrace">
            <a:avLst>
              <a:gd name="adj1" fmla="val 42419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A8ABF4F-1582-66F3-B014-CE00CF1DC94E}"/>
              </a:ext>
            </a:extLst>
          </p:cNvPr>
          <p:cNvSpPr/>
          <p:nvPr/>
        </p:nvSpPr>
        <p:spPr>
          <a:xfrm>
            <a:off x="5578171" y="637999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Step4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839E04A-B6A9-9361-DB23-A60CD4A7612C}"/>
              </a:ext>
            </a:extLst>
          </p:cNvPr>
          <p:cNvSpPr/>
          <p:nvPr/>
        </p:nvSpPr>
        <p:spPr>
          <a:xfrm>
            <a:off x="7016344" y="947043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rebuchet MS" panose="020B0603020202020204" pitchFamily="34" charset="0"/>
              </a:rPr>
              <a:t>Step5</a:t>
            </a:r>
            <a:endParaRPr lang="en-US" sz="1200" dirty="0">
              <a:solidFill>
                <a:srgbClr val="FF0000"/>
              </a:solidFill>
              <a:latin typeface="Trebuchet MS" panose="020B0603020202020204" pitchFamily="34" charset="0"/>
              <a:ea typeface="Roboto" panose="02000000000000000000" pitchFamily="2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652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823C-A346-5796-98B0-E2F8E610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27DE8-6EEC-F3FA-46C3-3FD1A2A96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5299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a white background&#10;&#10;AI-generated content may be incorrect.">
            <a:extLst>
              <a:ext uri="{FF2B5EF4-FFF2-40B4-BE49-F238E27FC236}">
                <a16:creationId xmlns:a16="http://schemas.microsoft.com/office/drawing/2014/main" id="{EB89F966-3C84-350D-FBD8-41F04FC2E6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72"/>
            <a:ext cx="12192000" cy="40076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AF2A20-7F0A-9645-2909-577862957540}"/>
              </a:ext>
            </a:extLst>
          </p:cNvPr>
          <p:cNvSpPr/>
          <p:nvPr/>
        </p:nvSpPr>
        <p:spPr>
          <a:xfrm>
            <a:off x="978794" y="1077531"/>
            <a:ext cx="3103809" cy="25414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BF9C2C-7077-2759-ED0B-F1DED802F945}"/>
              </a:ext>
            </a:extLst>
          </p:cNvPr>
          <p:cNvCxnSpPr>
            <a:cxnSpLocks/>
          </p:cNvCxnSpPr>
          <p:nvPr/>
        </p:nvCxnSpPr>
        <p:spPr>
          <a:xfrm>
            <a:off x="588135" y="1296473"/>
            <a:ext cx="0" cy="233107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ECA5FD-0C13-8BF4-8F57-48A7DBE08561}"/>
              </a:ext>
            </a:extLst>
          </p:cNvPr>
          <p:cNvCxnSpPr/>
          <p:nvPr/>
        </p:nvCxnSpPr>
        <p:spPr>
          <a:xfrm flipV="1">
            <a:off x="583842" y="429296"/>
            <a:ext cx="0" cy="6310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F6668F5-21AC-E5AB-8F31-8ED574E2087B}"/>
              </a:ext>
            </a:extLst>
          </p:cNvPr>
          <p:cNvSpPr txBox="1"/>
          <p:nvPr/>
        </p:nvSpPr>
        <p:spPr>
          <a:xfrm>
            <a:off x="558084" y="596721"/>
            <a:ext cx="1101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Free Advantage</a:t>
            </a:r>
            <a:endParaRPr lang="fi-FI" sz="1000" dirty="0">
              <a:solidFill>
                <a:schemeClr val="bg2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96F28F-21E3-191E-2E71-DA4712035514}"/>
              </a:ext>
            </a:extLst>
          </p:cNvPr>
          <p:cNvSpPr txBox="1"/>
          <p:nvPr/>
        </p:nvSpPr>
        <p:spPr>
          <a:xfrm>
            <a:off x="148107" y="3771363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Paid Advantage</a:t>
            </a:r>
            <a:endParaRPr lang="fi-FI" sz="1000" dirty="0">
              <a:solidFill>
                <a:schemeClr val="bg2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980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31971A88-73EB-E62C-376E-59DEF00ACE08}"/>
              </a:ext>
            </a:extLst>
          </p:cNvPr>
          <p:cNvSpPr/>
          <p:nvPr/>
        </p:nvSpPr>
        <p:spPr>
          <a:xfrm>
            <a:off x="100884" y="171718"/>
            <a:ext cx="1244959" cy="579549"/>
          </a:xfrm>
          <a:prstGeom prst="can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Segoe UI Variable Display Semib" pitchFamily="2" charset="0"/>
              </a:rPr>
              <a:t>GameMetaDroid</a:t>
            </a:r>
            <a:endParaRPr lang="fi-FI" sz="1050" dirty="0">
              <a:latin typeface="Segoe UI Variable Display Semib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37501B-1F52-93D2-E7EF-B5D8154DD191}"/>
              </a:ext>
            </a:extLst>
          </p:cNvPr>
          <p:cNvSpPr/>
          <p:nvPr/>
        </p:nvSpPr>
        <p:spPr>
          <a:xfrm>
            <a:off x="2423366" y="955720"/>
            <a:ext cx="929429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Binarize Variables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DE0B66-3DE0-EDA4-6685-C588EF4558A4}"/>
              </a:ext>
            </a:extLst>
          </p:cNvPr>
          <p:cNvCxnSpPr>
            <a:cxnSpLocks/>
            <a:stCxn id="100" idx="3"/>
            <a:endCxn id="20" idx="1"/>
          </p:cNvCxnSpPr>
          <p:nvPr/>
        </p:nvCxnSpPr>
        <p:spPr>
          <a:xfrm flipV="1">
            <a:off x="2301024" y="1198036"/>
            <a:ext cx="122342" cy="3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EC3C606-0B83-5409-9F24-1F1D9A37A464}"/>
              </a:ext>
            </a:extLst>
          </p:cNvPr>
          <p:cNvSpPr/>
          <p:nvPr/>
        </p:nvSpPr>
        <p:spPr>
          <a:xfrm>
            <a:off x="3488020" y="953036"/>
            <a:ext cx="1371600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Create Features x Outcome Pairs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CEF2B5-8F02-CF6D-97DE-86573397402A}"/>
              </a:ext>
            </a:extLst>
          </p:cNvPr>
          <p:cNvSpPr/>
          <p:nvPr/>
        </p:nvSpPr>
        <p:spPr>
          <a:xfrm>
            <a:off x="4992700" y="950889"/>
            <a:ext cx="1541175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Construct 2x2 Contingency Tables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EC329D-0F32-7951-A5A2-A5F8D7EA551C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 flipV="1">
            <a:off x="4859620" y="1193205"/>
            <a:ext cx="133080" cy="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13DB047-47FE-0EEB-E2EF-F745A1AD3AD8}"/>
              </a:ext>
            </a:extLst>
          </p:cNvPr>
          <p:cNvSpPr/>
          <p:nvPr/>
        </p:nvSpPr>
        <p:spPr>
          <a:xfrm>
            <a:off x="6660515" y="948742"/>
            <a:ext cx="114837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probabilities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9B26CE3-5B07-5085-FFA0-0D0B880F5AB2}"/>
              </a:ext>
            </a:extLst>
          </p:cNvPr>
          <p:cNvCxnSpPr>
            <a:cxnSpLocks/>
            <a:stCxn id="42" idx="3"/>
            <a:endCxn id="48" idx="1"/>
          </p:cNvCxnSpPr>
          <p:nvPr/>
        </p:nvCxnSpPr>
        <p:spPr>
          <a:xfrm flipV="1">
            <a:off x="6533875" y="1191058"/>
            <a:ext cx="126640" cy="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D8AEFB0-1942-B623-CF78-90648DD679C9}"/>
              </a:ext>
            </a:extLst>
          </p:cNvPr>
          <p:cNvSpPr/>
          <p:nvPr/>
        </p:nvSpPr>
        <p:spPr>
          <a:xfrm>
            <a:off x="7212177" y="2502793"/>
            <a:ext cx="1888903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 Difference in Proportions (</a:t>
            </a:r>
            <a:r>
              <a:rPr lang="el-GR" sz="1200" dirty="0">
                <a:latin typeface="Segoe UI Variable Display Semib" pitchFamily="2" charset="0"/>
                <a:cs typeface="Segoe UI Semibold" panose="020B0702040204020203" pitchFamily="34" charset="0"/>
              </a:rPr>
              <a:t>Δ</a:t>
            </a:r>
            <a:r>
              <a:rPr lang="fi-FI" sz="12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0DEAF53-F745-C207-943A-47D24691B81C}"/>
              </a:ext>
            </a:extLst>
          </p:cNvPr>
          <p:cNvSpPr/>
          <p:nvPr/>
        </p:nvSpPr>
        <p:spPr>
          <a:xfrm>
            <a:off x="7686534" y="3095222"/>
            <a:ext cx="1410248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Odds Ratio (</a:t>
            </a:r>
            <a:r>
              <a:rPr lang="fi-FI" sz="1200" dirty="0">
                <a:latin typeface="Segoe UI Variable Display Semib" pitchFamily="2" charset="0"/>
              </a:rPr>
              <a:t>OR̂</a:t>
            </a:r>
            <a:r>
              <a:rPr lang="fi-FI" sz="12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2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D390557-D532-6F8F-BE3D-D0FC5A952462}"/>
              </a:ext>
            </a:extLst>
          </p:cNvPr>
          <p:cNvSpPr/>
          <p:nvPr/>
        </p:nvSpPr>
        <p:spPr>
          <a:xfrm>
            <a:off x="5276055" y="2507088"/>
            <a:ext cx="1768699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Evaluate est. Additive Interaction (</a:t>
            </a:r>
            <a:r>
              <a:rPr lang="el-GR" sz="12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2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43AF977-D204-E2B0-0CF3-716156FEA245}"/>
              </a:ext>
            </a:extLst>
          </p:cNvPr>
          <p:cNvSpPr/>
          <p:nvPr/>
        </p:nvSpPr>
        <p:spPr>
          <a:xfrm>
            <a:off x="5284632" y="3095222"/>
            <a:ext cx="2236636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Evaluate  est. Multiplicative Interaction(R</a:t>
            </a:r>
            <a:r>
              <a:rPr lang="fi-FI" sz="1200" dirty="0">
                <a:latin typeface="Segoe UI Variable Display Semib" pitchFamily="2" charset="0"/>
              </a:rPr>
              <a:t>OR̂</a:t>
            </a:r>
            <a:r>
              <a:rPr lang="fi-FI" sz="12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6B04DD2-1023-DA59-15F3-289E337AE104}"/>
              </a:ext>
            </a:extLst>
          </p:cNvPr>
          <p:cNvSpPr/>
          <p:nvPr/>
        </p:nvSpPr>
        <p:spPr>
          <a:xfrm>
            <a:off x="203916" y="969138"/>
            <a:ext cx="1038895" cy="4840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Divide Variables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C1C66E3-692D-74E0-1A8F-90894C8F9941}"/>
              </a:ext>
            </a:extLst>
          </p:cNvPr>
          <p:cNvCxnSpPr>
            <a:cxnSpLocks/>
            <a:stCxn id="4" idx="3"/>
            <a:endCxn id="85" idx="0"/>
          </p:cNvCxnSpPr>
          <p:nvPr/>
        </p:nvCxnSpPr>
        <p:spPr>
          <a:xfrm>
            <a:off x="723364" y="751267"/>
            <a:ext cx="0" cy="217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C3E61DDE-1E74-5BA9-A44E-9760981BA352}"/>
              </a:ext>
            </a:extLst>
          </p:cNvPr>
          <p:cNvSpPr/>
          <p:nvPr/>
        </p:nvSpPr>
        <p:spPr>
          <a:xfrm>
            <a:off x="1405943" y="848933"/>
            <a:ext cx="815034" cy="3426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Success Outcomes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8EBB923-BFA5-765E-CA82-AA68BF8D231C}"/>
              </a:ext>
            </a:extLst>
          </p:cNvPr>
          <p:cNvSpPr/>
          <p:nvPr/>
        </p:nvSpPr>
        <p:spPr>
          <a:xfrm>
            <a:off x="1414529" y="1251395"/>
            <a:ext cx="804930" cy="3069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Features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B45454C-83CA-2D14-C95C-4C3D39B3EFC6}"/>
              </a:ext>
            </a:extLst>
          </p:cNvPr>
          <p:cNvCxnSpPr>
            <a:cxnSpLocks/>
            <a:stCxn id="85" idx="3"/>
            <a:endCxn id="92" idx="1"/>
          </p:cNvCxnSpPr>
          <p:nvPr/>
        </p:nvCxnSpPr>
        <p:spPr>
          <a:xfrm flipV="1">
            <a:off x="1242811" y="1020262"/>
            <a:ext cx="163132" cy="190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3EEEAD4-FE78-9722-E498-269127945688}"/>
              </a:ext>
            </a:extLst>
          </p:cNvPr>
          <p:cNvCxnSpPr>
            <a:cxnSpLocks/>
            <a:stCxn id="85" idx="3"/>
            <a:endCxn id="93" idx="1"/>
          </p:cNvCxnSpPr>
          <p:nvPr/>
        </p:nvCxnSpPr>
        <p:spPr>
          <a:xfrm>
            <a:off x="1242811" y="1211153"/>
            <a:ext cx="171718" cy="193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1BB7EB3E-684C-FDB6-99F1-A3B225791781}"/>
              </a:ext>
            </a:extLst>
          </p:cNvPr>
          <p:cNvSpPr/>
          <p:nvPr/>
        </p:nvSpPr>
        <p:spPr>
          <a:xfrm>
            <a:off x="1326523" y="742681"/>
            <a:ext cx="974501" cy="9186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2877D20-69C9-D33E-F009-A0E25D2E41C5}"/>
              </a:ext>
            </a:extLst>
          </p:cNvPr>
          <p:cNvCxnSpPr>
            <a:cxnSpLocks/>
            <a:stCxn id="20" idx="3"/>
            <a:endCxn id="37" idx="1"/>
          </p:cNvCxnSpPr>
          <p:nvPr/>
        </p:nvCxnSpPr>
        <p:spPr>
          <a:xfrm flipV="1">
            <a:off x="3352795" y="1195352"/>
            <a:ext cx="135225" cy="2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D47146B-FA7B-C7CF-640C-456A712392CE}"/>
              </a:ext>
            </a:extLst>
          </p:cNvPr>
          <p:cNvCxnSpPr>
            <a:cxnSpLocks/>
            <a:stCxn id="52" idx="1"/>
            <a:endCxn id="75" idx="3"/>
          </p:cNvCxnSpPr>
          <p:nvPr/>
        </p:nvCxnSpPr>
        <p:spPr>
          <a:xfrm flipH="1">
            <a:off x="7044754" y="2745109"/>
            <a:ext cx="167423" cy="4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Diamond 165">
            <a:extLst>
              <a:ext uri="{FF2B5EF4-FFF2-40B4-BE49-F238E27FC236}">
                <a16:creationId xmlns:a16="http://schemas.microsoft.com/office/drawing/2014/main" id="{74F77B7A-D6A1-AABB-232D-0DB9C747EC35}"/>
              </a:ext>
            </a:extLst>
          </p:cNvPr>
          <p:cNvSpPr/>
          <p:nvPr/>
        </p:nvSpPr>
        <p:spPr>
          <a:xfrm>
            <a:off x="3176794" y="2858969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E75E8F7-4735-E41C-D63A-F5D2BF94D3C1}"/>
              </a:ext>
            </a:extLst>
          </p:cNvPr>
          <p:cNvCxnSpPr>
            <a:cxnSpLocks/>
            <a:stCxn id="53" idx="1"/>
            <a:endCxn id="76" idx="3"/>
          </p:cNvCxnSpPr>
          <p:nvPr/>
        </p:nvCxnSpPr>
        <p:spPr>
          <a:xfrm flipH="1">
            <a:off x="7521268" y="3337538"/>
            <a:ext cx="1652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653CB975-A2B5-8B34-B4D5-9A20B96DA686}"/>
              </a:ext>
            </a:extLst>
          </p:cNvPr>
          <p:cNvSpPr/>
          <p:nvPr/>
        </p:nvSpPr>
        <p:spPr>
          <a:xfrm rot="10800000">
            <a:off x="5082861" y="2644459"/>
            <a:ext cx="154546" cy="802785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58869BEA-71E2-4329-E800-DC5803F0CC2F}"/>
              </a:ext>
            </a:extLst>
          </p:cNvPr>
          <p:cNvSpPr/>
          <p:nvPr/>
        </p:nvSpPr>
        <p:spPr>
          <a:xfrm>
            <a:off x="3767060" y="2775630"/>
            <a:ext cx="119560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95 % CI Score</a:t>
            </a:r>
            <a:endParaRPr lang="fi-FI" sz="12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866E5569-E294-4A4E-9D88-53453D871691}"/>
              </a:ext>
            </a:extLst>
          </p:cNvPr>
          <p:cNvSpPr txBox="1"/>
          <p:nvPr/>
        </p:nvSpPr>
        <p:spPr>
          <a:xfrm>
            <a:off x="1171981" y="2501355"/>
            <a:ext cx="1182587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Not Significant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756F6FB-5C94-32BA-51FA-4EC777A1BE93}"/>
              </a:ext>
            </a:extLst>
          </p:cNvPr>
          <p:cNvSpPr txBox="1"/>
          <p:nvPr/>
        </p:nvSpPr>
        <p:spPr>
          <a:xfrm>
            <a:off x="2459868" y="2689498"/>
            <a:ext cx="946919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Includes 0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E2252CC9-749C-E98D-AFAE-235019027585}"/>
              </a:ext>
            </a:extLst>
          </p:cNvPr>
          <p:cNvSpPr/>
          <p:nvPr/>
        </p:nvSpPr>
        <p:spPr>
          <a:xfrm>
            <a:off x="1176264" y="3067787"/>
            <a:ext cx="119560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Significant</a:t>
            </a:r>
            <a:endParaRPr lang="fi-FI" sz="1200" dirty="0"/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D5D97B8C-F8A2-8458-095F-93F56AB08313}"/>
              </a:ext>
            </a:extLst>
          </p:cNvPr>
          <p:cNvSpPr txBox="1"/>
          <p:nvPr/>
        </p:nvSpPr>
        <p:spPr>
          <a:xfrm>
            <a:off x="2393327" y="3090889"/>
            <a:ext cx="1002407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excludes 0</a:t>
            </a:r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0BA16A9E-3A91-E43A-3754-1570449DF214}"/>
              </a:ext>
            </a:extLst>
          </p:cNvPr>
          <p:cNvCxnSpPr>
            <a:cxnSpLocks/>
            <a:stCxn id="327" idx="1"/>
            <a:endCxn id="338" idx="1"/>
          </p:cNvCxnSpPr>
          <p:nvPr/>
        </p:nvCxnSpPr>
        <p:spPr>
          <a:xfrm rot="10800000" flipV="1">
            <a:off x="792038" y="3310102"/>
            <a:ext cx="384227" cy="1875787"/>
          </a:xfrm>
          <a:prstGeom prst="bentConnector3">
            <a:avLst>
              <a:gd name="adj1" fmla="val 15949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8" name="Rectangle 337">
            <a:extLst>
              <a:ext uri="{FF2B5EF4-FFF2-40B4-BE49-F238E27FC236}">
                <a16:creationId xmlns:a16="http://schemas.microsoft.com/office/drawing/2014/main" id="{64DC907D-AB1D-C50C-C495-3FF5C58EDFD9}"/>
              </a:ext>
            </a:extLst>
          </p:cNvPr>
          <p:cNvSpPr/>
          <p:nvPr/>
        </p:nvSpPr>
        <p:spPr>
          <a:xfrm>
            <a:off x="792037" y="4943574"/>
            <a:ext cx="1515426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Interpret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Interactions</a:t>
            </a:r>
            <a:endParaRPr lang="fi-FI" sz="1200" dirty="0"/>
          </a:p>
        </p:txBody>
      </p: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416D3CBC-A00B-E676-2BC8-20EE5C012596}"/>
              </a:ext>
            </a:extLst>
          </p:cNvPr>
          <p:cNvCxnSpPr>
            <a:cxnSpLocks/>
          </p:cNvCxnSpPr>
          <p:nvPr/>
        </p:nvCxnSpPr>
        <p:spPr>
          <a:xfrm>
            <a:off x="3303430" y="5314679"/>
            <a:ext cx="13973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587EC326-1B54-FFF1-4898-998E4C3F4DF8}"/>
              </a:ext>
            </a:extLst>
          </p:cNvPr>
          <p:cNvSpPr txBox="1"/>
          <p:nvPr/>
        </p:nvSpPr>
        <p:spPr>
          <a:xfrm>
            <a:off x="3202546" y="5017275"/>
            <a:ext cx="1682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= 0 )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03443C18-7F4D-56CC-CFB5-2CFF836C9888}"/>
              </a:ext>
            </a:extLst>
          </p:cNvPr>
          <p:cNvSpPr txBox="1"/>
          <p:nvPr/>
        </p:nvSpPr>
        <p:spPr>
          <a:xfrm rot="651046">
            <a:off x="3105956" y="5573210"/>
            <a:ext cx="1809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&lt; 0 )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A4D485D-1992-B720-C5D3-4F16F6F4BEA7}"/>
              </a:ext>
            </a:extLst>
          </p:cNvPr>
          <p:cNvSpPr txBox="1"/>
          <p:nvPr/>
        </p:nvSpPr>
        <p:spPr>
          <a:xfrm rot="20845820">
            <a:off x="3228303" y="4038481"/>
            <a:ext cx="1828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&gt; 0 )</a:t>
            </a:r>
          </a:p>
        </p:txBody>
      </p: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43D25665-9185-421B-2A3D-CC8ABAF6169A}"/>
              </a:ext>
            </a:extLst>
          </p:cNvPr>
          <p:cNvCxnSpPr>
            <a:cxnSpLocks/>
            <a:stCxn id="222" idx="1"/>
            <a:endCxn id="166" idx="3"/>
          </p:cNvCxnSpPr>
          <p:nvPr/>
        </p:nvCxnSpPr>
        <p:spPr>
          <a:xfrm flipH="1">
            <a:off x="3537402" y="3017946"/>
            <a:ext cx="229658" cy="6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6" name="Connector: Elbow 425">
            <a:extLst>
              <a:ext uri="{FF2B5EF4-FFF2-40B4-BE49-F238E27FC236}">
                <a16:creationId xmlns:a16="http://schemas.microsoft.com/office/drawing/2014/main" id="{AD48EC2F-EBD3-A03E-0EC7-082D85BB34D4}"/>
              </a:ext>
            </a:extLst>
          </p:cNvPr>
          <p:cNvCxnSpPr>
            <a:cxnSpLocks/>
            <a:stCxn id="166" idx="2"/>
            <a:endCxn id="327" idx="3"/>
          </p:cNvCxnSpPr>
          <p:nvPr/>
        </p:nvCxnSpPr>
        <p:spPr>
          <a:xfrm rot="5400000">
            <a:off x="2804055" y="2757060"/>
            <a:ext cx="120854" cy="98523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8" name="Right Brace 457">
            <a:extLst>
              <a:ext uri="{FF2B5EF4-FFF2-40B4-BE49-F238E27FC236}">
                <a16:creationId xmlns:a16="http://schemas.microsoft.com/office/drawing/2014/main" id="{E624F8A8-15A4-460F-AA4E-4DD5CDAEB84C}"/>
              </a:ext>
            </a:extLst>
          </p:cNvPr>
          <p:cNvSpPr/>
          <p:nvPr/>
        </p:nvSpPr>
        <p:spPr>
          <a:xfrm>
            <a:off x="8452833" y="5537914"/>
            <a:ext cx="111619" cy="723365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944CDF13-F850-D7BE-7E9C-7E313806B6C0}"/>
              </a:ext>
            </a:extLst>
          </p:cNvPr>
          <p:cNvCxnSpPr>
            <a:cxnSpLocks/>
          </p:cNvCxnSpPr>
          <p:nvPr/>
        </p:nvCxnSpPr>
        <p:spPr>
          <a:xfrm>
            <a:off x="8397025" y="4310129"/>
            <a:ext cx="0" cy="20391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3" name="TextBox 462">
            <a:extLst>
              <a:ext uri="{FF2B5EF4-FFF2-40B4-BE49-F238E27FC236}">
                <a16:creationId xmlns:a16="http://schemas.microsoft.com/office/drawing/2014/main" id="{18DFFDF8-6DBE-3FD1-A1A2-83865481134C}"/>
              </a:ext>
            </a:extLst>
          </p:cNvPr>
          <p:cNvSpPr txBox="1"/>
          <p:nvPr/>
        </p:nvSpPr>
        <p:spPr>
          <a:xfrm>
            <a:off x="8188818" y="5143841"/>
            <a:ext cx="233966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0</a:t>
            </a: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EAE6A334-0BC1-AE5E-3939-1AF8CFC21AA5}"/>
              </a:ext>
            </a:extLst>
          </p:cNvPr>
          <p:cNvSpPr txBox="1"/>
          <p:nvPr/>
        </p:nvSpPr>
        <p:spPr>
          <a:xfrm rot="21441455">
            <a:off x="8049298" y="4605074"/>
            <a:ext cx="480810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&gt; 0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72C01792-15D8-D89D-229F-7CC4593DEBCA}"/>
              </a:ext>
            </a:extLst>
          </p:cNvPr>
          <p:cNvSpPr txBox="1"/>
          <p:nvPr/>
        </p:nvSpPr>
        <p:spPr>
          <a:xfrm rot="189603">
            <a:off x="8032125" y="5740561"/>
            <a:ext cx="495836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&lt;</a:t>
            </a:r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 0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CEA8A223-DB9B-32B9-042B-9CF1AAD1AC8F}"/>
              </a:ext>
            </a:extLst>
          </p:cNvPr>
          <p:cNvSpPr txBox="1"/>
          <p:nvPr/>
        </p:nvSpPr>
        <p:spPr>
          <a:xfrm>
            <a:off x="8392731" y="5122347"/>
            <a:ext cx="19833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→ No interaction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9E224F99-D571-7403-1863-134F05B24FD9}"/>
              </a:ext>
            </a:extLst>
          </p:cNvPr>
          <p:cNvSpPr txBox="1"/>
          <p:nvPr/>
        </p:nvSpPr>
        <p:spPr>
          <a:xfrm>
            <a:off x="8491468" y="5757705"/>
            <a:ext cx="25586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</a:t>
            </a:r>
            <a:r>
              <a:rPr lang="fi-FI" sz="1100" dirty="0">
                <a:latin typeface="Segoe UI Variable Display Semib" pitchFamily="2" charset="0"/>
              </a:rPr>
              <a:t>Negative (antagonistic)</a:t>
            </a:r>
            <a:endParaRPr lang="en-US" sz="11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0748673E-00CF-6716-3CE3-2C48EDB45426}"/>
              </a:ext>
            </a:extLst>
          </p:cNvPr>
          <p:cNvSpPr txBox="1"/>
          <p:nvPr/>
        </p:nvSpPr>
        <p:spPr>
          <a:xfrm>
            <a:off x="8551571" y="4602900"/>
            <a:ext cx="24341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100" dirty="0">
                <a:latin typeface="Segoe UI Variable Display Semib" pitchFamily="2" charset="0"/>
              </a:rPr>
              <a:t>Positive (synergistic)</a:t>
            </a:r>
            <a:endParaRPr lang="en-US" sz="11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2DEEBA64-3AE3-1832-217B-076AABE4047F}"/>
              </a:ext>
            </a:extLst>
          </p:cNvPr>
          <p:cNvCxnSpPr>
            <a:cxnSpLocks/>
          </p:cNvCxnSpPr>
          <p:nvPr/>
        </p:nvCxnSpPr>
        <p:spPr>
          <a:xfrm flipV="1">
            <a:off x="3908743" y="4264547"/>
            <a:ext cx="1830942" cy="538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17B56DD5-3E20-16C5-234D-1CC7F6EC00F2}"/>
              </a:ext>
            </a:extLst>
          </p:cNvPr>
          <p:cNvCxnSpPr>
            <a:cxnSpLocks/>
          </p:cNvCxnSpPr>
          <p:nvPr/>
        </p:nvCxnSpPr>
        <p:spPr>
          <a:xfrm>
            <a:off x="3151030" y="5739684"/>
            <a:ext cx="1487511" cy="294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4" name="Right Brace 513">
            <a:extLst>
              <a:ext uri="{FF2B5EF4-FFF2-40B4-BE49-F238E27FC236}">
                <a16:creationId xmlns:a16="http://schemas.microsoft.com/office/drawing/2014/main" id="{78B8FDBA-7BC5-8BB1-47F2-9654CB24212F}"/>
              </a:ext>
            </a:extLst>
          </p:cNvPr>
          <p:cNvSpPr/>
          <p:nvPr/>
        </p:nvSpPr>
        <p:spPr>
          <a:xfrm>
            <a:off x="8470007" y="4441065"/>
            <a:ext cx="113764" cy="68043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521" name="Connector: Elbow 520">
            <a:extLst>
              <a:ext uri="{FF2B5EF4-FFF2-40B4-BE49-F238E27FC236}">
                <a16:creationId xmlns:a16="http://schemas.microsoft.com/office/drawing/2014/main" id="{3733622A-BB32-674D-86A8-B70F662CBD84}"/>
              </a:ext>
            </a:extLst>
          </p:cNvPr>
          <p:cNvCxnSpPr>
            <a:cxnSpLocks/>
            <a:stCxn id="166" idx="0"/>
            <a:endCxn id="257" idx="3"/>
          </p:cNvCxnSpPr>
          <p:nvPr/>
        </p:nvCxnSpPr>
        <p:spPr>
          <a:xfrm rot="16200000" flipV="1">
            <a:off x="2792443" y="2294314"/>
            <a:ext cx="126781" cy="100253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7CB8312D-9020-CC3F-86B5-0AB68CB619FF}"/>
              </a:ext>
            </a:extLst>
          </p:cNvPr>
          <p:cNvCxnSpPr>
            <a:cxnSpLocks/>
            <a:stCxn id="48" idx="3"/>
            <a:endCxn id="553" idx="1"/>
          </p:cNvCxnSpPr>
          <p:nvPr/>
        </p:nvCxnSpPr>
        <p:spPr>
          <a:xfrm>
            <a:off x="7808886" y="1191058"/>
            <a:ext cx="124491" cy="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3" name="Rectangle 552">
            <a:extLst>
              <a:ext uri="{FF2B5EF4-FFF2-40B4-BE49-F238E27FC236}">
                <a16:creationId xmlns:a16="http://schemas.microsoft.com/office/drawing/2014/main" id="{79408A18-97B0-D1BB-6C51-3BB704269EE8}"/>
              </a:ext>
            </a:extLst>
          </p:cNvPr>
          <p:cNvSpPr/>
          <p:nvPr/>
        </p:nvSpPr>
        <p:spPr>
          <a:xfrm>
            <a:off x="7933377" y="955181"/>
            <a:ext cx="114837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Assess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67" name="Diamond 566">
            <a:extLst>
              <a:ext uri="{FF2B5EF4-FFF2-40B4-BE49-F238E27FC236}">
                <a16:creationId xmlns:a16="http://schemas.microsoft.com/office/drawing/2014/main" id="{1C6E99DC-3D6D-349A-689D-1407A8C1B056}"/>
              </a:ext>
            </a:extLst>
          </p:cNvPr>
          <p:cNvSpPr/>
          <p:nvPr/>
        </p:nvSpPr>
        <p:spPr>
          <a:xfrm>
            <a:off x="2509239" y="5016180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568" name="Straight Arrow Connector 567">
            <a:extLst>
              <a:ext uri="{FF2B5EF4-FFF2-40B4-BE49-F238E27FC236}">
                <a16:creationId xmlns:a16="http://schemas.microsoft.com/office/drawing/2014/main" id="{481F070A-8B7B-FCD7-F60D-6E529CA9646D}"/>
              </a:ext>
            </a:extLst>
          </p:cNvPr>
          <p:cNvCxnSpPr>
            <a:cxnSpLocks/>
            <a:stCxn id="338" idx="3"/>
            <a:endCxn id="567" idx="1"/>
          </p:cNvCxnSpPr>
          <p:nvPr/>
        </p:nvCxnSpPr>
        <p:spPr>
          <a:xfrm flipV="1">
            <a:off x="2307463" y="5181320"/>
            <a:ext cx="201776" cy="4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682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31971A88-73EB-E62C-376E-59DEF00ACE08}"/>
              </a:ext>
            </a:extLst>
          </p:cNvPr>
          <p:cNvSpPr/>
          <p:nvPr/>
        </p:nvSpPr>
        <p:spPr>
          <a:xfrm>
            <a:off x="452909" y="34344"/>
            <a:ext cx="1244959" cy="579549"/>
          </a:xfrm>
          <a:prstGeom prst="can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Segoe UI Variable Display Semib" pitchFamily="2" charset="0"/>
              </a:rPr>
              <a:t>GameMetaDroid</a:t>
            </a:r>
            <a:endParaRPr lang="fi-FI" sz="1050" dirty="0">
              <a:latin typeface="Segoe UI Variable Display Semib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37501B-1F52-93D2-E7EF-B5D8154DD191}"/>
              </a:ext>
            </a:extLst>
          </p:cNvPr>
          <p:cNvSpPr/>
          <p:nvPr/>
        </p:nvSpPr>
        <p:spPr>
          <a:xfrm>
            <a:off x="2775393" y="1582498"/>
            <a:ext cx="929429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Binarize Variables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DE0B66-3DE0-EDA4-6685-C588EF4558A4}"/>
              </a:ext>
            </a:extLst>
          </p:cNvPr>
          <p:cNvCxnSpPr>
            <a:cxnSpLocks/>
            <a:stCxn id="100" idx="3"/>
            <a:endCxn id="20" idx="1"/>
          </p:cNvCxnSpPr>
          <p:nvPr/>
        </p:nvCxnSpPr>
        <p:spPr>
          <a:xfrm flipV="1">
            <a:off x="2653050" y="1824814"/>
            <a:ext cx="122343" cy="3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EC3C606-0B83-5409-9F24-1F1D9A37A464}"/>
              </a:ext>
            </a:extLst>
          </p:cNvPr>
          <p:cNvSpPr/>
          <p:nvPr/>
        </p:nvSpPr>
        <p:spPr>
          <a:xfrm>
            <a:off x="3812146" y="1579814"/>
            <a:ext cx="1506825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Construct Features x Outcome Pairs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CEF2B5-8F02-CF6D-97DE-86573397402A}"/>
              </a:ext>
            </a:extLst>
          </p:cNvPr>
          <p:cNvSpPr/>
          <p:nvPr/>
        </p:nvSpPr>
        <p:spPr>
          <a:xfrm>
            <a:off x="5430586" y="1577667"/>
            <a:ext cx="1541175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Build 2x2 Contingency Tables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EC329D-0F32-7951-A5A2-A5F8D7EA551C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 flipV="1">
            <a:off x="5318971" y="1819983"/>
            <a:ext cx="111615" cy="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13DB047-47FE-0EEB-E2EF-F745A1AD3AD8}"/>
              </a:ext>
            </a:extLst>
          </p:cNvPr>
          <p:cNvSpPr/>
          <p:nvPr/>
        </p:nvSpPr>
        <p:spPr>
          <a:xfrm>
            <a:off x="7098401" y="1575520"/>
            <a:ext cx="114837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Estimate probabilities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9B26CE3-5B07-5085-FFA0-0D0B880F5AB2}"/>
              </a:ext>
            </a:extLst>
          </p:cNvPr>
          <p:cNvCxnSpPr>
            <a:cxnSpLocks/>
            <a:stCxn id="42" idx="3"/>
            <a:endCxn id="48" idx="1"/>
          </p:cNvCxnSpPr>
          <p:nvPr/>
        </p:nvCxnSpPr>
        <p:spPr>
          <a:xfrm flipV="1">
            <a:off x="6971761" y="1817836"/>
            <a:ext cx="126640" cy="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D8AEFB0-1942-B623-CF78-90648DD679C9}"/>
              </a:ext>
            </a:extLst>
          </p:cNvPr>
          <p:cNvSpPr/>
          <p:nvPr/>
        </p:nvSpPr>
        <p:spPr>
          <a:xfrm>
            <a:off x="6619765" y="3211137"/>
            <a:ext cx="1558336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Estimate Difference in Proportions (</a:t>
            </a:r>
            <a:r>
              <a:rPr lang="el-GR" sz="1200" dirty="0">
                <a:latin typeface="Segoe UI Variable Display Semib" pitchFamily="2" charset="0"/>
                <a:cs typeface="Segoe UI Semibold" panose="020B0702040204020203" pitchFamily="34" charset="0"/>
              </a:rPr>
              <a:t>Δ</a:t>
            </a:r>
            <a:r>
              <a:rPr lang="fi-FI" sz="12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0DEAF53-F745-C207-943A-47D24691B81C}"/>
              </a:ext>
            </a:extLst>
          </p:cNvPr>
          <p:cNvSpPr/>
          <p:nvPr/>
        </p:nvSpPr>
        <p:spPr>
          <a:xfrm>
            <a:off x="6709911" y="3799271"/>
            <a:ext cx="1313645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Estimate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Odds Ratio (</a:t>
            </a:r>
            <a:r>
              <a:rPr lang="fi-FI" sz="1200" dirty="0">
                <a:latin typeface="Segoe UI Variable Display Semib" pitchFamily="2" charset="0"/>
              </a:rPr>
              <a:t>OR̂</a:t>
            </a:r>
            <a:r>
              <a:rPr lang="fi-FI" sz="12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2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D390557-D532-6F8F-BE3D-D0FC5A952462}"/>
              </a:ext>
            </a:extLst>
          </p:cNvPr>
          <p:cNvSpPr/>
          <p:nvPr/>
        </p:nvSpPr>
        <p:spPr>
          <a:xfrm>
            <a:off x="4735159" y="3211137"/>
            <a:ext cx="1768699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Evaluate Additive Interaction (</a:t>
            </a:r>
            <a:r>
              <a:rPr lang="el-GR" sz="12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2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43AF977-D204-E2B0-0CF3-716156FEA245}"/>
              </a:ext>
            </a:extLst>
          </p:cNvPr>
          <p:cNvSpPr/>
          <p:nvPr/>
        </p:nvSpPr>
        <p:spPr>
          <a:xfrm>
            <a:off x="4735151" y="3799271"/>
            <a:ext cx="1820214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Evaluate  Multiplicative Interaction (R</a:t>
            </a:r>
            <a:r>
              <a:rPr lang="fi-FI" sz="1200" dirty="0">
                <a:latin typeface="Segoe UI Variable Display Semib" pitchFamily="2" charset="0"/>
              </a:rPr>
              <a:t>OR̂</a:t>
            </a:r>
            <a:r>
              <a:rPr lang="fi-FI" sz="12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6B04DD2-1023-DA59-15F3-289E337AE104}"/>
              </a:ext>
            </a:extLst>
          </p:cNvPr>
          <p:cNvSpPr/>
          <p:nvPr/>
        </p:nvSpPr>
        <p:spPr>
          <a:xfrm>
            <a:off x="555941" y="840356"/>
            <a:ext cx="1038895" cy="4840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Define Variables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C1C66E3-692D-74E0-1A8F-90894C8F9941}"/>
              </a:ext>
            </a:extLst>
          </p:cNvPr>
          <p:cNvCxnSpPr>
            <a:cxnSpLocks/>
            <a:stCxn id="4" idx="3"/>
            <a:endCxn id="85" idx="0"/>
          </p:cNvCxnSpPr>
          <p:nvPr/>
        </p:nvCxnSpPr>
        <p:spPr>
          <a:xfrm>
            <a:off x="1075389" y="613893"/>
            <a:ext cx="0" cy="226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C3E61DDE-1E74-5BA9-A44E-9760981BA352}"/>
              </a:ext>
            </a:extLst>
          </p:cNvPr>
          <p:cNvSpPr/>
          <p:nvPr/>
        </p:nvSpPr>
        <p:spPr>
          <a:xfrm>
            <a:off x="1757969" y="1475711"/>
            <a:ext cx="815034" cy="3426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Success Outcomes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8EBB923-BFA5-765E-CA82-AA68BF8D231C}"/>
              </a:ext>
            </a:extLst>
          </p:cNvPr>
          <p:cNvSpPr/>
          <p:nvPr/>
        </p:nvSpPr>
        <p:spPr>
          <a:xfrm>
            <a:off x="1766555" y="1878173"/>
            <a:ext cx="804930" cy="3069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Features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BB7EB3E-684C-FDB6-99F1-A3B225791781}"/>
              </a:ext>
            </a:extLst>
          </p:cNvPr>
          <p:cNvSpPr/>
          <p:nvPr/>
        </p:nvSpPr>
        <p:spPr>
          <a:xfrm>
            <a:off x="1678549" y="1369459"/>
            <a:ext cx="974501" cy="9186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2877D20-69C9-D33E-F009-A0E25D2E41C5}"/>
              </a:ext>
            </a:extLst>
          </p:cNvPr>
          <p:cNvCxnSpPr>
            <a:cxnSpLocks/>
            <a:stCxn id="20" idx="3"/>
            <a:endCxn id="37" idx="1"/>
          </p:cNvCxnSpPr>
          <p:nvPr/>
        </p:nvCxnSpPr>
        <p:spPr>
          <a:xfrm flipV="1">
            <a:off x="3704822" y="1822130"/>
            <a:ext cx="107324" cy="2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D47146B-FA7B-C7CF-640C-456A712392CE}"/>
              </a:ext>
            </a:extLst>
          </p:cNvPr>
          <p:cNvCxnSpPr>
            <a:cxnSpLocks/>
            <a:stCxn id="52" idx="1"/>
            <a:endCxn id="75" idx="3"/>
          </p:cNvCxnSpPr>
          <p:nvPr/>
        </p:nvCxnSpPr>
        <p:spPr>
          <a:xfrm flipH="1">
            <a:off x="6503858" y="3453453"/>
            <a:ext cx="1159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Diamond 165">
            <a:extLst>
              <a:ext uri="{FF2B5EF4-FFF2-40B4-BE49-F238E27FC236}">
                <a16:creationId xmlns:a16="http://schemas.microsoft.com/office/drawing/2014/main" id="{74F77B7A-D6A1-AABB-232D-0DB9C747EC35}"/>
              </a:ext>
            </a:extLst>
          </p:cNvPr>
          <p:cNvSpPr/>
          <p:nvPr/>
        </p:nvSpPr>
        <p:spPr>
          <a:xfrm>
            <a:off x="2768981" y="3610240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E75E8F7-4735-E41C-D63A-F5D2BF94D3C1}"/>
              </a:ext>
            </a:extLst>
          </p:cNvPr>
          <p:cNvCxnSpPr>
            <a:cxnSpLocks/>
            <a:stCxn id="53" idx="1"/>
            <a:endCxn id="76" idx="3"/>
          </p:cNvCxnSpPr>
          <p:nvPr/>
        </p:nvCxnSpPr>
        <p:spPr>
          <a:xfrm flipH="1">
            <a:off x="6555365" y="4041587"/>
            <a:ext cx="1545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653CB975-A2B5-8B34-B4D5-9A20B96DA686}"/>
              </a:ext>
            </a:extLst>
          </p:cNvPr>
          <p:cNvSpPr/>
          <p:nvPr/>
        </p:nvSpPr>
        <p:spPr>
          <a:xfrm rot="10800000">
            <a:off x="4529086" y="3348508"/>
            <a:ext cx="154546" cy="802785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58869BEA-71E2-4329-E800-DC5803F0CC2F}"/>
              </a:ext>
            </a:extLst>
          </p:cNvPr>
          <p:cNvSpPr/>
          <p:nvPr/>
        </p:nvSpPr>
        <p:spPr>
          <a:xfrm>
            <a:off x="3535259" y="3533064"/>
            <a:ext cx="856456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Compute 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95 % CI</a:t>
            </a:r>
            <a:endParaRPr lang="fi-FI" sz="12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866E5569-E294-4A4E-9D88-53453D871691}"/>
              </a:ext>
            </a:extLst>
          </p:cNvPr>
          <p:cNvSpPr txBox="1"/>
          <p:nvPr/>
        </p:nvSpPr>
        <p:spPr>
          <a:xfrm>
            <a:off x="922987" y="3252627"/>
            <a:ext cx="955081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Not Significant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756F6FB-5C94-32BA-51FA-4EC777A1BE93}"/>
              </a:ext>
            </a:extLst>
          </p:cNvPr>
          <p:cNvSpPr txBox="1"/>
          <p:nvPr/>
        </p:nvSpPr>
        <p:spPr>
          <a:xfrm>
            <a:off x="1888922" y="3251879"/>
            <a:ext cx="1519691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Includes null value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E2252CC9-749C-E98D-AFAE-235019027585}"/>
              </a:ext>
            </a:extLst>
          </p:cNvPr>
          <p:cNvSpPr/>
          <p:nvPr/>
        </p:nvSpPr>
        <p:spPr>
          <a:xfrm>
            <a:off x="929774" y="3819059"/>
            <a:ext cx="96559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Significant</a:t>
            </a:r>
            <a:endParaRPr lang="fi-FI" sz="1200" dirty="0">
              <a:latin typeface="Segoe UI Variable Display Semib" pitchFamily="2" charset="0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D5D97B8C-F8A2-8458-095F-93F56AB08313}"/>
              </a:ext>
            </a:extLst>
          </p:cNvPr>
          <p:cNvSpPr txBox="1"/>
          <p:nvPr/>
        </p:nvSpPr>
        <p:spPr>
          <a:xfrm>
            <a:off x="1942584" y="4043929"/>
            <a:ext cx="1500373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excludes null value</a:t>
            </a:r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0BA16A9E-3A91-E43A-3754-1570449DF214}"/>
              </a:ext>
            </a:extLst>
          </p:cNvPr>
          <p:cNvCxnSpPr>
            <a:cxnSpLocks/>
            <a:stCxn id="327" idx="1"/>
            <a:endCxn id="338" idx="1"/>
          </p:cNvCxnSpPr>
          <p:nvPr/>
        </p:nvCxnSpPr>
        <p:spPr>
          <a:xfrm rot="10800000" flipH="1" flipV="1">
            <a:off x="929774" y="4061375"/>
            <a:ext cx="162782" cy="1034374"/>
          </a:xfrm>
          <a:prstGeom prst="bentConnector3">
            <a:avLst>
              <a:gd name="adj1" fmla="val -140433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8" name="Rectangle 337">
            <a:extLst>
              <a:ext uri="{FF2B5EF4-FFF2-40B4-BE49-F238E27FC236}">
                <a16:creationId xmlns:a16="http://schemas.microsoft.com/office/drawing/2014/main" id="{64DC907D-AB1D-C50C-C495-3FF5C58EDFD9}"/>
              </a:ext>
            </a:extLst>
          </p:cNvPr>
          <p:cNvSpPr/>
          <p:nvPr/>
        </p:nvSpPr>
        <p:spPr>
          <a:xfrm>
            <a:off x="1092556" y="4853433"/>
            <a:ext cx="1204177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Interpret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Interactions</a:t>
            </a:r>
            <a:endParaRPr lang="fi-FI" sz="1200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587EC326-1B54-FFF1-4898-998E4C3F4DF8}"/>
              </a:ext>
            </a:extLst>
          </p:cNvPr>
          <p:cNvSpPr txBox="1"/>
          <p:nvPr/>
        </p:nvSpPr>
        <p:spPr>
          <a:xfrm>
            <a:off x="3039425" y="5429409"/>
            <a:ext cx="1682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= 0 )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03443C18-7F4D-56CC-CFB5-2CFF836C9888}"/>
              </a:ext>
            </a:extLst>
          </p:cNvPr>
          <p:cNvSpPr txBox="1"/>
          <p:nvPr/>
        </p:nvSpPr>
        <p:spPr>
          <a:xfrm>
            <a:off x="3020107" y="6084082"/>
            <a:ext cx="1809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&lt; 0 )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A4D485D-1992-B720-C5D3-4F16F6F4BEA7}"/>
              </a:ext>
            </a:extLst>
          </p:cNvPr>
          <p:cNvSpPr txBox="1"/>
          <p:nvPr/>
        </p:nvSpPr>
        <p:spPr>
          <a:xfrm>
            <a:off x="3073768" y="4806931"/>
            <a:ext cx="1828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&gt; 0 )</a:t>
            </a:r>
          </a:p>
        </p:txBody>
      </p: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43D25665-9185-421B-2A3D-CC8ABAF6169A}"/>
              </a:ext>
            </a:extLst>
          </p:cNvPr>
          <p:cNvCxnSpPr>
            <a:cxnSpLocks/>
            <a:stCxn id="222" idx="1"/>
            <a:endCxn id="166" idx="3"/>
          </p:cNvCxnSpPr>
          <p:nvPr/>
        </p:nvCxnSpPr>
        <p:spPr>
          <a:xfrm flipH="1">
            <a:off x="3129589" y="3775380"/>
            <a:ext cx="405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6" name="Connector: Elbow 425">
            <a:extLst>
              <a:ext uri="{FF2B5EF4-FFF2-40B4-BE49-F238E27FC236}">
                <a16:creationId xmlns:a16="http://schemas.microsoft.com/office/drawing/2014/main" id="{AD48EC2F-EBD3-A03E-0EC7-082D85BB34D4}"/>
              </a:ext>
            </a:extLst>
          </p:cNvPr>
          <p:cNvCxnSpPr>
            <a:cxnSpLocks/>
            <a:stCxn id="166" idx="2"/>
            <a:endCxn id="327" idx="3"/>
          </p:cNvCxnSpPr>
          <p:nvPr/>
        </p:nvCxnSpPr>
        <p:spPr>
          <a:xfrm rot="5400000">
            <a:off x="2361898" y="3473987"/>
            <a:ext cx="120855" cy="105392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5" name="TextBox 494">
            <a:extLst>
              <a:ext uri="{FF2B5EF4-FFF2-40B4-BE49-F238E27FC236}">
                <a16:creationId xmlns:a16="http://schemas.microsoft.com/office/drawing/2014/main" id="{0748673E-00CF-6716-3CE3-2C48EDB45426}"/>
              </a:ext>
            </a:extLst>
          </p:cNvPr>
          <p:cNvSpPr txBox="1"/>
          <p:nvPr/>
        </p:nvSpPr>
        <p:spPr>
          <a:xfrm>
            <a:off x="4782366" y="4808975"/>
            <a:ext cx="1145423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200" dirty="0">
                <a:latin typeface="Segoe UI Variable Display Semib" pitchFamily="2" charset="0"/>
              </a:rPr>
              <a:t>Synergistic </a:t>
            </a:r>
          </a:p>
          <a:p>
            <a:pPr algn="ctr"/>
            <a:r>
              <a:rPr lang="fi-FI" sz="1200" dirty="0">
                <a:latin typeface="Segoe UI Variable Display Semib" pitchFamily="2" charset="0"/>
              </a:rPr>
              <a:t>(Reinforcing)</a:t>
            </a:r>
            <a:endParaRPr lang="en-US" sz="12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521" name="Connector: Elbow 520">
            <a:extLst>
              <a:ext uri="{FF2B5EF4-FFF2-40B4-BE49-F238E27FC236}">
                <a16:creationId xmlns:a16="http://schemas.microsoft.com/office/drawing/2014/main" id="{3733622A-BB32-674D-86A8-B70F662CBD84}"/>
              </a:ext>
            </a:extLst>
          </p:cNvPr>
          <p:cNvCxnSpPr>
            <a:cxnSpLocks/>
            <a:stCxn id="166" idx="0"/>
            <a:endCxn id="257" idx="3"/>
          </p:cNvCxnSpPr>
          <p:nvPr/>
        </p:nvCxnSpPr>
        <p:spPr>
          <a:xfrm rot="16200000" flipV="1">
            <a:off x="2350287" y="3011241"/>
            <a:ext cx="126780" cy="107121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3" name="Rectangle 552">
            <a:extLst>
              <a:ext uri="{FF2B5EF4-FFF2-40B4-BE49-F238E27FC236}">
                <a16:creationId xmlns:a16="http://schemas.microsoft.com/office/drawing/2014/main" id="{79408A18-97B0-D1BB-6C51-3BB704269EE8}"/>
              </a:ext>
            </a:extLst>
          </p:cNvPr>
          <p:cNvSpPr/>
          <p:nvPr/>
        </p:nvSpPr>
        <p:spPr>
          <a:xfrm>
            <a:off x="5971500" y="2316055"/>
            <a:ext cx="1566938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Assess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 effects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B4FE7AF-7DD3-5299-0555-1068E1980E3B}"/>
              </a:ext>
            </a:extLst>
          </p:cNvPr>
          <p:cNvCxnSpPr>
            <a:cxnSpLocks/>
            <a:stCxn id="114" idx="0"/>
            <a:endCxn id="495" idx="1"/>
          </p:cNvCxnSpPr>
          <p:nvPr/>
        </p:nvCxnSpPr>
        <p:spPr>
          <a:xfrm rot="5400000" flipH="1" flipV="1">
            <a:off x="3611403" y="4354085"/>
            <a:ext cx="485240" cy="185668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14D2E4D-9D17-7ABC-0C69-69FA618E09F7}"/>
              </a:ext>
            </a:extLst>
          </p:cNvPr>
          <p:cNvSpPr txBox="1"/>
          <p:nvPr/>
        </p:nvSpPr>
        <p:spPr>
          <a:xfrm>
            <a:off x="4765195" y="5459355"/>
            <a:ext cx="122894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200" dirty="0">
                <a:latin typeface="Segoe UI Variable Display Semib" pitchFamily="2" charset="0"/>
              </a:rPr>
              <a:t>No Interaction (Independent)</a:t>
            </a:r>
            <a:endParaRPr lang="en-US" sz="12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88A5-2BCA-D3F2-3DBC-BEB3F302206D}"/>
              </a:ext>
            </a:extLst>
          </p:cNvPr>
          <p:cNvSpPr txBox="1"/>
          <p:nvPr/>
        </p:nvSpPr>
        <p:spPr>
          <a:xfrm>
            <a:off x="4793099" y="6085334"/>
            <a:ext cx="1182709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200" dirty="0">
                <a:latin typeface="Segoe UI Variable Display Semib" pitchFamily="2" charset="0"/>
              </a:rPr>
              <a:t>Antagonistic (Weakening)</a:t>
            </a:r>
            <a:endParaRPr lang="en-US" sz="12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8DF31FE-1EDE-1102-1D64-E5C8044DEC77}"/>
              </a:ext>
            </a:extLst>
          </p:cNvPr>
          <p:cNvCxnSpPr>
            <a:cxnSpLocks/>
            <a:stCxn id="114" idx="2"/>
            <a:endCxn id="24" idx="1"/>
          </p:cNvCxnSpPr>
          <p:nvPr/>
        </p:nvCxnSpPr>
        <p:spPr>
          <a:xfrm rot="16200000" flipH="1">
            <a:off x="3628970" y="5152037"/>
            <a:ext cx="460839" cy="186741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98F6BED-2C0F-AEDC-9E9F-8B7199D15551}"/>
              </a:ext>
            </a:extLst>
          </p:cNvPr>
          <p:cNvSpPr/>
          <p:nvPr/>
        </p:nvSpPr>
        <p:spPr>
          <a:xfrm>
            <a:off x="4496891" y="3108105"/>
            <a:ext cx="3745605" cy="131364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0C8563-3753-C6ED-737A-D6DEF466A38B}"/>
              </a:ext>
            </a:extLst>
          </p:cNvPr>
          <p:cNvCxnSpPr>
            <a:cxnSpLocks/>
            <a:stCxn id="114" idx="3"/>
            <a:endCxn id="15" idx="1"/>
          </p:cNvCxnSpPr>
          <p:nvPr/>
        </p:nvCxnSpPr>
        <p:spPr>
          <a:xfrm>
            <a:off x="3105984" y="5690188"/>
            <a:ext cx="16592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Diamond 113">
            <a:extLst>
              <a:ext uri="{FF2B5EF4-FFF2-40B4-BE49-F238E27FC236}">
                <a16:creationId xmlns:a16="http://schemas.microsoft.com/office/drawing/2014/main" id="{5F22066A-EAC1-4BF9-B795-C18961350BB9}"/>
              </a:ext>
            </a:extLst>
          </p:cNvPr>
          <p:cNvSpPr/>
          <p:nvPr/>
        </p:nvSpPr>
        <p:spPr>
          <a:xfrm>
            <a:off x="2745376" y="5525048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974BF0F4-2316-5E24-D852-A2670958A62E}"/>
              </a:ext>
            </a:extLst>
          </p:cNvPr>
          <p:cNvCxnSpPr>
            <a:cxnSpLocks/>
            <a:stCxn id="338" idx="2"/>
            <a:endCxn id="114" idx="1"/>
          </p:cNvCxnSpPr>
          <p:nvPr/>
        </p:nvCxnSpPr>
        <p:spPr>
          <a:xfrm rot="16200000" flipH="1">
            <a:off x="2043949" y="4988760"/>
            <a:ext cx="352123" cy="105073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Connector: Elbow 193">
            <a:extLst>
              <a:ext uri="{FF2B5EF4-FFF2-40B4-BE49-F238E27FC236}">
                <a16:creationId xmlns:a16="http://schemas.microsoft.com/office/drawing/2014/main" id="{E76D969D-FCB6-6783-1036-B2DE09FDF6BC}"/>
              </a:ext>
            </a:extLst>
          </p:cNvPr>
          <p:cNvCxnSpPr>
            <a:cxnSpLocks/>
            <a:stCxn id="48" idx="3"/>
            <a:endCxn id="553" idx="0"/>
          </p:cNvCxnSpPr>
          <p:nvPr/>
        </p:nvCxnSpPr>
        <p:spPr>
          <a:xfrm flipH="1">
            <a:off x="6754969" y="1817836"/>
            <a:ext cx="1491803" cy="498219"/>
          </a:xfrm>
          <a:prstGeom prst="bentConnector4">
            <a:avLst>
              <a:gd name="adj1" fmla="val -15324"/>
              <a:gd name="adj2" fmla="val 74318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13B38A60-8D4A-289E-F28A-5A734522557D}"/>
              </a:ext>
            </a:extLst>
          </p:cNvPr>
          <p:cNvCxnSpPr>
            <a:cxnSpLocks/>
            <a:stCxn id="553" idx="2"/>
            <a:endCxn id="33" idx="0"/>
          </p:cNvCxnSpPr>
          <p:nvPr/>
        </p:nvCxnSpPr>
        <p:spPr>
          <a:xfrm rot="5400000">
            <a:off x="6408623" y="2761759"/>
            <a:ext cx="307418" cy="38527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Connector: Elbow 279">
            <a:extLst>
              <a:ext uri="{FF2B5EF4-FFF2-40B4-BE49-F238E27FC236}">
                <a16:creationId xmlns:a16="http://schemas.microsoft.com/office/drawing/2014/main" id="{9CC0041C-D684-1989-C096-088D80FB4505}"/>
              </a:ext>
            </a:extLst>
          </p:cNvPr>
          <p:cNvCxnSpPr>
            <a:cxnSpLocks/>
            <a:stCxn id="85" idx="2"/>
            <a:endCxn id="100" idx="1"/>
          </p:cNvCxnSpPr>
          <p:nvPr/>
        </p:nvCxnSpPr>
        <p:spPr>
          <a:xfrm rot="16200000" flipH="1">
            <a:off x="1124759" y="1275016"/>
            <a:ext cx="504420" cy="60316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480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Rating icon | Premium Vector">
            <a:extLst>
              <a:ext uri="{FF2B5EF4-FFF2-40B4-BE49-F238E27FC236}">
                <a16:creationId xmlns:a16="http://schemas.microsoft.com/office/drawing/2014/main" id="{6864C764-0308-51C0-0420-AEAF4A924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017" y="1007770"/>
            <a:ext cx="356316" cy="35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AD0523-B0F0-FEE6-E773-14C75A6377A6}"/>
              </a:ext>
            </a:extLst>
          </p:cNvPr>
          <p:cNvSpPr/>
          <p:nvPr/>
        </p:nvSpPr>
        <p:spPr>
          <a:xfrm>
            <a:off x="480811" y="416415"/>
            <a:ext cx="11277600" cy="574397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028" name="Picture 4" descr="Database - Free technology icons">
            <a:extLst>
              <a:ext uri="{FF2B5EF4-FFF2-40B4-BE49-F238E27FC236}">
                <a16:creationId xmlns:a16="http://schemas.microsoft.com/office/drawing/2014/main" id="{050C9278-14A8-5AF3-10F9-602D2BE95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91" y="1080752"/>
            <a:ext cx="352021" cy="35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FE206-A496-8E0E-E768-D2D96794968F}"/>
              </a:ext>
            </a:extLst>
          </p:cNvPr>
          <p:cNvSpPr txBox="1"/>
          <p:nvPr/>
        </p:nvSpPr>
        <p:spPr>
          <a:xfrm>
            <a:off x="558084" y="1420900"/>
            <a:ext cx="91010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Segoe UI Variable Display Semib" pitchFamily="2" charset="0"/>
                <a:ea typeface="Microsoft YaHei UI" panose="020B0503020204020204" pitchFamily="34" charset="-122"/>
              </a:rPr>
              <a:t>GameMetaDroid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571564-C3E5-CF13-FE20-CC92FCE480B7}"/>
              </a:ext>
            </a:extLst>
          </p:cNvPr>
          <p:cNvSpPr/>
          <p:nvPr/>
        </p:nvSpPr>
        <p:spPr>
          <a:xfrm>
            <a:off x="2856976" y="924595"/>
            <a:ext cx="815034" cy="3426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Success Outcomes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5485B1-E612-5130-4524-2DDF37A81A02}"/>
              </a:ext>
            </a:extLst>
          </p:cNvPr>
          <p:cNvSpPr/>
          <p:nvPr/>
        </p:nvSpPr>
        <p:spPr>
          <a:xfrm>
            <a:off x="2839806" y="1474636"/>
            <a:ext cx="804930" cy="3069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Features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F14659-6EF9-C857-EF28-B7A184CB58C2}"/>
              </a:ext>
            </a:extLst>
          </p:cNvPr>
          <p:cNvCxnSpPr>
            <a:cxnSpLocks/>
          </p:cNvCxnSpPr>
          <p:nvPr/>
        </p:nvCxnSpPr>
        <p:spPr>
          <a:xfrm flipV="1">
            <a:off x="2434117" y="1090412"/>
            <a:ext cx="390660" cy="167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6ECFEF-D3F6-47E5-CE3C-F5B809391B8C}"/>
              </a:ext>
            </a:extLst>
          </p:cNvPr>
          <p:cNvCxnSpPr>
            <a:cxnSpLocks/>
          </p:cNvCxnSpPr>
          <p:nvPr/>
        </p:nvCxnSpPr>
        <p:spPr>
          <a:xfrm>
            <a:off x="2404067" y="1360868"/>
            <a:ext cx="382072" cy="209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C46C78A-9161-332D-2832-D5FA2C2DA47B}"/>
              </a:ext>
            </a:extLst>
          </p:cNvPr>
          <p:cNvSpPr/>
          <p:nvPr/>
        </p:nvSpPr>
        <p:spPr>
          <a:xfrm>
            <a:off x="631066" y="729802"/>
            <a:ext cx="5490692" cy="1214908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EE9158-DDC3-7200-23AA-3082F715847F}"/>
              </a:ext>
            </a:extLst>
          </p:cNvPr>
          <p:cNvSpPr txBox="1"/>
          <p:nvPr/>
        </p:nvSpPr>
        <p:spPr>
          <a:xfrm>
            <a:off x="2279581" y="495837"/>
            <a:ext cx="2264514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Yu Gothic UI Light" panose="020B0300000000000000" pitchFamily="34" charset="-128"/>
                <a:cs typeface="Segoe UI Semibold" panose="020B0702040204020203" pitchFamily="34" charset="0"/>
              </a:rPr>
              <a:t>Step 1 : Data Preparations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B4725D-96F6-C088-1E59-81B5405699C2}"/>
              </a:ext>
            </a:extLst>
          </p:cNvPr>
          <p:cNvSpPr/>
          <p:nvPr/>
        </p:nvSpPr>
        <p:spPr>
          <a:xfrm>
            <a:off x="6538175" y="738388"/>
            <a:ext cx="4911146" cy="1219201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C04CE-1893-2E3E-B8A4-6064DBB8C404}"/>
              </a:ext>
            </a:extLst>
          </p:cNvPr>
          <p:cNvSpPr txBox="1"/>
          <p:nvPr/>
        </p:nvSpPr>
        <p:spPr>
          <a:xfrm>
            <a:off x="7690852" y="485105"/>
            <a:ext cx="293851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Yu Gothic UI Light" panose="020B0300000000000000" pitchFamily="34" charset="-128"/>
                <a:cs typeface="Segoe UI Semibold" panose="020B0702040204020203" pitchFamily="34" charset="0"/>
              </a:rPr>
              <a:t>Step 2 : Create Features - Outcome Pairs</a:t>
            </a:r>
            <a:endParaRPr lang="fi-FI" sz="1100" dirty="0">
              <a:latin typeface="Segoe UI Variable Display Semib" pitchFamily="2" charset="0"/>
              <a:ea typeface="Yu Gothic UI Light" panose="020B0300000000000000" pitchFamily="34" charset="-128"/>
              <a:cs typeface="Segoe UI Semibold" panose="020B0702040204020203" pitchFamily="34" charset="0"/>
            </a:endParaRPr>
          </a:p>
          <a:p>
            <a:pPr algn="ctr"/>
            <a:endParaRPr lang="en-US" sz="1100" dirty="0">
              <a:latin typeface="Segoe UI Variable Display Semib" pitchFamily="2" charset="0"/>
              <a:ea typeface="Yu Gothic UI Light" panose="020B0300000000000000" pitchFamily="34" charset="-128"/>
              <a:cs typeface="Segoe UI Semibold" panose="020B07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CEEA15-7F56-E563-838F-674435ACC2D0}"/>
              </a:ext>
            </a:extLst>
          </p:cNvPr>
          <p:cNvSpPr txBox="1"/>
          <p:nvPr/>
        </p:nvSpPr>
        <p:spPr>
          <a:xfrm>
            <a:off x="4016070" y="869256"/>
            <a:ext cx="1062500" cy="234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Installs count</a:t>
            </a:r>
          </a:p>
        </p:txBody>
      </p:sp>
      <p:pic>
        <p:nvPicPr>
          <p:cNvPr id="1032" name="Picture 8" descr="Download Symbol Icons - Free SVG &amp; PNG Download Symbol Images - Noun Project">
            <a:extLst>
              <a:ext uri="{FF2B5EF4-FFF2-40B4-BE49-F238E27FC236}">
                <a16:creationId xmlns:a16="http://schemas.microsoft.com/office/drawing/2014/main" id="{E203DE82-5FE8-4B5E-50D9-DC1123121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657" y="858592"/>
            <a:ext cx="252211" cy="252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E6D221C0-352A-93FC-9A62-1CCBE0690C22}"/>
              </a:ext>
            </a:extLst>
          </p:cNvPr>
          <p:cNvSpPr txBox="1"/>
          <p:nvPr/>
        </p:nvSpPr>
        <p:spPr>
          <a:xfrm>
            <a:off x="4074027" y="1068879"/>
            <a:ext cx="8585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User ratings </a:t>
            </a:r>
          </a:p>
        </p:txBody>
      </p:sp>
      <p:sp>
        <p:nvSpPr>
          <p:cNvPr id="1029" name="AutoShape 14" descr="Gui Review Vector SVG Icon - SVG Repo">
            <a:extLst>
              <a:ext uri="{FF2B5EF4-FFF2-40B4-BE49-F238E27FC236}">
                <a16:creationId xmlns:a16="http://schemas.microsoft.com/office/drawing/2014/main" id="{7363B72A-D2AA-39E0-9F21-F0BFB413AE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78991" y="17096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C08880A2-603D-2BA8-B158-3083BA24CFD7}"/>
              </a:ext>
            </a:extLst>
          </p:cNvPr>
          <p:cNvSpPr txBox="1"/>
          <p:nvPr/>
        </p:nvSpPr>
        <p:spPr>
          <a:xfrm>
            <a:off x="4099786" y="1347920"/>
            <a:ext cx="9830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Game Features</a:t>
            </a:r>
          </a:p>
          <a:p>
            <a:pPr algn="ctr"/>
            <a:r>
              <a:rPr lang="en-US" sz="600" dirty="0">
                <a:latin typeface="Segoe UI Variable Display Semib" pitchFamily="2" charset="0"/>
                <a:ea typeface="Microsoft YaHei UI" panose="020B0503020204020204" pitchFamily="34" charset="-122"/>
              </a:rPr>
              <a:t>(f1, f2,f3…. </a:t>
            </a:r>
            <a:r>
              <a:rPr lang="en-US" sz="600" dirty="0" err="1">
                <a:latin typeface="Segoe UI Variable Display Semib" pitchFamily="2" charset="0"/>
                <a:ea typeface="Microsoft YaHei UI" panose="020B0503020204020204" pitchFamily="34" charset="-122"/>
              </a:rPr>
              <a:t>fn</a:t>
            </a:r>
            <a:r>
              <a:rPr lang="en-US" sz="6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D142CB74-E80A-5B74-E37F-8F20060E0AAF}"/>
              </a:ext>
            </a:extLst>
          </p:cNvPr>
          <p:cNvSpPr txBox="1"/>
          <p:nvPr/>
        </p:nvSpPr>
        <p:spPr>
          <a:xfrm>
            <a:off x="4097636" y="1603351"/>
            <a:ext cx="8907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Countries</a:t>
            </a:r>
          </a:p>
          <a:p>
            <a:pPr algn="ctr"/>
            <a:r>
              <a:rPr lang="en-US" sz="600" dirty="0">
                <a:latin typeface="Segoe UI Variable Display Semib" pitchFamily="2" charset="0"/>
                <a:ea typeface="Microsoft YaHei UI" panose="020B0503020204020204" pitchFamily="34" charset="-122"/>
              </a:rPr>
              <a:t>(c1, c2,…c10)</a:t>
            </a:r>
          </a:p>
        </p:txBody>
      </p:sp>
      <p:pic>
        <p:nvPicPr>
          <p:cNvPr id="1050" name="Picture 26" descr="World Globe B&amp;w Clip Art at Clker.com - vector clip art online, royalty free  &amp; public domain">
            <a:extLst>
              <a:ext uri="{FF2B5EF4-FFF2-40B4-BE49-F238E27FC236}">
                <a16:creationId xmlns:a16="http://schemas.microsoft.com/office/drawing/2014/main" id="{025B51A7-F454-FFF5-69A6-B20852B4B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622" y="1648495"/>
            <a:ext cx="174112" cy="1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4655825-6072-8191-6B11-51D4FB0D88B2}"/>
              </a:ext>
            </a:extLst>
          </p:cNvPr>
          <p:cNvCxnSpPr>
            <a:cxnSpLocks/>
          </p:cNvCxnSpPr>
          <p:nvPr/>
        </p:nvCxnSpPr>
        <p:spPr>
          <a:xfrm>
            <a:off x="3743470" y="1073240"/>
            <a:ext cx="1760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F5566108-9AE5-0A97-7FE5-C7B419F796C7}"/>
              </a:ext>
            </a:extLst>
          </p:cNvPr>
          <p:cNvCxnSpPr>
            <a:cxnSpLocks/>
          </p:cNvCxnSpPr>
          <p:nvPr/>
        </p:nvCxnSpPr>
        <p:spPr>
          <a:xfrm>
            <a:off x="3706980" y="1633471"/>
            <a:ext cx="1760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6" name="AutoShape 34" descr="Game Console Clipart Vector, Game Console Game Icon, Game Icons, Console  Icons, Game PNG Image For Free Download">
            <a:extLst>
              <a:ext uri="{FF2B5EF4-FFF2-40B4-BE49-F238E27FC236}">
                <a16:creationId xmlns:a16="http://schemas.microsoft.com/office/drawing/2014/main" id="{6689A43D-B48B-1B91-73BD-8A57E3234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31391" y="18620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068" name="AutoShape 38" descr="Games Line Icon Vector, Games Icon, App, Entertainment PNG and Vector with Transparent  Background for Free Download">
            <a:extLst>
              <a:ext uri="{FF2B5EF4-FFF2-40B4-BE49-F238E27FC236}">
                <a16:creationId xmlns:a16="http://schemas.microsoft.com/office/drawing/2014/main" id="{1DB458E2-E8AC-7750-572B-B1323127C7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983791" y="20144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pic>
        <p:nvPicPr>
          <p:cNvPr id="1069" name="Picture 40" descr="Gaming - Free gaming icons">
            <a:extLst>
              <a:ext uri="{FF2B5EF4-FFF2-40B4-BE49-F238E27FC236}">
                <a16:creationId xmlns:a16="http://schemas.microsoft.com/office/drawing/2014/main" id="{AA80802E-416C-416F-E88D-7790522F3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773" y="1407017"/>
            <a:ext cx="261870" cy="26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0" name="Right Brace 1069">
            <a:extLst>
              <a:ext uri="{FF2B5EF4-FFF2-40B4-BE49-F238E27FC236}">
                <a16:creationId xmlns:a16="http://schemas.microsoft.com/office/drawing/2014/main" id="{1990828C-D639-E9E4-610F-585C228536C3}"/>
              </a:ext>
            </a:extLst>
          </p:cNvPr>
          <p:cNvSpPr/>
          <p:nvPr/>
        </p:nvSpPr>
        <p:spPr>
          <a:xfrm>
            <a:off x="4992721" y="1021723"/>
            <a:ext cx="171718" cy="66540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71" name="Rectangle: Rounded Corners 1070">
            <a:extLst>
              <a:ext uri="{FF2B5EF4-FFF2-40B4-BE49-F238E27FC236}">
                <a16:creationId xmlns:a16="http://schemas.microsoft.com/office/drawing/2014/main" id="{649762B1-10BB-EA61-3095-BB9953030F36}"/>
              </a:ext>
            </a:extLst>
          </p:cNvPr>
          <p:cNvSpPr/>
          <p:nvPr/>
        </p:nvSpPr>
        <p:spPr>
          <a:xfrm>
            <a:off x="5224542" y="1184319"/>
            <a:ext cx="815034" cy="3426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Binarize 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Variables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074" name="Rectangle: Rounded Corners 1073">
            <a:extLst>
              <a:ext uri="{FF2B5EF4-FFF2-40B4-BE49-F238E27FC236}">
                <a16:creationId xmlns:a16="http://schemas.microsoft.com/office/drawing/2014/main" id="{67822EAB-961F-7744-5FAA-AE4C9E16B805}"/>
              </a:ext>
            </a:extLst>
          </p:cNvPr>
          <p:cNvSpPr/>
          <p:nvPr/>
        </p:nvSpPr>
        <p:spPr>
          <a:xfrm>
            <a:off x="1549759" y="1111339"/>
            <a:ext cx="815034" cy="3426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Define Variables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F052E451-1E10-D803-A532-B09901D3C923}"/>
              </a:ext>
            </a:extLst>
          </p:cNvPr>
          <p:cNvCxnSpPr>
            <a:cxnSpLocks/>
          </p:cNvCxnSpPr>
          <p:nvPr/>
        </p:nvCxnSpPr>
        <p:spPr>
          <a:xfrm>
            <a:off x="1221357" y="1268570"/>
            <a:ext cx="233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7" name="Rectangle: Rounded Corners 1076">
            <a:extLst>
              <a:ext uri="{FF2B5EF4-FFF2-40B4-BE49-F238E27FC236}">
                <a16:creationId xmlns:a16="http://schemas.microsoft.com/office/drawing/2014/main" id="{46BAA9EB-095C-2C9E-C256-1A5964C5C8E6}"/>
              </a:ext>
            </a:extLst>
          </p:cNvPr>
          <p:cNvSpPr/>
          <p:nvPr/>
        </p:nvSpPr>
        <p:spPr>
          <a:xfrm>
            <a:off x="9139710" y="1036211"/>
            <a:ext cx="502276" cy="2345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f1, f2</a:t>
            </a:r>
          </a:p>
        </p:txBody>
      </p:sp>
      <p:sp>
        <p:nvSpPr>
          <p:cNvPr id="1079" name="Rectangle: Rounded Corners 1078">
            <a:extLst>
              <a:ext uri="{FF2B5EF4-FFF2-40B4-BE49-F238E27FC236}">
                <a16:creationId xmlns:a16="http://schemas.microsoft.com/office/drawing/2014/main" id="{078955D0-48CD-DE86-8081-92E9D11C4452}"/>
              </a:ext>
            </a:extLst>
          </p:cNvPr>
          <p:cNvSpPr/>
          <p:nvPr/>
        </p:nvSpPr>
        <p:spPr>
          <a:xfrm>
            <a:off x="9912456" y="922449"/>
            <a:ext cx="635345" cy="1980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Installs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091" name="Rectangle: Rounded Corners 1090">
            <a:extLst>
              <a:ext uri="{FF2B5EF4-FFF2-40B4-BE49-F238E27FC236}">
                <a16:creationId xmlns:a16="http://schemas.microsoft.com/office/drawing/2014/main" id="{9A936EAB-6311-2EEA-7E61-86A3467A8753}"/>
              </a:ext>
            </a:extLst>
          </p:cNvPr>
          <p:cNvSpPr/>
          <p:nvPr/>
        </p:nvSpPr>
        <p:spPr>
          <a:xfrm>
            <a:off x="9918895" y="1203638"/>
            <a:ext cx="635345" cy="1980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Ratings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86783AAC-F43F-0922-0453-16CC8CA389ED}"/>
              </a:ext>
            </a:extLst>
          </p:cNvPr>
          <p:cNvCxnSpPr>
            <a:cxnSpLocks/>
          </p:cNvCxnSpPr>
          <p:nvPr/>
        </p:nvCxnSpPr>
        <p:spPr>
          <a:xfrm flipV="1">
            <a:off x="9667743" y="1038896"/>
            <a:ext cx="197476" cy="103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8" name="Straight Arrow Connector 1107">
            <a:extLst>
              <a:ext uri="{FF2B5EF4-FFF2-40B4-BE49-F238E27FC236}">
                <a16:creationId xmlns:a16="http://schemas.microsoft.com/office/drawing/2014/main" id="{224C54E0-C91B-3462-43BF-BBE7CC993536}"/>
              </a:ext>
            </a:extLst>
          </p:cNvPr>
          <p:cNvCxnSpPr>
            <a:cxnSpLocks/>
          </p:cNvCxnSpPr>
          <p:nvPr/>
        </p:nvCxnSpPr>
        <p:spPr>
          <a:xfrm>
            <a:off x="9669889" y="1208468"/>
            <a:ext cx="208208" cy="92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3" name="TextBox 1112">
            <a:extLst>
              <a:ext uri="{FF2B5EF4-FFF2-40B4-BE49-F238E27FC236}">
                <a16:creationId xmlns:a16="http://schemas.microsoft.com/office/drawing/2014/main" id="{ED2BC7B5-BB37-47A7-8F72-DE86656F9F63}"/>
              </a:ext>
            </a:extLst>
          </p:cNvPr>
          <p:cNvSpPr txBox="1"/>
          <p:nvPr/>
        </p:nvSpPr>
        <p:spPr>
          <a:xfrm>
            <a:off x="8946524" y="1337186"/>
            <a:ext cx="957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>
                <a:latin typeface="Segoe UI Variable Display Semib" pitchFamily="2" charset="0"/>
              </a:rPr>
              <a:t>∈ {Free, Ads, IAP, Adults-Only, Reviews, Description} 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5D555E96-2165-D951-28FB-EC93B48CCD95}"/>
              </a:ext>
            </a:extLst>
          </p:cNvPr>
          <p:cNvSpPr txBox="1"/>
          <p:nvPr/>
        </p:nvSpPr>
        <p:spPr>
          <a:xfrm>
            <a:off x="8581627" y="1710675"/>
            <a:ext cx="262728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Segoe UI Variable Display Semib" pitchFamily="2" charset="0"/>
              </a:rPr>
              <a:t>Across 10 countries  (US, DE, FI, IN, MX, BR, PK, ID, RU, PH)</a:t>
            </a:r>
            <a:endParaRPr lang="fi-FI" sz="700" dirty="0">
              <a:latin typeface="Segoe UI Variable Display Semib" pitchFamily="2" charset="0"/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FEAD13A-6500-DEF0-6C17-D89241006B83}"/>
              </a:ext>
            </a:extLst>
          </p:cNvPr>
          <p:cNvSpPr/>
          <p:nvPr/>
        </p:nvSpPr>
        <p:spPr>
          <a:xfrm>
            <a:off x="628918" y="2410495"/>
            <a:ext cx="10824693" cy="189534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8264D2CE-58B0-EAEF-597A-906D3AF2B13D}"/>
              </a:ext>
            </a:extLst>
          </p:cNvPr>
          <p:cNvSpPr txBox="1"/>
          <p:nvPr/>
        </p:nvSpPr>
        <p:spPr>
          <a:xfrm>
            <a:off x="4891845" y="2137893"/>
            <a:ext cx="272386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Yu Gothic UI Light" panose="020B0300000000000000" pitchFamily="34" charset="-128"/>
                <a:cs typeface="Segoe UI Semibold" panose="020B0702040204020203" pitchFamily="34" charset="0"/>
              </a:rPr>
              <a:t>Step 3 : Assess Interaction Effects</a:t>
            </a:r>
          </a:p>
        </p:txBody>
      </p:sp>
      <p:sp>
        <p:nvSpPr>
          <p:cNvPr id="1128" name="Rectangle: Rounded Corners 1127">
            <a:extLst>
              <a:ext uri="{FF2B5EF4-FFF2-40B4-BE49-F238E27FC236}">
                <a16:creationId xmlns:a16="http://schemas.microsoft.com/office/drawing/2014/main" id="{C6ED67D4-51E4-623D-930E-5CAA7AC231A4}"/>
              </a:ext>
            </a:extLst>
          </p:cNvPr>
          <p:cNvSpPr/>
          <p:nvPr/>
        </p:nvSpPr>
        <p:spPr>
          <a:xfrm>
            <a:off x="832828" y="2910626"/>
            <a:ext cx="1021731" cy="56834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Build 2x2 Contingency Tables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129" name="Rectangle: Rounded Corners 1128">
            <a:extLst>
              <a:ext uri="{FF2B5EF4-FFF2-40B4-BE49-F238E27FC236}">
                <a16:creationId xmlns:a16="http://schemas.microsoft.com/office/drawing/2014/main" id="{B7F5A97C-796C-9F52-9F93-E9388DA1B68B}"/>
              </a:ext>
            </a:extLst>
          </p:cNvPr>
          <p:cNvSpPr/>
          <p:nvPr/>
        </p:nvSpPr>
        <p:spPr>
          <a:xfrm>
            <a:off x="2092814" y="2936381"/>
            <a:ext cx="985238" cy="5494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Estimate probabilities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pic>
        <p:nvPicPr>
          <p:cNvPr id="1130" name="Picture 1129" descr="A grid with black text&#10;&#10;AI-generated content may be incorrect.">
            <a:extLst>
              <a:ext uri="{FF2B5EF4-FFF2-40B4-BE49-F238E27FC236}">
                <a16:creationId xmlns:a16="http://schemas.microsoft.com/office/drawing/2014/main" id="{4D925F13-8F57-0860-6B9A-A4B7FB0A9DD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7"/>
          <a:stretch/>
        </p:blipFill>
        <p:spPr>
          <a:xfrm>
            <a:off x="832807" y="3520079"/>
            <a:ext cx="1485391" cy="496518"/>
          </a:xfrm>
          <a:prstGeom prst="rect">
            <a:avLst/>
          </a:prstGeom>
        </p:spPr>
      </p:pic>
      <p:sp>
        <p:nvSpPr>
          <p:cNvPr id="1131" name="TextBox 1130">
            <a:extLst>
              <a:ext uri="{FF2B5EF4-FFF2-40B4-BE49-F238E27FC236}">
                <a16:creationId xmlns:a16="http://schemas.microsoft.com/office/drawing/2014/main" id="{E7DC1ECE-029B-7488-ADD6-FA9447516529}"/>
              </a:ext>
            </a:extLst>
          </p:cNvPr>
          <p:cNvSpPr txBox="1"/>
          <p:nvPr/>
        </p:nvSpPr>
        <p:spPr>
          <a:xfrm>
            <a:off x="3408610" y="2535978"/>
            <a:ext cx="1146220" cy="612934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Evaluate Additive Interaction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F7192A89-8835-DAF9-359D-68C2E25164D9}"/>
              </a:ext>
            </a:extLst>
          </p:cNvPr>
          <p:cNvSpPr txBox="1"/>
          <p:nvPr/>
        </p:nvSpPr>
        <p:spPr>
          <a:xfrm>
            <a:off x="3400024" y="3514773"/>
            <a:ext cx="1193443" cy="612934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Evaluate Multiplicative Interaction</a:t>
            </a:r>
          </a:p>
        </p:txBody>
      </p:sp>
      <p:cxnSp>
        <p:nvCxnSpPr>
          <p:cNvPr id="1133" name="Straight Arrow Connector 1132">
            <a:extLst>
              <a:ext uri="{FF2B5EF4-FFF2-40B4-BE49-F238E27FC236}">
                <a16:creationId xmlns:a16="http://schemas.microsoft.com/office/drawing/2014/main" id="{9A663557-3029-4CC2-8A46-3DC80E2AC8F6}"/>
              </a:ext>
            </a:extLst>
          </p:cNvPr>
          <p:cNvCxnSpPr>
            <a:cxnSpLocks/>
          </p:cNvCxnSpPr>
          <p:nvPr/>
        </p:nvCxnSpPr>
        <p:spPr>
          <a:xfrm>
            <a:off x="1884618" y="3181084"/>
            <a:ext cx="1717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4" name="Straight Arrow Connector 1133">
            <a:extLst>
              <a:ext uri="{FF2B5EF4-FFF2-40B4-BE49-F238E27FC236}">
                <a16:creationId xmlns:a16="http://schemas.microsoft.com/office/drawing/2014/main" id="{CDD295A8-A9BB-BB85-65D5-2A0A30E807A2}"/>
              </a:ext>
            </a:extLst>
          </p:cNvPr>
          <p:cNvCxnSpPr>
            <a:cxnSpLocks/>
          </p:cNvCxnSpPr>
          <p:nvPr/>
        </p:nvCxnSpPr>
        <p:spPr>
          <a:xfrm flipV="1">
            <a:off x="3146739" y="2846231"/>
            <a:ext cx="223233" cy="317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0" name="Straight Arrow Connector 1139">
            <a:extLst>
              <a:ext uri="{FF2B5EF4-FFF2-40B4-BE49-F238E27FC236}">
                <a16:creationId xmlns:a16="http://schemas.microsoft.com/office/drawing/2014/main" id="{E147497F-2A8D-8B3D-C369-EB67FE490A44}"/>
              </a:ext>
            </a:extLst>
          </p:cNvPr>
          <p:cNvCxnSpPr>
            <a:cxnSpLocks/>
          </p:cNvCxnSpPr>
          <p:nvPr/>
        </p:nvCxnSpPr>
        <p:spPr>
          <a:xfrm>
            <a:off x="3138153" y="3425780"/>
            <a:ext cx="180304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4" name="Rectangle: Rounded Corners 1143">
            <a:extLst>
              <a:ext uri="{FF2B5EF4-FFF2-40B4-BE49-F238E27FC236}">
                <a16:creationId xmlns:a16="http://schemas.microsoft.com/office/drawing/2014/main" id="{B8E2A52D-5D82-83D1-6D8F-E786E8BAFAD5}"/>
              </a:ext>
            </a:extLst>
          </p:cNvPr>
          <p:cNvSpPr/>
          <p:nvPr/>
        </p:nvSpPr>
        <p:spPr>
          <a:xfrm>
            <a:off x="4902576" y="2575775"/>
            <a:ext cx="1236355" cy="49368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 Difference in Proportions (</a:t>
            </a:r>
            <a:r>
              <a:rPr lang="el-GR" sz="900" dirty="0">
                <a:latin typeface="Segoe UI Variable Display Semib" pitchFamily="2" charset="0"/>
                <a:cs typeface="Segoe UI Semibold" panose="020B0702040204020203" pitchFamily="34" charset="0"/>
              </a:rPr>
              <a:t>Δ</a:t>
            </a:r>
            <a:r>
              <a:rPr lang="fi-FI" sz="9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9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145" name="Rectangle: Rounded Corners 1144">
            <a:extLst>
              <a:ext uri="{FF2B5EF4-FFF2-40B4-BE49-F238E27FC236}">
                <a16:creationId xmlns:a16="http://schemas.microsoft.com/office/drawing/2014/main" id="{F9E3E91A-53D0-5185-0000-FF2554ECAD28}"/>
              </a:ext>
            </a:extLst>
          </p:cNvPr>
          <p:cNvSpPr/>
          <p:nvPr/>
        </p:nvSpPr>
        <p:spPr>
          <a:xfrm>
            <a:off x="6383623" y="2601531"/>
            <a:ext cx="1408096" cy="4851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Difference of est. Difference in Proportions (</a:t>
            </a:r>
            <a:r>
              <a:rPr lang="el-GR" sz="9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9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9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146" name="Rectangle: Rounded Corners 1145">
            <a:extLst>
              <a:ext uri="{FF2B5EF4-FFF2-40B4-BE49-F238E27FC236}">
                <a16:creationId xmlns:a16="http://schemas.microsoft.com/office/drawing/2014/main" id="{38B48DBE-78D2-3047-6DD6-46E2DD90AB47}"/>
              </a:ext>
            </a:extLst>
          </p:cNvPr>
          <p:cNvSpPr/>
          <p:nvPr/>
        </p:nvSpPr>
        <p:spPr>
          <a:xfrm>
            <a:off x="5018485" y="3610377"/>
            <a:ext cx="1129031" cy="3649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</a:t>
            </a:r>
          </a:p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Odds Ratio (</a:t>
            </a:r>
            <a:r>
              <a:rPr lang="fi-FI" sz="900" dirty="0">
                <a:latin typeface="Segoe UI Variable Display Semib" pitchFamily="2" charset="0"/>
              </a:rPr>
              <a:t>OR̂</a:t>
            </a:r>
            <a:r>
              <a:rPr lang="fi-FI" sz="9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900" dirty="0"/>
          </a:p>
        </p:txBody>
      </p:sp>
      <p:sp>
        <p:nvSpPr>
          <p:cNvPr id="1147" name="Rectangle: Rounded Corners 1146">
            <a:extLst>
              <a:ext uri="{FF2B5EF4-FFF2-40B4-BE49-F238E27FC236}">
                <a16:creationId xmlns:a16="http://schemas.microsoft.com/office/drawing/2014/main" id="{827E0055-FCC3-CEAD-8FB1-9EFEE4EE93C3}"/>
              </a:ext>
            </a:extLst>
          </p:cNvPr>
          <p:cNvSpPr/>
          <p:nvPr/>
        </p:nvSpPr>
        <p:spPr>
          <a:xfrm>
            <a:off x="6396523" y="3623255"/>
            <a:ext cx="1373732" cy="3649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ratio of  </a:t>
            </a:r>
          </a:p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est. Odds Ratio (R</a:t>
            </a:r>
            <a:r>
              <a:rPr lang="fi-FI" sz="900" dirty="0">
                <a:latin typeface="Segoe UI Variable Display Semib" pitchFamily="2" charset="0"/>
              </a:rPr>
              <a:t>OR̂</a:t>
            </a:r>
            <a:r>
              <a:rPr lang="fi-FI" sz="9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308EC903-6943-906E-CA7C-3D15B5499E70}"/>
              </a:ext>
            </a:extLst>
          </p:cNvPr>
          <p:cNvCxnSpPr>
            <a:cxnSpLocks/>
          </p:cNvCxnSpPr>
          <p:nvPr/>
        </p:nvCxnSpPr>
        <p:spPr>
          <a:xfrm>
            <a:off x="6179719" y="2831206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1" name="Straight Arrow Connector 1150">
            <a:extLst>
              <a:ext uri="{FF2B5EF4-FFF2-40B4-BE49-F238E27FC236}">
                <a16:creationId xmlns:a16="http://schemas.microsoft.com/office/drawing/2014/main" id="{B4A5C86C-6194-F4B8-DA7F-ACB6789DE1FB}"/>
              </a:ext>
            </a:extLst>
          </p:cNvPr>
          <p:cNvCxnSpPr>
            <a:cxnSpLocks/>
          </p:cNvCxnSpPr>
          <p:nvPr/>
        </p:nvCxnSpPr>
        <p:spPr>
          <a:xfrm>
            <a:off x="4623524" y="2803303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2" name="Straight Arrow Connector 1151">
            <a:extLst>
              <a:ext uri="{FF2B5EF4-FFF2-40B4-BE49-F238E27FC236}">
                <a16:creationId xmlns:a16="http://schemas.microsoft.com/office/drawing/2014/main" id="{8D080893-8097-A876-8A26-FCB6313F971A}"/>
              </a:ext>
            </a:extLst>
          </p:cNvPr>
          <p:cNvCxnSpPr>
            <a:cxnSpLocks/>
          </p:cNvCxnSpPr>
          <p:nvPr/>
        </p:nvCxnSpPr>
        <p:spPr>
          <a:xfrm>
            <a:off x="4638553" y="3822880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3" name="Straight Arrow Connector 1152">
            <a:extLst>
              <a:ext uri="{FF2B5EF4-FFF2-40B4-BE49-F238E27FC236}">
                <a16:creationId xmlns:a16="http://schemas.microsoft.com/office/drawing/2014/main" id="{9025157D-083F-1DFC-0EC9-911C729DE2C4}"/>
              </a:ext>
            </a:extLst>
          </p:cNvPr>
          <p:cNvCxnSpPr>
            <a:cxnSpLocks/>
          </p:cNvCxnSpPr>
          <p:nvPr/>
        </p:nvCxnSpPr>
        <p:spPr>
          <a:xfrm>
            <a:off x="6205481" y="3784244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3" name="Right Brace 1212">
            <a:extLst>
              <a:ext uri="{FF2B5EF4-FFF2-40B4-BE49-F238E27FC236}">
                <a16:creationId xmlns:a16="http://schemas.microsoft.com/office/drawing/2014/main" id="{D6D54CC4-CE2C-FBF1-4A0A-874EA2312238}"/>
              </a:ext>
            </a:extLst>
          </p:cNvPr>
          <p:cNvSpPr/>
          <p:nvPr/>
        </p:nvSpPr>
        <p:spPr>
          <a:xfrm>
            <a:off x="7937679" y="2889161"/>
            <a:ext cx="218941" cy="85000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14" name="Rectangle 1213">
            <a:extLst>
              <a:ext uri="{FF2B5EF4-FFF2-40B4-BE49-F238E27FC236}">
                <a16:creationId xmlns:a16="http://schemas.microsoft.com/office/drawing/2014/main" id="{141184E0-FFD5-AE33-C5AC-C70D0DA5EFD7}"/>
              </a:ext>
            </a:extLst>
          </p:cNvPr>
          <p:cNvSpPr/>
          <p:nvPr/>
        </p:nvSpPr>
        <p:spPr>
          <a:xfrm>
            <a:off x="4855336" y="2496355"/>
            <a:ext cx="2996485" cy="620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15" name="Rectangle 1214">
            <a:extLst>
              <a:ext uri="{FF2B5EF4-FFF2-40B4-BE49-F238E27FC236}">
                <a16:creationId xmlns:a16="http://schemas.microsoft.com/office/drawing/2014/main" id="{387BD59C-0156-0D26-A613-B5258BAC5F19}"/>
              </a:ext>
            </a:extLst>
          </p:cNvPr>
          <p:cNvSpPr/>
          <p:nvPr/>
        </p:nvSpPr>
        <p:spPr>
          <a:xfrm>
            <a:off x="4936904" y="3554570"/>
            <a:ext cx="2927798" cy="51944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41" name="Rectangle: Rounded Corners 1240">
            <a:extLst>
              <a:ext uri="{FF2B5EF4-FFF2-40B4-BE49-F238E27FC236}">
                <a16:creationId xmlns:a16="http://schemas.microsoft.com/office/drawing/2014/main" id="{588AB7AC-0E1D-D97C-E27D-4F94169E3299}"/>
              </a:ext>
            </a:extLst>
          </p:cNvPr>
          <p:cNvSpPr/>
          <p:nvPr/>
        </p:nvSpPr>
        <p:spPr>
          <a:xfrm>
            <a:off x="6761409" y="1047482"/>
            <a:ext cx="1820213" cy="52803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Create Feature – Outcome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Pairs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242" name="Straight Arrow Connector 1241">
            <a:extLst>
              <a:ext uri="{FF2B5EF4-FFF2-40B4-BE49-F238E27FC236}">
                <a16:creationId xmlns:a16="http://schemas.microsoft.com/office/drawing/2014/main" id="{637AB8F7-2A10-1E4D-CAB7-5D83C54BB8E3}"/>
              </a:ext>
            </a:extLst>
          </p:cNvPr>
          <p:cNvCxnSpPr>
            <a:cxnSpLocks/>
          </p:cNvCxnSpPr>
          <p:nvPr/>
        </p:nvCxnSpPr>
        <p:spPr>
          <a:xfrm>
            <a:off x="8667495" y="1262131"/>
            <a:ext cx="193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726C4022-ECEF-9177-8589-11A24E178822}"/>
              </a:ext>
            </a:extLst>
          </p:cNvPr>
          <p:cNvSpPr/>
          <p:nvPr/>
        </p:nvSpPr>
        <p:spPr>
          <a:xfrm>
            <a:off x="8955112" y="875764"/>
            <a:ext cx="1665667" cy="8199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4A5E770E-3405-5903-1A3A-D919DACD687B}"/>
              </a:ext>
            </a:extLst>
          </p:cNvPr>
          <p:cNvSpPr txBox="1"/>
          <p:nvPr/>
        </p:nvSpPr>
        <p:spPr>
          <a:xfrm>
            <a:off x="4997023" y="4471116"/>
            <a:ext cx="2498481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egoe UI Variable Display Semib" pitchFamily="2" charset="0"/>
                <a:ea typeface="Yu Gothic UI Light" panose="020B0300000000000000" pitchFamily="34" charset="-128"/>
                <a:cs typeface="Segoe UI Semibold" panose="020B0702040204020203" pitchFamily="34" charset="0"/>
              </a:rPr>
              <a:t>Step 4 : </a:t>
            </a:r>
            <a:r>
              <a:rPr lang="en-US" sz="1100" dirty="0">
                <a:latin typeface="Segoe UI Variable Display Semib" pitchFamily="2" charset="0"/>
                <a:ea typeface="Yu Gothic UI Light" panose="020B0300000000000000" pitchFamily="34" charset="-128"/>
              </a:rPr>
              <a:t>Interpret Interactions</a:t>
            </a:r>
            <a:endParaRPr lang="en-US" sz="1100" dirty="0">
              <a:latin typeface="Segoe UI Variable Display Semib" pitchFamily="2" charset="0"/>
              <a:ea typeface="Yu Gothic UI Light" panose="020B0300000000000000" pitchFamily="34" charset="-128"/>
              <a:cs typeface="Segoe UI Semibold" panose="020B0702040204020203" pitchFamily="34" charset="0"/>
            </a:endParaRPr>
          </a:p>
        </p:txBody>
      </p:sp>
      <p:sp>
        <p:nvSpPr>
          <p:cNvPr id="1246" name="Rectangle 1245">
            <a:extLst>
              <a:ext uri="{FF2B5EF4-FFF2-40B4-BE49-F238E27FC236}">
                <a16:creationId xmlns:a16="http://schemas.microsoft.com/office/drawing/2014/main" id="{46473D01-3A86-002D-B2E3-D7170EA1D76D}"/>
              </a:ext>
            </a:extLst>
          </p:cNvPr>
          <p:cNvSpPr/>
          <p:nvPr/>
        </p:nvSpPr>
        <p:spPr>
          <a:xfrm>
            <a:off x="663263" y="4745864"/>
            <a:ext cx="10798934" cy="1214908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EA3A070B-AFF6-E4AF-5919-325296CAD7B2}"/>
              </a:ext>
            </a:extLst>
          </p:cNvPr>
          <p:cNvSpPr txBox="1"/>
          <p:nvPr/>
        </p:nvSpPr>
        <p:spPr>
          <a:xfrm>
            <a:off x="3013667" y="5120316"/>
            <a:ext cx="1682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= 0 </a:t>
            </a: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BEC0B818-4E6D-3ACD-6E27-D5D4ACD05F96}"/>
              </a:ext>
            </a:extLst>
          </p:cNvPr>
          <p:cNvSpPr txBox="1"/>
          <p:nvPr/>
        </p:nvSpPr>
        <p:spPr>
          <a:xfrm>
            <a:off x="3011521" y="5521705"/>
            <a:ext cx="1809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&lt; 0 </a:t>
            </a: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92C72BAA-105B-3FA2-9493-7ABD9D58D79F}"/>
              </a:ext>
            </a:extLst>
          </p:cNvPr>
          <p:cNvSpPr txBox="1"/>
          <p:nvPr/>
        </p:nvSpPr>
        <p:spPr>
          <a:xfrm>
            <a:off x="3035131" y="4764001"/>
            <a:ext cx="1828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&gt; 0 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26D12FF4-91AF-103D-19AE-8D9BB1D83EDB}"/>
              </a:ext>
            </a:extLst>
          </p:cNvPr>
          <p:cNvSpPr txBox="1"/>
          <p:nvPr/>
        </p:nvSpPr>
        <p:spPr>
          <a:xfrm>
            <a:off x="3561026" y="4856198"/>
            <a:ext cx="1914269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Synergistic (Reinforcing)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1251" name="Connector: Elbow 1250">
            <a:extLst>
              <a:ext uri="{FF2B5EF4-FFF2-40B4-BE49-F238E27FC236}">
                <a16:creationId xmlns:a16="http://schemas.microsoft.com/office/drawing/2014/main" id="{F149289F-E979-52FE-C402-39D2C56E2FCE}"/>
              </a:ext>
            </a:extLst>
          </p:cNvPr>
          <p:cNvCxnSpPr>
            <a:cxnSpLocks/>
            <a:stCxn id="1256" idx="0"/>
          </p:cNvCxnSpPr>
          <p:nvPr/>
        </p:nvCxnSpPr>
        <p:spPr>
          <a:xfrm rot="5400000" flipH="1" flipV="1">
            <a:off x="3068968" y="4668816"/>
            <a:ext cx="168467" cy="81564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2" name="TextBox 1251">
            <a:extLst>
              <a:ext uri="{FF2B5EF4-FFF2-40B4-BE49-F238E27FC236}">
                <a16:creationId xmlns:a16="http://schemas.microsoft.com/office/drawing/2014/main" id="{15311B39-58E7-42D9-531F-3731C9ADD8BE}"/>
              </a:ext>
            </a:extLst>
          </p:cNvPr>
          <p:cNvSpPr txBox="1"/>
          <p:nvPr/>
        </p:nvSpPr>
        <p:spPr>
          <a:xfrm>
            <a:off x="3543854" y="5202903"/>
            <a:ext cx="1921081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No Interaction (Independent)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C75F38BA-4EB3-523C-57D5-EB523ED969C8}"/>
              </a:ext>
            </a:extLst>
          </p:cNvPr>
          <p:cNvSpPr txBox="1"/>
          <p:nvPr/>
        </p:nvSpPr>
        <p:spPr>
          <a:xfrm>
            <a:off x="3571759" y="5600230"/>
            <a:ext cx="1888722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Antagonistic (Weakening)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1254" name="Connector: Elbow 1253">
            <a:extLst>
              <a:ext uri="{FF2B5EF4-FFF2-40B4-BE49-F238E27FC236}">
                <a16:creationId xmlns:a16="http://schemas.microsoft.com/office/drawing/2014/main" id="{6D8F2361-5E33-ED61-1F49-CE211D6B421C}"/>
              </a:ext>
            </a:extLst>
          </p:cNvPr>
          <p:cNvCxnSpPr>
            <a:cxnSpLocks/>
            <a:stCxn id="1256" idx="2"/>
          </p:cNvCxnSpPr>
          <p:nvPr/>
        </p:nvCxnSpPr>
        <p:spPr>
          <a:xfrm rot="16200000" flipH="1">
            <a:off x="3035926" y="5200604"/>
            <a:ext cx="245285" cy="82638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5" name="Straight Arrow Connector 1254">
            <a:extLst>
              <a:ext uri="{FF2B5EF4-FFF2-40B4-BE49-F238E27FC236}">
                <a16:creationId xmlns:a16="http://schemas.microsoft.com/office/drawing/2014/main" id="{BBCF552C-249D-8232-2A44-7425A9C7586B}"/>
              </a:ext>
            </a:extLst>
          </p:cNvPr>
          <p:cNvCxnSpPr>
            <a:cxnSpLocks/>
            <a:stCxn id="1256" idx="3"/>
          </p:cNvCxnSpPr>
          <p:nvPr/>
        </p:nvCxnSpPr>
        <p:spPr>
          <a:xfrm>
            <a:off x="2925681" y="5326013"/>
            <a:ext cx="618173" cy="13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6" name="Diamond 1255">
            <a:extLst>
              <a:ext uri="{FF2B5EF4-FFF2-40B4-BE49-F238E27FC236}">
                <a16:creationId xmlns:a16="http://schemas.microsoft.com/office/drawing/2014/main" id="{5330DAB4-D6AA-0CEB-1BC3-A16CD30E3381}"/>
              </a:ext>
            </a:extLst>
          </p:cNvPr>
          <p:cNvSpPr/>
          <p:nvPr/>
        </p:nvSpPr>
        <p:spPr>
          <a:xfrm>
            <a:off x="2565073" y="5160873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sp>
        <p:nvSpPr>
          <p:cNvPr id="1258" name="TextBox 1257">
            <a:extLst>
              <a:ext uri="{FF2B5EF4-FFF2-40B4-BE49-F238E27FC236}">
                <a16:creationId xmlns:a16="http://schemas.microsoft.com/office/drawing/2014/main" id="{37243BC4-437D-A62C-C11B-2F60040630E7}"/>
              </a:ext>
            </a:extLst>
          </p:cNvPr>
          <p:cNvSpPr txBox="1"/>
          <p:nvPr/>
        </p:nvSpPr>
        <p:spPr>
          <a:xfrm>
            <a:off x="942305" y="5162211"/>
            <a:ext cx="1242810" cy="272415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l-GR" sz="10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0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0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000" dirty="0">
                <a:latin typeface="Segoe UI Variable Display Semib" pitchFamily="2" charset="0"/>
              </a:rPr>
              <a:t>OR̂)</a:t>
            </a:r>
            <a:r>
              <a:rPr lang="en-US" sz="1000" dirty="0">
                <a:latin typeface="Segoe UI Variable Display Semib" pitchFamily="2" charset="0"/>
                <a:cs typeface="Segoe UI Semibold" panose="020B0702040204020203" pitchFamily="34" charset="0"/>
              </a:rPr>
              <a:t> </a:t>
            </a:r>
            <a:endParaRPr lang="fi-FI" sz="1000" dirty="0"/>
          </a:p>
        </p:txBody>
      </p:sp>
      <p:cxnSp>
        <p:nvCxnSpPr>
          <p:cNvPr id="1276" name="Straight Arrow Connector 1275">
            <a:extLst>
              <a:ext uri="{FF2B5EF4-FFF2-40B4-BE49-F238E27FC236}">
                <a16:creationId xmlns:a16="http://schemas.microsoft.com/office/drawing/2014/main" id="{5B771F1C-B887-51F1-9965-D056D4B818F8}"/>
              </a:ext>
            </a:extLst>
          </p:cNvPr>
          <p:cNvCxnSpPr>
            <a:cxnSpLocks/>
          </p:cNvCxnSpPr>
          <p:nvPr/>
        </p:nvCxnSpPr>
        <p:spPr>
          <a:xfrm flipV="1">
            <a:off x="2195858" y="5328523"/>
            <a:ext cx="330578" cy="5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8" name="Rectangle: Rounded Corners 1287">
            <a:extLst>
              <a:ext uri="{FF2B5EF4-FFF2-40B4-BE49-F238E27FC236}">
                <a16:creationId xmlns:a16="http://schemas.microsoft.com/office/drawing/2014/main" id="{1A3467E0-5F5C-583D-F38A-ACCC16FC1ACA}"/>
              </a:ext>
            </a:extLst>
          </p:cNvPr>
          <p:cNvSpPr/>
          <p:nvPr/>
        </p:nvSpPr>
        <p:spPr>
          <a:xfrm>
            <a:off x="8206004" y="3102749"/>
            <a:ext cx="779164" cy="414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Compute 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95 % CI</a:t>
            </a:r>
            <a:endParaRPr lang="fi-FI" sz="1000" dirty="0"/>
          </a:p>
        </p:txBody>
      </p:sp>
      <p:sp>
        <p:nvSpPr>
          <p:cNvPr id="1289" name="Diamond 1288">
            <a:extLst>
              <a:ext uri="{FF2B5EF4-FFF2-40B4-BE49-F238E27FC236}">
                <a16:creationId xmlns:a16="http://schemas.microsoft.com/office/drawing/2014/main" id="{C7490B2E-008E-7139-0E88-F70497819BA0}"/>
              </a:ext>
            </a:extLst>
          </p:cNvPr>
          <p:cNvSpPr/>
          <p:nvPr/>
        </p:nvSpPr>
        <p:spPr>
          <a:xfrm>
            <a:off x="9105381" y="3163770"/>
            <a:ext cx="283331" cy="29206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1290" name="Straight Connector 1289">
            <a:extLst>
              <a:ext uri="{FF2B5EF4-FFF2-40B4-BE49-F238E27FC236}">
                <a16:creationId xmlns:a16="http://schemas.microsoft.com/office/drawing/2014/main" id="{691608FB-89FF-A888-6B98-FD615C4B2E26}"/>
              </a:ext>
            </a:extLst>
          </p:cNvPr>
          <p:cNvCxnSpPr>
            <a:cxnSpLocks/>
            <a:stCxn id="1288" idx="3"/>
            <a:endCxn id="1289" idx="1"/>
          </p:cNvCxnSpPr>
          <p:nvPr/>
        </p:nvCxnSpPr>
        <p:spPr>
          <a:xfrm>
            <a:off x="8985168" y="3309801"/>
            <a:ext cx="1202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1" name="Rectangle: Rounded Corners 1290">
            <a:extLst>
              <a:ext uri="{FF2B5EF4-FFF2-40B4-BE49-F238E27FC236}">
                <a16:creationId xmlns:a16="http://schemas.microsoft.com/office/drawing/2014/main" id="{646D5834-25B9-EF75-24C0-5A718CA350BF}"/>
              </a:ext>
            </a:extLst>
          </p:cNvPr>
          <p:cNvSpPr/>
          <p:nvPr/>
        </p:nvSpPr>
        <p:spPr>
          <a:xfrm>
            <a:off x="10118513" y="2951369"/>
            <a:ext cx="734085" cy="298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Non-Sig.</a:t>
            </a:r>
            <a:endParaRPr lang="fi-FI" sz="1000" dirty="0"/>
          </a:p>
        </p:txBody>
      </p:sp>
      <p:sp>
        <p:nvSpPr>
          <p:cNvPr id="1292" name="Rectangle: Rounded Corners 1291">
            <a:extLst>
              <a:ext uri="{FF2B5EF4-FFF2-40B4-BE49-F238E27FC236}">
                <a16:creationId xmlns:a16="http://schemas.microsoft.com/office/drawing/2014/main" id="{F10A498A-2E9A-A074-E9B6-696A0F0BB0F6}"/>
              </a:ext>
            </a:extLst>
          </p:cNvPr>
          <p:cNvSpPr/>
          <p:nvPr/>
        </p:nvSpPr>
        <p:spPr>
          <a:xfrm>
            <a:off x="10103488" y="3417155"/>
            <a:ext cx="461481" cy="298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Sig.</a:t>
            </a:r>
            <a:endParaRPr lang="fi-FI" sz="1000" dirty="0"/>
          </a:p>
        </p:txBody>
      </p:sp>
      <p:cxnSp>
        <p:nvCxnSpPr>
          <p:cNvPr id="1293" name="Connector: Elbow 1292">
            <a:extLst>
              <a:ext uri="{FF2B5EF4-FFF2-40B4-BE49-F238E27FC236}">
                <a16:creationId xmlns:a16="http://schemas.microsoft.com/office/drawing/2014/main" id="{60C49A23-B489-24FF-7624-13131D9524B9}"/>
              </a:ext>
            </a:extLst>
          </p:cNvPr>
          <p:cNvCxnSpPr>
            <a:cxnSpLocks/>
            <a:stCxn id="1289" idx="0"/>
            <a:endCxn id="1291" idx="1"/>
          </p:cNvCxnSpPr>
          <p:nvPr/>
        </p:nvCxnSpPr>
        <p:spPr>
          <a:xfrm rot="5400000" flipH="1" flipV="1">
            <a:off x="9651180" y="2696437"/>
            <a:ext cx="63201" cy="87146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4" name="Connector: Elbow 1293">
            <a:extLst>
              <a:ext uri="{FF2B5EF4-FFF2-40B4-BE49-F238E27FC236}">
                <a16:creationId xmlns:a16="http://schemas.microsoft.com/office/drawing/2014/main" id="{19F5061D-FA9E-C0AA-C9EC-27E230E05C23}"/>
              </a:ext>
            </a:extLst>
          </p:cNvPr>
          <p:cNvCxnSpPr>
            <a:cxnSpLocks/>
            <a:stCxn id="1289" idx="2"/>
            <a:endCxn id="1292" idx="1"/>
          </p:cNvCxnSpPr>
          <p:nvPr/>
        </p:nvCxnSpPr>
        <p:spPr>
          <a:xfrm rot="16200000" flipH="1">
            <a:off x="9620006" y="3082872"/>
            <a:ext cx="110523" cy="85644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5" name="TextBox 1294">
            <a:extLst>
              <a:ext uri="{FF2B5EF4-FFF2-40B4-BE49-F238E27FC236}">
                <a16:creationId xmlns:a16="http://schemas.microsoft.com/office/drawing/2014/main" id="{6D3BF5F3-8453-6E91-8BCA-711B63E9D8E5}"/>
              </a:ext>
            </a:extLst>
          </p:cNvPr>
          <p:cNvSpPr txBox="1"/>
          <p:nvPr/>
        </p:nvSpPr>
        <p:spPr>
          <a:xfrm>
            <a:off x="9126834" y="2792532"/>
            <a:ext cx="1120469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includes null value</a:t>
            </a:r>
          </a:p>
        </p:txBody>
      </p:sp>
      <p:sp>
        <p:nvSpPr>
          <p:cNvPr id="1296" name="TextBox 1295">
            <a:extLst>
              <a:ext uri="{FF2B5EF4-FFF2-40B4-BE49-F238E27FC236}">
                <a16:creationId xmlns:a16="http://schemas.microsoft.com/office/drawing/2014/main" id="{3B45B902-FE3C-7EE8-73D8-0D8AE5C3FA96}"/>
              </a:ext>
            </a:extLst>
          </p:cNvPr>
          <p:cNvSpPr txBox="1"/>
          <p:nvPr/>
        </p:nvSpPr>
        <p:spPr>
          <a:xfrm>
            <a:off x="9068880" y="3567410"/>
            <a:ext cx="1068952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excludes null value</a:t>
            </a:r>
          </a:p>
        </p:txBody>
      </p:sp>
      <p:sp>
        <p:nvSpPr>
          <p:cNvPr id="1300" name="TextBox 1299">
            <a:extLst>
              <a:ext uri="{FF2B5EF4-FFF2-40B4-BE49-F238E27FC236}">
                <a16:creationId xmlns:a16="http://schemas.microsoft.com/office/drawing/2014/main" id="{5FB0D37A-9518-934B-29B9-62067BA9B11E}"/>
              </a:ext>
            </a:extLst>
          </p:cNvPr>
          <p:cNvSpPr txBox="1"/>
          <p:nvPr/>
        </p:nvSpPr>
        <p:spPr>
          <a:xfrm>
            <a:off x="5937178" y="4828294"/>
            <a:ext cx="1914269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Complementary features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sp>
        <p:nvSpPr>
          <p:cNvPr id="1301" name="TextBox 1300">
            <a:extLst>
              <a:ext uri="{FF2B5EF4-FFF2-40B4-BE49-F238E27FC236}">
                <a16:creationId xmlns:a16="http://schemas.microsoft.com/office/drawing/2014/main" id="{594883E0-2CE6-180F-BE44-3583BA58B7B6}"/>
              </a:ext>
            </a:extLst>
          </p:cNvPr>
          <p:cNvSpPr txBox="1"/>
          <p:nvPr/>
        </p:nvSpPr>
        <p:spPr>
          <a:xfrm>
            <a:off x="5932885" y="5174999"/>
            <a:ext cx="2249493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No dependency between features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sp>
        <p:nvSpPr>
          <p:cNvPr id="1302" name="TextBox 1301">
            <a:extLst>
              <a:ext uri="{FF2B5EF4-FFF2-40B4-BE49-F238E27FC236}">
                <a16:creationId xmlns:a16="http://schemas.microsoft.com/office/drawing/2014/main" id="{B83EEEE9-32F7-8767-21EC-C62B39468AAE}"/>
              </a:ext>
            </a:extLst>
          </p:cNvPr>
          <p:cNvSpPr txBox="1"/>
          <p:nvPr/>
        </p:nvSpPr>
        <p:spPr>
          <a:xfrm>
            <a:off x="5947910" y="5572326"/>
            <a:ext cx="2225881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Substitutable / conflicting features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1303" name="Straight Arrow Connector 1302">
            <a:extLst>
              <a:ext uri="{FF2B5EF4-FFF2-40B4-BE49-F238E27FC236}">
                <a16:creationId xmlns:a16="http://schemas.microsoft.com/office/drawing/2014/main" id="{6E39798C-6ADC-80D1-E1BE-4A5E0DAB2CBA}"/>
              </a:ext>
            </a:extLst>
          </p:cNvPr>
          <p:cNvCxnSpPr>
            <a:cxnSpLocks/>
          </p:cNvCxnSpPr>
          <p:nvPr/>
        </p:nvCxnSpPr>
        <p:spPr>
          <a:xfrm>
            <a:off x="5608758" y="4990565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4" name="Straight Arrow Connector 1303">
            <a:extLst>
              <a:ext uri="{FF2B5EF4-FFF2-40B4-BE49-F238E27FC236}">
                <a16:creationId xmlns:a16="http://schemas.microsoft.com/office/drawing/2014/main" id="{86A42AE8-300D-C36D-FF83-58BF2F94E02B}"/>
              </a:ext>
            </a:extLst>
          </p:cNvPr>
          <p:cNvCxnSpPr>
            <a:cxnSpLocks/>
          </p:cNvCxnSpPr>
          <p:nvPr/>
        </p:nvCxnSpPr>
        <p:spPr>
          <a:xfrm>
            <a:off x="5632369" y="5310391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5" name="Straight Arrow Connector 1304">
            <a:extLst>
              <a:ext uri="{FF2B5EF4-FFF2-40B4-BE49-F238E27FC236}">
                <a16:creationId xmlns:a16="http://schemas.microsoft.com/office/drawing/2014/main" id="{34345229-C591-6F85-5BBF-603D973B4441}"/>
              </a:ext>
            </a:extLst>
          </p:cNvPr>
          <p:cNvCxnSpPr>
            <a:cxnSpLocks/>
          </p:cNvCxnSpPr>
          <p:nvPr/>
        </p:nvCxnSpPr>
        <p:spPr>
          <a:xfrm>
            <a:off x="5660273" y="5707490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6" name="TextBox 1305">
            <a:extLst>
              <a:ext uri="{FF2B5EF4-FFF2-40B4-BE49-F238E27FC236}">
                <a16:creationId xmlns:a16="http://schemas.microsoft.com/office/drawing/2014/main" id="{A46FAADA-9290-47F2-423F-D1B77FCC7591}"/>
              </a:ext>
            </a:extLst>
          </p:cNvPr>
          <p:cNvSpPr txBox="1"/>
          <p:nvPr/>
        </p:nvSpPr>
        <p:spPr>
          <a:xfrm>
            <a:off x="8523685" y="4813269"/>
            <a:ext cx="2500630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Segoe UI Variable Display Semib" pitchFamily="2" charset="0"/>
              </a:rPr>
              <a:t>Combine features to maximize impact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sp>
        <p:nvSpPr>
          <p:cNvPr id="1308" name="TextBox 1307">
            <a:extLst>
              <a:ext uri="{FF2B5EF4-FFF2-40B4-BE49-F238E27FC236}">
                <a16:creationId xmlns:a16="http://schemas.microsoft.com/office/drawing/2014/main" id="{6C14E96E-639D-B412-3188-F1FD4891CDF9}"/>
              </a:ext>
            </a:extLst>
          </p:cNvPr>
          <p:cNvSpPr txBox="1"/>
          <p:nvPr/>
        </p:nvSpPr>
        <p:spPr>
          <a:xfrm>
            <a:off x="8822045" y="5570180"/>
            <a:ext cx="2515656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Manage trade-offs between features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1309" name="Straight Arrow Connector 1308">
            <a:extLst>
              <a:ext uri="{FF2B5EF4-FFF2-40B4-BE49-F238E27FC236}">
                <a16:creationId xmlns:a16="http://schemas.microsoft.com/office/drawing/2014/main" id="{EE024640-2C72-2689-D74C-ED138A4FD9F9}"/>
              </a:ext>
            </a:extLst>
          </p:cNvPr>
          <p:cNvCxnSpPr>
            <a:cxnSpLocks/>
          </p:cNvCxnSpPr>
          <p:nvPr/>
        </p:nvCxnSpPr>
        <p:spPr>
          <a:xfrm>
            <a:off x="8010668" y="4962661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1" name="Straight Arrow Connector 1310">
            <a:extLst>
              <a:ext uri="{FF2B5EF4-FFF2-40B4-BE49-F238E27FC236}">
                <a16:creationId xmlns:a16="http://schemas.microsoft.com/office/drawing/2014/main" id="{1DD15468-C9D9-E520-4AC9-6804B46302F4}"/>
              </a:ext>
            </a:extLst>
          </p:cNvPr>
          <p:cNvCxnSpPr>
            <a:cxnSpLocks/>
          </p:cNvCxnSpPr>
          <p:nvPr/>
        </p:nvCxnSpPr>
        <p:spPr>
          <a:xfrm>
            <a:off x="8246780" y="5692465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12" name="Picture 47" descr="Warning,symbol,sign,free vector graphics,free pictures - free image from  needpix.com">
            <a:extLst>
              <a:ext uri="{FF2B5EF4-FFF2-40B4-BE49-F238E27FC236}">
                <a16:creationId xmlns:a16="http://schemas.microsoft.com/office/drawing/2014/main" id="{5C5D17F7-3C07-927F-9D61-67FE090BA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439" y="5585007"/>
            <a:ext cx="274437" cy="27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8" name="AutoShape 59" descr="Link And Chain Icon Vector, Link Icon, Chain, Chain Icon PNG and Vector  with Transparent Background for Free Download">
            <a:extLst>
              <a:ext uri="{FF2B5EF4-FFF2-40B4-BE49-F238E27FC236}">
                <a16:creationId xmlns:a16="http://schemas.microsoft.com/office/drawing/2014/main" id="{1E93231D-1DEF-4098-7848-7CF18491F7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330" name="AutoShape 83" descr="copy clip art | Public domain vectors">
            <a:extLst>
              <a:ext uri="{FF2B5EF4-FFF2-40B4-BE49-F238E27FC236}">
                <a16:creationId xmlns:a16="http://schemas.microsoft.com/office/drawing/2014/main" id="{22D308F0-939D-83D0-CE89-0962750DD4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pic>
        <p:nvPicPr>
          <p:cNvPr id="1332" name="Picture 87" descr="Copy File Clip Art at Clker.com - vector clip art online, royalty free &amp;  public domain">
            <a:extLst>
              <a:ext uri="{FF2B5EF4-FFF2-40B4-BE49-F238E27FC236}">
                <a16:creationId xmlns:a16="http://schemas.microsoft.com/office/drawing/2014/main" id="{97C75071-54A2-7A0D-8452-FDCCB5E46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015" y="4825822"/>
            <a:ext cx="263243" cy="27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5" name="TextBox 1334">
            <a:extLst>
              <a:ext uri="{FF2B5EF4-FFF2-40B4-BE49-F238E27FC236}">
                <a16:creationId xmlns:a16="http://schemas.microsoft.com/office/drawing/2014/main" id="{22DF6676-BAE9-A9C7-3B42-F4010DF04E38}"/>
              </a:ext>
            </a:extLst>
          </p:cNvPr>
          <p:cNvSpPr txBox="1"/>
          <p:nvPr/>
        </p:nvSpPr>
        <p:spPr>
          <a:xfrm>
            <a:off x="8757651" y="5197489"/>
            <a:ext cx="2500630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Optimize features independently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1336" name="Straight Arrow Connector 1335">
            <a:extLst>
              <a:ext uri="{FF2B5EF4-FFF2-40B4-BE49-F238E27FC236}">
                <a16:creationId xmlns:a16="http://schemas.microsoft.com/office/drawing/2014/main" id="{11D67C22-8D0E-ED50-F838-C8AB64363E56}"/>
              </a:ext>
            </a:extLst>
          </p:cNvPr>
          <p:cNvCxnSpPr>
            <a:cxnSpLocks/>
          </p:cNvCxnSpPr>
          <p:nvPr/>
        </p:nvCxnSpPr>
        <p:spPr>
          <a:xfrm>
            <a:off x="8227462" y="5351173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37" name="Picture 93" descr="Share Generic Grey icon | Freepik">
            <a:extLst>
              <a:ext uri="{FF2B5EF4-FFF2-40B4-BE49-F238E27FC236}">
                <a16:creationId xmlns:a16="http://schemas.microsoft.com/office/drawing/2014/main" id="{994F9A4B-7A60-C12C-264B-6CA1E8E2E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904" y="5173309"/>
            <a:ext cx="296214" cy="35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763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Rating icon | Premium Vector">
            <a:extLst>
              <a:ext uri="{FF2B5EF4-FFF2-40B4-BE49-F238E27FC236}">
                <a16:creationId xmlns:a16="http://schemas.microsoft.com/office/drawing/2014/main" id="{6864C764-0308-51C0-0420-AEAF4A924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017" y="1007770"/>
            <a:ext cx="356316" cy="35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base - Free technology icons">
            <a:extLst>
              <a:ext uri="{FF2B5EF4-FFF2-40B4-BE49-F238E27FC236}">
                <a16:creationId xmlns:a16="http://schemas.microsoft.com/office/drawing/2014/main" id="{050C9278-14A8-5AF3-10F9-602D2BE95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91" y="1080752"/>
            <a:ext cx="352021" cy="35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FE206-A496-8E0E-E768-D2D96794968F}"/>
              </a:ext>
            </a:extLst>
          </p:cNvPr>
          <p:cNvSpPr txBox="1"/>
          <p:nvPr/>
        </p:nvSpPr>
        <p:spPr>
          <a:xfrm>
            <a:off x="558084" y="1420900"/>
            <a:ext cx="91010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Segoe UI Variable Display Semib" pitchFamily="2" charset="0"/>
                <a:ea typeface="Microsoft YaHei UI" panose="020B0503020204020204" pitchFamily="34" charset="-122"/>
              </a:rPr>
              <a:t>GameMetaDroid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571564-C3E5-CF13-FE20-CC92FCE480B7}"/>
              </a:ext>
            </a:extLst>
          </p:cNvPr>
          <p:cNvSpPr/>
          <p:nvPr/>
        </p:nvSpPr>
        <p:spPr>
          <a:xfrm>
            <a:off x="2856976" y="924595"/>
            <a:ext cx="815034" cy="3426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Success Outcomes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5485B1-E612-5130-4524-2DDF37A81A02}"/>
              </a:ext>
            </a:extLst>
          </p:cNvPr>
          <p:cNvSpPr/>
          <p:nvPr/>
        </p:nvSpPr>
        <p:spPr>
          <a:xfrm>
            <a:off x="2839806" y="1474636"/>
            <a:ext cx="804930" cy="3069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Features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F14659-6EF9-C857-EF28-B7A184CB58C2}"/>
              </a:ext>
            </a:extLst>
          </p:cNvPr>
          <p:cNvCxnSpPr>
            <a:cxnSpLocks/>
          </p:cNvCxnSpPr>
          <p:nvPr/>
        </p:nvCxnSpPr>
        <p:spPr>
          <a:xfrm flipV="1">
            <a:off x="2434117" y="1090412"/>
            <a:ext cx="390660" cy="167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6ECFEF-D3F6-47E5-CE3C-F5B809391B8C}"/>
              </a:ext>
            </a:extLst>
          </p:cNvPr>
          <p:cNvCxnSpPr>
            <a:cxnSpLocks/>
          </p:cNvCxnSpPr>
          <p:nvPr/>
        </p:nvCxnSpPr>
        <p:spPr>
          <a:xfrm>
            <a:off x="2404067" y="1360868"/>
            <a:ext cx="382072" cy="209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7CEEA15-7F56-E563-838F-674435ACC2D0}"/>
              </a:ext>
            </a:extLst>
          </p:cNvPr>
          <p:cNvSpPr txBox="1"/>
          <p:nvPr/>
        </p:nvSpPr>
        <p:spPr>
          <a:xfrm>
            <a:off x="4016070" y="869256"/>
            <a:ext cx="1062500" cy="234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Installs count</a:t>
            </a:r>
          </a:p>
        </p:txBody>
      </p:sp>
      <p:pic>
        <p:nvPicPr>
          <p:cNvPr id="1032" name="Picture 8" descr="Download Symbol Icons - Free SVG &amp; PNG Download Symbol Images - Noun Project">
            <a:extLst>
              <a:ext uri="{FF2B5EF4-FFF2-40B4-BE49-F238E27FC236}">
                <a16:creationId xmlns:a16="http://schemas.microsoft.com/office/drawing/2014/main" id="{E203DE82-5FE8-4B5E-50D9-DC1123121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657" y="858592"/>
            <a:ext cx="252211" cy="252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E6D221C0-352A-93FC-9A62-1CCBE0690C22}"/>
              </a:ext>
            </a:extLst>
          </p:cNvPr>
          <p:cNvSpPr txBox="1"/>
          <p:nvPr/>
        </p:nvSpPr>
        <p:spPr>
          <a:xfrm>
            <a:off x="4074027" y="1068879"/>
            <a:ext cx="8585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User ratings </a:t>
            </a:r>
          </a:p>
        </p:txBody>
      </p:sp>
      <p:sp>
        <p:nvSpPr>
          <p:cNvPr id="1029" name="AutoShape 14" descr="Gui Review Vector SVG Icon - SVG Repo">
            <a:extLst>
              <a:ext uri="{FF2B5EF4-FFF2-40B4-BE49-F238E27FC236}">
                <a16:creationId xmlns:a16="http://schemas.microsoft.com/office/drawing/2014/main" id="{7363B72A-D2AA-39E0-9F21-F0BFB413AE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78991" y="17096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C08880A2-603D-2BA8-B158-3083BA24CFD7}"/>
              </a:ext>
            </a:extLst>
          </p:cNvPr>
          <p:cNvSpPr txBox="1"/>
          <p:nvPr/>
        </p:nvSpPr>
        <p:spPr>
          <a:xfrm>
            <a:off x="4099786" y="1347920"/>
            <a:ext cx="9830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Game Features</a:t>
            </a:r>
          </a:p>
          <a:p>
            <a:pPr algn="ctr"/>
            <a:r>
              <a:rPr lang="en-US" sz="600" dirty="0">
                <a:latin typeface="Segoe UI Variable Display Semib" pitchFamily="2" charset="0"/>
                <a:ea typeface="Microsoft YaHei UI" panose="020B0503020204020204" pitchFamily="34" charset="-122"/>
              </a:rPr>
              <a:t>(f1, f2,f3…. </a:t>
            </a:r>
            <a:r>
              <a:rPr lang="en-US" sz="600" dirty="0" err="1">
                <a:latin typeface="Segoe UI Variable Display Semib" pitchFamily="2" charset="0"/>
                <a:ea typeface="Microsoft YaHei UI" panose="020B0503020204020204" pitchFamily="34" charset="-122"/>
              </a:rPr>
              <a:t>fn</a:t>
            </a:r>
            <a:r>
              <a:rPr lang="en-US" sz="6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D142CB74-E80A-5B74-E37F-8F20060E0AAF}"/>
              </a:ext>
            </a:extLst>
          </p:cNvPr>
          <p:cNvSpPr txBox="1"/>
          <p:nvPr/>
        </p:nvSpPr>
        <p:spPr>
          <a:xfrm>
            <a:off x="4097636" y="1603351"/>
            <a:ext cx="8907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Countries</a:t>
            </a:r>
          </a:p>
          <a:p>
            <a:pPr algn="ctr"/>
            <a:r>
              <a:rPr lang="en-US" sz="600" dirty="0">
                <a:latin typeface="Segoe UI Variable Display Semib" pitchFamily="2" charset="0"/>
                <a:ea typeface="Microsoft YaHei UI" panose="020B0503020204020204" pitchFamily="34" charset="-122"/>
              </a:rPr>
              <a:t>(c1, c2,…c10)</a:t>
            </a:r>
          </a:p>
        </p:txBody>
      </p:sp>
      <p:pic>
        <p:nvPicPr>
          <p:cNvPr id="1050" name="Picture 26" descr="World Globe B&amp;w Clip Art at Clker.com - vector clip art online, royalty free  &amp; public domain">
            <a:extLst>
              <a:ext uri="{FF2B5EF4-FFF2-40B4-BE49-F238E27FC236}">
                <a16:creationId xmlns:a16="http://schemas.microsoft.com/office/drawing/2014/main" id="{025B51A7-F454-FFF5-69A6-B20852B4B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622" y="1648495"/>
            <a:ext cx="174112" cy="1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4655825-6072-8191-6B11-51D4FB0D88B2}"/>
              </a:ext>
            </a:extLst>
          </p:cNvPr>
          <p:cNvCxnSpPr>
            <a:cxnSpLocks/>
          </p:cNvCxnSpPr>
          <p:nvPr/>
        </p:nvCxnSpPr>
        <p:spPr>
          <a:xfrm>
            <a:off x="3743470" y="1073240"/>
            <a:ext cx="1760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F5566108-9AE5-0A97-7FE5-C7B419F796C7}"/>
              </a:ext>
            </a:extLst>
          </p:cNvPr>
          <p:cNvCxnSpPr>
            <a:cxnSpLocks/>
          </p:cNvCxnSpPr>
          <p:nvPr/>
        </p:nvCxnSpPr>
        <p:spPr>
          <a:xfrm>
            <a:off x="3706980" y="1633471"/>
            <a:ext cx="1760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6" name="AutoShape 34" descr="Game Console Clipart Vector, Game Console Game Icon, Game Icons, Console  Icons, Game PNG Image For Free Download">
            <a:extLst>
              <a:ext uri="{FF2B5EF4-FFF2-40B4-BE49-F238E27FC236}">
                <a16:creationId xmlns:a16="http://schemas.microsoft.com/office/drawing/2014/main" id="{6689A43D-B48B-1B91-73BD-8A57E3234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31391" y="18620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068" name="AutoShape 38" descr="Games Line Icon Vector, Games Icon, App, Entertainment PNG and Vector with Transparent  Background for Free Download">
            <a:extLst>
              <a:ext uri="{FF2B5EF4-FFF2-40B4-BE49-F238E27FC236}">
                <a16:creationId xmlns:a16="http://schemas.microsoft.com/office/drawing/2014/main" id="{1DB458E2-E8AC-7750-572B-B1323127C7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983791" y="20144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pic>
        <p:nvPicPr>
          <p:cNvPr id="1069" name="Picture 40" descr="Gaming - Free gaming icons">
            <a:extLst>
              <a:ext uri="{FF2B5EF4-FFF2-40B4-BE49-F238E27FC236}">
                <a16:creationId xmlns:a16="http://schemas.microsoft.com/office/drawing/2014/main" id="{AA80802E-416C-416F-E88D-7790522F3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773" y="1407017"/>
            <a:ext cx="261870" cy="26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0" name="Right Brace 1069">
            <a:extLst>
              <a:ext uri="{FF2B5EF4-FFF2-40B4-BE49-F238E27FC236}">
                <a16:creationId xmlns:a16="http://schemas.microsoft.com/office/drawing/2014/main" id="{1990828C-D639-E9E4-610F-585C228536C3}"/>
              </a:ext>
            </a:extLst>
          </p:cNvPr>
          <p:cNvSpPr/>
          <p:nvPr/>
        </p:nvSpPr>
        <p:spPr>
          <a:xfrm>
            <a:off x="4992721" y="1021723"/>
            <a:ext cx="171718" cy="66540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71" name="Rectangle: Rounded Corners 1070">
            <a:extLst>
              <a:ext uri="{FF2B5EF4-FFF2-40B4-BE49-F238E27FC236}">
                <a16:creationId xmlns:a16="http://schemas.microsoft.com/office/drawing/2014/main" id="{649762B1-10BB-EA61-3095-BB9953030F36}"/>
              </a:ext>
            </a:extLst>
          </p:cNvPr>
          <p:cNvSpPr/>
          <p:nvPr/>
        </p:nvSpPr>
        <p:spPr>
          <a:xfrm>
            <a:off x="5224542" y="1184319"/>
            <a:ext cx="815034" cy="3426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Binarize 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Variables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074" name="Rectangle: Rounded Corners 1073">
            <a:extLst>
              <a:ext uri="{FF2B5EF4-FFF2-40B4-BE49-F238E27FC236}">
                <a16:creationId xmlns:a16="http://schemas.microsoft.com/office/drawing/2014/main" id="{67822EAB-961F-7744-5FAA-AE4C9E16B805}"/>
              </a:ext>
            </a:extLst>
          </p:cNvPr>
          <p:cNvSpPr/>
          <p:nvPr/>
        </p:nvSpPr>
        <p:spPr>
          <a:xfrm>
            <a:off x="1549759" y="1111339"/>
            <a:ext cx="815034" cy="3426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Define Variables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F052E451-1E10-D803-A532-B09901D3C923}"/>
              </a:ext>
            </a:extLst>
          </p:cNvPr>
          <p:cNvCxnSpPr>
            <a:cxnSpLocks/>
          </p:cNvCxnSpPr>
          <p:nvPr/>
        </p:nvCxnSpPr>
        <p:spPr>
          <a:xfrm>
            <a:off x="1221357" y="1268570"/>
            <a:ext cx="233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7" name="Rectangle: Rounded Corners 1076">
            <a:extLst>
              <a:ext uri="{FF2B5EF4-FFF2-40B4-BE49-F238E27FC236}">
                <a16:creationId xmlns:a16="http://schemas.microsoft.com/office/drawing/2014/main" id="{46BAA9EB-095C-2C9E-C256-1A5964C5C8E6}"/>
              </a:ext>
            </a:extLst>
          </p:cNvPr>
          <p:cNvSpPr/>
          <p:nvPr/>
        </p:nvSpPr>
        <p:spPr>
          <a:xfrm>
            <a:off x="8650317" y="1044797"/>
            <a:ext cx="502276" cy="2345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f1, f2</a:t>
            </a:r>
          </a:p>
        </p:txBody>
      </p:sp>
      <p:sp>
        <p:nvSpPr>
          <p:cNvPr id="1079" name="Rectangle: Rounded Corners 1078">
            <a:extLst>
              <a:ext uri="{FF2B5EF4-FFF2-40B4-BE49-F238E27FC236}">
                <a16:creationId xmlns:a16="http://schemas.microsoft.com/office/drawing/2014/main" id="{078955D0-48CD-DE86-8081-92E9D11C4452}"/>
              </a:ext>
            </a:extLst>
          </p:cNvPr>
          <p:cNvSpPr/>
          <p:nvPr/>
        </p:nvSpPr>
        <p:spPr>
          <a:xfrm>
            <a:off x="9423063" y="931035"/>
            <a:ext cx="635345" cy="1980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Installs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091" name="Rectangle: Rounded Corners 1090">
            <a:extLst>
              <a:ext uri="{FF2B5EF4-FFF2-40B4-BE49-F238E27FC236}">
                <a16:creationId xmlns:a16="http://schemas.microsoft.com/office/drawing/2014/main" id="{9A936EAB-6311-2EEA-7E61-86A3467A8753}"/>
              </a:ext>
            </a:extLst>
          </p:cNvPr>
          <p:cNvSpPr/>
          <p:nvPr/>
        </p:nvSpPr>
        <p:spPr>
          <a:xfrm>
            <a:off x="9429502" y="1212224"/>
            <a:ext cx="635345" cy="1980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Ratings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86783AAC-F43F-0922-0453-16CC8CA389ED}"/>
              </a:ext>
            </a:extLst>
          </p:cNvPr>
          <p:cNvCxnSpPr>
            <a:cxnSpLocks/>
          </p:cNvCxnSpPr>
          <p:nvPr/>
        </p:nvCxnSpPr>
        <p:spPr>
          <a:xfrm flipV="1">
            <a:off x="9178350" y="1047482"/>
            <a:ext cx="197476" cy="103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8" name="Straight Arrow Connector 1107">
            <a:extLst>
              <a:ext uri="{FF2B5EF4-FFF2-40B4-BE49-F238E27FC236}">
                <a16:creationId xmlns:a16="http://schemas.microsoft.com/office/drawing/2014/main" id="{224C54E0-C91B-3462-43BF-BBE7CC993536}"/>
              </a:ext>
            </a:extLst>
          </p:cNvPr>
          <p:cNvCxnSpPr>
            <a:cxnSpLocks/>
          </p:cNvCxnSpPr>
          <p:nvPr/>
        </p:nvCxnSpPr>
        <p:spPr>
          <a:xfrm>
            <a:off x="9180496" y="1217054"/>
            <a:ext cx="208208" cy="92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3" name="TextBox 1112">
            <a:extLst>
              <a:ext uri="{FF2B5EF4-FFF2-40B4-BE49-F238E27FC236}">
                <a16:creationId xmlns:a16="http://schemas.microsoft.com/office/drawing/2014/main" id="{ED2BC7B5-BB37-47A7-8F72-DE86656F9F63}"/>
              </a:ext>
            </a:extLst>
          </p:cNvPr>
          <p:cNvSpPr txBox="1"/>
          <p:nvPr/>
        </p:nvSpPr>
        <p:spPr>
          <a:xfrm>
            <a:off x="8448545" y="1294257"/>
            <a:ext cx="957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>
                <a:latin typeface="Segoe UI Variable Display Semib" pitchFamily="2" charset="0"/>
              </a:rPr>
              <a:t>∈ {Free, Ads, IAP, Adults-Only, Reviews, Description} 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5D555E96-2165-D951-28FB-EC93B48CCD95}"/>
              </a:ext>
            </a:extLst>
          </p:cNvPr>
          <p:cNvSpPr txBox="1"/>
          <p:nvPr/>
        </p:nvSpPr>
        <p:spPr>
          <a:xfrm>
            <a:off x="7963445" y="1719261"/>
            <a:ext cx="262728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Segoe UI Variable Display Semib" pitchFamily="2" charset="0"/>
              </a:rPr>
              <a:t>Across 10 countries  (US, DE, FI, IN, MX, BR, PK, ID, RU, PH)</a:t>
            </a:r>
            <a:endParaRPr lang="fi-FI" sz="700" dirty="0">
              <a:latin typeface="Segoe UI Variable Display Semib" pitchFamily="2" charset="0"/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FEAD13A-6500-DEF0-6C17-D89241006B83}"/>
              </a:ext>
            </a:extLst>
          </p:cNvPr>
          <p:cNvSpPr/>
          <p:nvPr/>
        </p:nvSpPr>
        <p:spPr>
          <a:xfrm>
            <a:off x="3893713" y="2410495"/>
            <a:ext cx="4679330" cy="189534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28" name="Rectangle: Rounded Corners 1127">
            <a:extLst>
              <a:ext uri="{FF2B5EF4-FFF2-40B4-BE49-F238E27FC236}">
                <a16:creationId xmlns:a16="http://schemas.microsoft.com/office/drawing/2014/main" id="{C6ED67D4-51E4-623D-930E-5CAA7AC231A4}"/>
              </a:ext>
            </a:extLst>
          </p:cNvPr>
          <p:cNvSpPr/>
          <p:nvPr/>
        </p:nvSpPr>
        <p:spPr>
          <a:xfrm>
            <a:off x="240399" y="2884868"/>
            <a:ext cx="1021731" cy="56834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Build 2x2 Contingency Tables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129" name="Rectangle: Rounded Corners 1128">
            <a:extLst>
              <a:ext uri="{FF2B5EF4-FFF2-40B4-BE49-F238E27FC236}">
                <a16:creationId xmlns:a16="http://schemas.microsoft.com/office/drawing/2014/main" id="{B7F5A97C-796C-9F52-9F93-E9388DA1B68B}"/>
              </a:ext>
            </a:extLst>
          </p:cNvPr>
          <p:cNvSpPr/>
          <p:nvPr/>
        </p:nvSpPr>
        <p:spPr>
          <a:xfrm>
            <a:off x="1526145" y="2884866"/>
            <a:ext cx="985238" cy="5494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Estimate probabilities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pic>
        <p:nvPicPr>
          <p:cNvPr id="1130" name="Picture 1129" descr="A grid with black text&#10;&#10;AI-generated content may be incorrect.">
            <a:extLst>
              <a:ext uri="{FF2B5EF4-FFF2-40B4-BE49-F238E27FC236}">
                <a16:creationId xmlns:a16="http://schemas.microsoft.com/office/drawing/2014/main" id="{4D925F13-8F57-0860-6B9A-A4B7FB0A9DD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7"/>
          <a:stretch/>
        </p:blipFill>
        <p:spPr>
          <a:xfrm>
            <a:off x="369168" y="3528665"/>
            <a:ext cx="1485391" cy="496518"/>
          </a:xfrm>
          <a:prstGeom prst="rect">
            <a:avLst/>
          </a:prstGeom>
        </p:spPr>
      </p:pic>
      <p:sp>
        <p:nvSpPr>
          <p:cNvPr id="1131" name="TextBox 1130">
            <a:extLst>
              <a:ext uri="{FF2B5EF4-FFF2-40B4-BE49-F238E27FC236}">
                <a16:creationId xmlns:a16="http://schemas.microsoft.com/office/drawing/2014/main" id="{E7DC1ECE-029B-7488-ADD6-FA9447516529}"/>
              </a:ext>
            </a:extLst>
          </p:cNvPr>
          <p:cNvSpPr txBox="1"/>
          <p:nvPr/>
        </p:nvSpPr>
        <p:spPr>
          <a:xfrm>
            <a:off x="4104076" y="2535978"/>
            <a:ext cx="1146220" cy="612934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Evaluate Additive Interaction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F7192A89-8835-DAF9-359D-68C2E25164D9}"/>
              </a:ext>
            </a:extLst>
          </p:cNvPr>
          <p:cNvSpPr txBox="1"/>
          <p:nvPr/>
        </p:nvSpPr>
        <p:spPr>
          <a:xfrm>
            <a:off x="4095490" y="3514773"/>
            <a:ext cx="1193443" cy="612934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Evaluate Multiplicative Interaction</a:t>
            </a:r>
          </a:p>
        </p:txBody>
      </p:sp>
      <p:cxnSp>
        <p:nvCxnSpPr>
          <p:cNvPr id="1133" name="Straight Arrow Connector 1132">
            <a:extLst>
              <a:ext uri="{FF2B5EF4-FFF2-40B4-BE49-F238E27FC236}">
                <a16:creationId xmlns:a16="http://schemas.microsoft.com/office/drawing/2014/main" id="{9A663557-3029-4CC2-8A46-3DC80E2AC8F6}"/>
              </a:ext>
            </a:extLst>
          </p:cNvPr>
          <p:cNvCxnSpPr>
            <a:cxnSpLocks/>
          </p:cNvCxnSpPr>
          <p:nvPr/>
        </p:nvCxnSpPr>
        <p:spPr>
          <a:xfrm>
            <a:off x="1309352" y="3163912"/>
            <a:ext cx="1717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4" name="Straight Arrow Connector 1133">
            <a:extLst>
              <a:ext uri="{FF2B5EF4-FFF2-40B4-BE49-F238E27FC236}">
                <a16:creationId xmlns:a16="http://schemas.microsoft.com/office/drawing/2014/main" id="{CDD295A8-A9BB-BB85-65D5-2A0A30E807A2}"/>
              </a:ext>
            </a:extLst>
          </p:cNvPr>
          <p:cNvCxnSpPr>
            <a:cxnSpLocks/>
          </p:cNvCxnSpPr>
          <p:nvPr/>
        </p:nvCxnSpPr>
        <p:spPr>
          <a:xfrm flipV="1">
            <a:off x="3799275" y="2846231"/>
            <a:ext cx="223233" cy="317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0" name="Straight Arrow Connector 1139">
            <a:extLst>
              <a:ext uri="{FF2B5EF4-FFF2-40B4-BE49-F238E27FC236}">
                <a16:creationId xmlns:a16="http://schemas.microsoft.com/office/drawing/2014/main" id="{E147497F-2A8D-8B3D-C369-EB67FE490A44}"/>
              </a:ext>
            </a:extLst>
          </p:cNvPr>
          <p:cNvCxnSpPr>
            <a:cxnSpLocks/>
          </p:cNvCxnSpPr>
          <p:nvPr/>
        </p:nvCxnSpPr>
        <p:spPr>
          <a:xfrm>
            <a:off x="3790689" y="3425780"/>
            <a:ext cx="180304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4" name="Rectangle: Rounded Corners 1143">
            <a:extLst>
              <a:ext uri="{FF2B5EF4-FFF2-40B4-BE49-F238E27FC236}">
                <a16:creationId xmlns:a16="http://schemas.microsoft.com/office/drawing/2014/main" id="{B8E2A52D-5D82-83D1-6D8F-E786E8BAFAD5}"/>
              </a:ext>
            </a:extLst>
          </p:cNvPr>
          <p:cNvSpPr/>
          <p:nvPr/>
        </p:nvSpPr>
        <p:spPr>
          <a:xfrm>
            <a:off x="5555112" y="2575775"/>
            <a:ext cx="1236355" cy="49368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 Difference in Proportions (</a:t>
            </a:r>
            <a:r>
              <a:rPr lang="el-GR" sz="900" dirty="0">
                <a:latin typeface="Segoe UI Variable Display Semib" pitchFamily="2" charset="0"/>
                <a:cs typeface="Segoe UI Semibold" panose="020B0702040204020203" pitchFamily="34" charset="0"/>
              </a:rPr>
              <a:t>Δ</a:t>
            </a:r>
            <a:r>
              <a:rPr lang="fi-FI" sz="9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9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145" name="Rectangle: Rounded Corners 1144">
            <a:extLst>
              <a:ext uri="{FF2B5EF4-FFF2-40B4-BE49-F238E27FC236}">
                <a16:creationId xmlns:a16="http://schemas.microsoft.com/office/drawing/2014/main" id="{F9E3E91A-53D0-5185-0000-FF2554ECAD28}"/>
              </a:ext>
            </a:extLst>
          </p:cNvPr>
          <p:cNvSpPr/>
          <p:nvPr/>
        </p:nvSpPr>
        <p:spPr>
          <a:xfrm>
            <a:off x="7036159" y="2601531"/>
            <a:ext cx="1408096" cy="4851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Difference of est. Difference in Proportions (</a:t>
            </a:r>
            <a:r>
              <a:rPr lang="el-GR" sz="9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9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9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1146" name="Rectangle: Rounded Corners 1145">
            <a:extLst>
              <a:ext uri="{FF2B5EF4-FFF2-40B4-BE49-F238E27FC236}">
                <a16:creationId xmlns:a16="http://schemas.microsoft.com/office/drawing/2014/main" id="{38B48DBE-78D2-3047-6DD6-46E2DD90AB47}"/>
              </a:ext>
            </a:extLst>
          </p:cNvPr>
          <p:cNvSpPr/>
          <p:nvPr/>
        </p:nvSpPr>
        <p:spPr>
          <a:xfrm>
            <a:off x="5671021" y="3610377"/>
            <a:ext cx="1129031" cy="3649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</a:t>
            </a:r>
          </a:p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Odds Ratio (</a:t>
            </a:r>
            <a:r>
              <a:rPr lang="fi-FI" sz="900" dirty="0">
                <a:latin typeface="Segoe UI Variable Display Semib" pitchFamily="2" charset="0"/>
              </a:rPr>
              <a:t>OR̂</a:t>
            </a:r>
            <a:r>
              <a:rPr lang="fi-FI" sz="9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900" dirty="0"/>
          </a:p>
        </p:txBody>
      </p:sp>
      <p:sp>
        <p:nvSpPr>
          <p:cNvPr id="1147" name="Rectangle: Rounded Corners 1146">
            <a:extLst>
              <a:ext uri="{FF2B5EF4-FFF2-40B4-BE49-F238E27FC236}">
                <a16:creationId xmlns:a16="http://schemas.microsoft.com/office/drawing/2014/main" id="{827E0055-FCC3-CEAD-8FB1-9EFEE4EE93C3}"/>
              </a:ext>
            </a:extLst>
          </p:cNvPr>
          <p:cNvSpPr/>
          <p:nvPr/>
        </p:nvSpPr>
        <p:spPr>
          <a:xfrm>
            <a:off x="7049059" y="3623255"/>
            <a:ext cx="1373732" cy="3649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ratio of  </a:t>
            </a:r>
          </a:p>
          <a:p>
            <a:pPr algn="ctr"/>
            <a:r>
              <a:rPr lang="en-US" sz="900" dirty="0">
                <a:latin typeface="Segoe UI Variable Display Semib" pitchFamily="2" charset="0"/>
                <a:ea typeface="Microsoft YaHei UI" panose="020B0503020204020204" pitchFamily="34" charset="-122"/>
              </a:rPr>
              <a:t>est. Odds Ratio (R</a:t>
            </a:r>
            <a:r>
              <a:rPr lang="fi-FI" sz="900" dirty="0">
                <a:latin typeface="Segoe UI Variable Display Semib" pitchFamily="2" charset="0"/>
              </a:rPr>
              <a:t>OR̂</a:t>
            </a:r>
            <a:r>
              <a:rPr lang="fi-FI" sz="9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308EC903-6943-906E-CA7C-3D15B5499E70}"/>
              </a:ext>
            </a:extLst>
          </p:cNvPr>
          <p:cNvCxnSpPr>
            <a:cxnSpLocks/>
          </p:cNvCxnSpPr>
          <p:nvPr/>
        </p:nvCxnSpPr>
        <p:spPr>
          <a:xfrm>
            <a:off x="6832255" y="2831206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1" name="Straight Arrow Connector 1150">
            <a:extLst>
              <a:ext uri="{FF2B5EF4-FFF2-40B4-BE49-F238E27FC236}">
                <a16:creationId xmlns:a16="http://schemas.microsoft.com/office/drawing/2014/main" id="{B4A5C86C-6194-F4B8-DA7F-ACB6789DE1FB}"/>
              </a:ext>
            </a:extLst>
          </p:cNvPr>
          <p:cNvCxnSpPr>
            <a:cxnSpLocks/>
          </p:cNvCxnSpPr>
          <p:nvPr/>
        </p:nvCxnSpPr>
        <p:spPr>
          <a:xfrm>
            <a:off x="5293232" y="2803303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2" name="Straight Arrow Connector 1151">
            <a:extLst>
              <a:ext uri="{FF2B5EF4-FFF2-40B4-BE49-F238E27FC236}">
                <a16:creationId xmlns:a16="http://schemas.microsoft.com/office/drawing/2014/main" id="{8D080893-8097-A876-8A26-FCB6313F971A}"/>
              </a:ext>
            </a:extLst>
          </p:cNvPr>
          <p:cNvCxnSpPr>
            <a:cxnSpLocks/>
          </p:cNvCxnSpPr>
          <p:nvPr/>
        </p:nvCxnSpPr>
        <p:spPr>
          <a:xfrm>
            <a:off x="5355484" y="3822880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3" name="Straight Arrow Connector 1152">
            <a:extLst>
              <a:ext uri="{FF2B5EF4-FFF2-40B4-BE49-F238E27FC236}">
                <a16:creationId xmlns:a16="http://schemas.microsoft.com/office/drawing/2014/main" id="{9025157D-083F-1DFC-0EC9-911C729DE2C4}"/>
              </a:ext>
            </a:extLst>
          </p:cNvPr>
          <p:cNvCxnSpPr>
            <a:cxnSpLocks/>
          </p:cNvCxnSpPr>
          <p:nvPr/>
        </p:nvCxnSpPr>
        <p:spPr>
          <a:xfrm>
            <a:off x="6858017" y="3784244"/>
            <a:ext cx="1566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4" name="Rectangle: Rounded Corners 1153">
            <a:extLst>
              <a:ext uri="{FF2B5EF4-FFF2-40B4-BE49-F238E27FC236}">
                <a16:creationId xmlns:a16="http://schemas.microsoft.com/office/drawing/2014/main" id="{C883C8F0-F4C5-AA83-FCFE-6041BCC61AEE}"/>
              </a:ext>
            </a:extLst>
          </p:cNvPr>
          <p:cNvSpPr/>
          <p:nvPr/>
        </p:nvSpPr>
        <p:spPr>
          <a:xfrm>
            <a:off x="8884291" y="3085577"/>
            <a:ext cx="779164" cy="414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Compute 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95 % CI</a:t>
            </a:r>
            <a:endParaRPr lang="fi-FI" sz="1000" dirty="0"/>
          </a:p>
        </p:txBody>
      </p:sp>
      <p:sp>
        <p:nvSpPr>
          <p:cNvPr id="1168" name="Diamond 1167">
            <a:extLst>
              <a:ext uri="{FF2B5EF4-FFF2-40B4-BE49-F238E27FC236}">
                <a16:creationId xmlns:a16="http://schemas.microsoft.com/office/drawing/2014/main" id="{2E6B9578-5479-B173-38D6-8578463C462A}"/>
              </a:ext>
            </a:extLst>
          </p:cNvPr>
          <p:cNvSpPr/>
          <p:nvPr/>
        </p:nvSpPr>
        <p:spPr>
          <a:xfrm>
            <a:off x="9783668" y="3146598"/>
            <a:ext cx="283331" cy="29206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1172" name="Straight Connector 1171">
            <a:extLst>
              <a:ext uri="{FF2B5EF4-FFF2-40B4-BE49-F238E27FC236}">
                <a16:creationId xmlns:a16="http://schemas.microsoft.com/office/drawing/2014/main" id="{2FD2E6DD-53D7-7906-1A8E-F7B02C93D14C}"/>
              </a:ext>
            </a:extLst>
          </p:cNvPr>
          <p:cNvCxnSpPr>
            <a:cxnSpLocks/>
            <a:stCxn id="1154" idx="3"/>
            <a:endCxn id="1168" idx="1"/>
          </p:cNvCxnSpPr>
          <p:nvPr/>
        </p:nvCxnSpPr>
        <p:spPr>
          <a:xfrm>
            <a:off x="9663455" y="3292629"/>
            <a:ext cx="1202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4" name="Rectangle: Rounded Corners 1173">
            <a:extLst>
              <a:ext uri="{FF2B5EF4-FFF2-40B4-BE49-F238E27FC236}">
                <a16:creationId xmlns:a16="http://schemas.microsoft.com/office/drawing/2014/main" id="{A1732D0D-6E6A-E3DA-5E16-571B00B25CDF}"/>
              </a:ext>
            </a:extLst>
          </p:cNvPr>
          <p:cNvSpPr/>
          <p:nvPr/>
        </p:nvSpPr>
        <p:spPr>
          <a:xfrm>
            <a:off x="10796800" y="2934197"/>
            <a:ext cx="734085" cy="298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Non-Sig.</a:t>
            </a:r>
            <a:endParaRPr lang="fi-FI" sz="1000" dirty="0"/>
          </a:p>
        </p:txBody>
      </p:sp>
      <p:sp>
        <p:nvSpPr>
          <p:cNvPr id="1175" name="Rectangle: Rounded Corners 1174">
            <a:extLst>
              <a:ext uri="{FF2B5EF4-FFF2-40B4-BE49-F238E27FC236}">
                <a16:creationId xmlns:a16="http://schemas.microsoft.com/office/drawing/2014/main" id="{2A9CB931-CE23-0E71-6342-FBF85AD970ED}"/>
              </a:ext>
            </a:extLst>
          </p:cNvPr>
          <p:cNvSpPr/>
          <p:nvPr/>
        </p:nvSpPr>
        <p:spPr>
          <a:xfrm>
            <a:off x="10781775" y="3399983"/>
            <a:ext cx="461481" cy="298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Sig.</a:t>
            </a:r>
            <a:endParaRPr lang="fi-FI" sz="1000" dirty="0"/>
          </a:p>
        </p:txBody>
      </p:sp>
      <p:cxnSp>
        <p:nvCxnSpPr>
          <p:cNvPr id="1176" name="Connector: Elbow 1175">
            <a:extLst>
              <a:ext uri="{FF2B5EF4-FFF2-40B4-BE49-F238E27FC236}">
                <a16:creationId xmlns:a16="http://schemas.microsoft.com/office/drawing/2014/main" id="{82DD6FE5-50A1-BBAC-5FE3-813BCA1CBF48}"/>
              </a:ext>
            </a:extLst>
          </p:cNvPr>
          <p:cNvCxnSpPr>
            <a:cxnSpLocks/>
            <a:stCxn id="1168" idx="0"/>
            <a:endCxn id="1174" idx="1"/>
          </p:cNvCxnSpPr>
          <p:nvPr/>
        </p:nvCxnSpPr>
        <p:spPr>
          <a:xfrm rot="5400000" flipH="1" flipV="1">
            <a:off x="10329467" y="2679265"/>
            <a:ext cx="63201" cy="87146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1" name="Connector: Elbow 1180">
            <a:extLst>
              <a:ext uri="{FF2B5EF4-FFF2-40B4-BE49-F238E27FC236}">
                <a16:creationId xmlns:a16="http://schemas.microsoft.com/office/drawing/2014/main" id="{A47BB859-4E99-A296-6579-0E7BB4A5F34F}"/>
              </a:ext>
            </a:extLst>
          </p:cNvPr>
          <p:cNvCxnSpPr>
            <a:cxnSpLocks/>
            <a:stCxn id="1168" idx="2"/>
            <a:endCxn id="1175" idx="1"/>
          </p:cNvCxnSpPr>
          <p:nvPr/>
        </p:nvCxnSpPr>
        <p:spPr>
          <a:xfrm rot="16200000" flipH="1">
            <a:off x="10298293" y="3065700"/>
            <a:ext cx="110523" cy="85644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4" name="TextBox 1183">
            <a:extLst>
              <a:ext uri="{FF2B5EF4-FFF2-40B4-BE49-F238E27FC236}">
                <a16:creationId xmlns:a16="http://schemas.microsoft.com/office/drawing/2014/main" id="{5E8DB8C9-F279-A215-AA4D-B31D39C9A830}"/>
              </a:ext>
            </a:extLst>
          </p:cNvPr>
          <p:cNvSpPr txBox="1"/>
          <p:nvPr/>
        </p:nvSpPr>
        <p:spPr>
          <a:xfrm>
            <a:off x="9805121" y="2775360"/>
            <a:ext cx="1120469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includes null value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A3F397F8-B177-B589-0DEF-A6B6155E4143}"/>
              </a:ext>
            </a:extLst>
          </p:cNvPr>
          <p:cNvSpPr txBox="1"/>
          <p:nvPr/>
        </p:nvSpPr>
        <p:spPr>
          <a:xfrm>
            <a:off x="9747167" y="3550238"/>
            <a:ext cx="1068952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excludes null value</a:t>
            </a:r>
          </a:p>
        </p:txBody>
      </p:sp>
      <p:sp>
        <p:nvSpPr>
          <p:cNvPr id="1213" name="Right Brace 1212">
            <a:extLst>
              <a:ext uri="{FF2B5EF4-FFF2-40B4-BE49-F238E27FC236}">
                <a16:creationId xmlns:a16="http://schemas.microsoft.com/office/drawing/2014/main" id="{D6D54CC4-CE2C-FBF1-4A0A-874EA2312238}"/>
              </a:ext>
            </a:extLst>
          </p:cNvPr>
          <p:cNvSpPr/>
          <p:nvPr/>
        </p:nvSpPr>
        <p:spPr>
          <a:xfrm>
            <a:off x="8590215" y="2889161"/>
            <a:ext cx="218941" cy="85000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14" name="Rectangle 1213">
            <a:extLst>
              <a:ext uri="{FF2B5EF4-FFF2-40B4-BE49-F238E27FC236}">
                <a16:creationId xmlns:a16="http://schemas.microsoft.com/office/drawing/2014/main" id="{141184E0-FFD5-AE33-C5AC-C70D0DA5EFD7}"/>
              </a:ext>
            </a:extLst>
          </p:cNvPr>
          <p:cNvSpPr/>
          <p:nvPr/>
        </p:nvSpPr>
        <p:spPr>
          <a:xfrm>
            <a:off x="5507872" y="2513527"/>
            <a:ext cx="2996485" cy="62033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15" name="Rectangle 1214">
            <a:extLst>
              <a:ext uri="{FF2B5EF4-FFF2-40B4-BE49-F238E27FC236}">
                <a16:creationId xmlns:a16="http://schemas.microsoft.com/office/drawing/2014/main" id="{387BD59C-0156-0D26-A613-B5258BAC5F19}"/>
              </a:ext>
            </a:extLst>
          </p:cNvPr>
          <p:cNvSpPr/>
          <p:nvPr/>
        </p:nvSpPr>
        <p:spPr>
          <a:xfrm>
            <a:off x="5589440" y="3554570"/>
            <a:ext cx="2927798" cy="519448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41" name="Rectangle: Rounded Corners 1240">
            <a:extLst>
              <a:ext uri="{FF2B5EF4-FFF2-40B4-BE49-F238E27FC236}">
                <a16:creationId xmlns:a16="http://schemas.microsoft.com/office/drawing/2014/main" id="{588AB7AC-0E1D-D97C-E27D-4F94169E3299}"/>
              </a:ext>
            </a:extLst>
          </p:cNvPr>
          <p:cNvSpPr/>
          <p:nvPr/>
        </p:nvSpPr>
        <p:spPr>
          <a:xfrm>
            <a:off x="6396508" y="1111876"/>
            <a:ext cx="1768702" cy="42929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Create Feature – Outcome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Pairs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1242" name="Straight Arrow Connector 1241">
            <a:extLst>
              <a:ext uri="{FF2B5EF4-FFF2-40B4-BE49-F238E27FC236}">
                <a16:creationId xmlns:a16="http://schemas.microsoft.com/office/drawing/2014/main" id="{637AB8F7-2A10-1E4D-CAB7-5D83C54BB8E3}"/>
              </a:ext>
            </a:extLst>
          </p:cNvPr>
          <p:cNvCxnSpPr>
            <a:cxnSpLocks/>
          </p:cNvCxnSpPr>
          <p:nvPr/>
        </p:nvCxnSpPr>
        <p:spPr>
          <a:xfrm>
            <a:off x="8190981" y="1300768"/>
            <a:ext cx="193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726C4022-ECEF-9177-8589-11A24E178822}"/>
              </a:ext>
            </a:extLst>
          </p:cNvPr>
          <p:cNvSpPr/>
          <p:nvPr/>
        </p:nvSpPr>
        <p:spPr>
          <a:xfrm>
            <a:off x="8465719" y="884350"/>
            <a:ext cx="1665667" cy="8199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EA3A070B-AFF6-E4AF-5919-325296CAD7B2}"/>
              </a:ext>
            </a:extLst>
          </p:cNvPr>
          <p:cNvSpPr txBox="1"/>
          <p:nvPr/>
        </p:nvSpPr>
        <p:spPr>
          <a:xfrm>
            <a:off x="6946016" y="5274863"/>
            <a:ext cx="1682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= 0 </a:t>
            </a: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BEC0B818-4E6D-3ACD-6E27-D5D4ACD05F96}"/>
              </a:ext>
            </a:extLst>
          </p:cNvPr>
          <p:cNvSpPr txBox="1"/>
          <p:nvPr/>
        </p:nvSpPr>
        <p:spPr>
          <a:xfrm>
            <a:off x="6943870" y="5676252"/>
            <a:ext cx="1809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&lt; 0 </a:t>
            </a: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92C72BAA-105B-3FA2-9493-7ABD9D58D79F}"/>
              </a:ext>
            </a:extLst>
          </p:cNvPr>
          <p:cNvSpPr txBox="1"/>
          <p:nvPr/>
        </p:nvSpPr>
        <p:spPr>
          <a:xfrm>
            <a:off x="6967480" y="4918548"/>
            <a:ext cx="1828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&gt; 0 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26D12FF4-91AF-103D-19AE-8D9BB1D83EDB}"/>
              </a:ext>
            </a:extLst>
          </p:cNvPr>
          <p:cNvSpPr txBox="1"/>
          <p:nvPr/>
        </p:nvSpPr>
        <p:spPr>
          <a:xfrm>
            <a:off x="7493376" y="5010745"/>
            <a:ext cx="1849166" cy="2462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Synergistic (Reinforcing)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1251" name="Connector: Elbow 1250">
            <a:extLst>
              <a:ext uri="{FF2B5EF4-FFF2-40B4-BE49-F238E27FC236}">
                <a16:creationId xmlns:a16="http://schemas.microsoft.com/office/drawing/2014/main" id="{F149289F-E979-52FE-C402-39D2C56E2FCE}"/>
              </a:ext>
            </a:extLst>
          </p:cNvPr>
          <p:cNvCxnSpPr>
            <a:cxnSpLocks/>
            <a:stCxn id="1256" idx="0"/>
            <a:endCxn id="1250" idx="1"/>
          </p:cNvCxnSpPr>
          <p:nvPr/>
        </p:nvCxnSpPr>
        <p:spPr>
          <a:xfrm rot="5400000" flipH="1" flipV="1">
            <a:off x="7044138" y="4866183"/>
            <a:ext cx="181565" cy="71691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2" name="TextBox 1251">
            <a:extLst>
              <a:ext uri="{FF2B5EF4-FFF2-40B4-BE49-F238E27FC236}">
                <a16:creationId xmlns:a16="http://schemas.microsoft.com/office/drawing/2014/main" id="{15311B39-58E7-42D9-531F-3731C9ADD8BE}"/>
              </a:ext>
            </a:extLst>
          </p:cNvPr>
          <p:cNvSpPr txBox="1"/>
          <p:nvPr/>
        </p:nvSpPr>
        <p:spPr>
          <a:xfrm>
            <a:off x="7476203" y="5357450"/>
            <a:ext cx="1855747" cy="2462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No Interaction(Independent)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C75F38BA-4EB3-523C-57D5-EB523ED969C8}"/>
              </a:ext>
            </a:extLst>
          </p:cNvPr>
          <p:cNvSpPr txBox="1"/>
          <p:nvPr/>
        </p:nvSpPr>
        <p:spPr>
          <a:xfrm>
            <a:off x="7504108" y="5754777"/>
            <a:ext cx="1824489" cy="2462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Variable Display Semib" pitchFamily="2" charset="0"/>
              </a:rPr>
              <a:t>Antagonistic(Weakening)</a:t>
            </a:r>
            <a:endParaRPr lang="en-US" sz="10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1254" name="Connector: Elbow 1253">
            <a:extLst>
              <a:ext uri="{FF2B5EF4-FFF2-40B4-BE49-F238E27FC236}">
                <a16:creationId xmlns:a16="http://schemas.microsoft.com/office/drawing/2014/main" id="{6D8F2361-5E33-ED61-1F49-CE211D6B421C}"/>
              </a:ext>
            </a:extLst>
          </p:cNvPr>
          <p:cNvCxnSpPr>
            <a:cxnSpLocks/>
            <a:stCxn id="1256" idx="2"/>
            <a:endCxn id="1253" idx="1"/>
          </p:cNvCxnSpPr>
          <p:nvPr/>
        </p:nvCxnSpPr>
        <p:spPr>
          <a:xfrm rot="16200000" flipH="1">
            <a:off x="7024193" y="5397972"/>
            <a:ext cx="232187" cy="72764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5" name="Straight Arrow Connector 1254">
            <a:extLst>
              <a:ext uri="{FF2B5EF4-FFF2-40B4-BE49-F238E27FC236}">
                <a16:creationId xmlns:a16="http://schemas.microsoft.com/office/drawing/2014/main" id="{BBCF552C-249D-8232-2A44-7425A9C7586B}"/>
              </a:ext>
            </a:extLst>
          </p:cNvPr>
          <p:cNvCxnSpPr>
            <a:cxnSpLocks/>
            <a:stCxn id="1256" idx="3"/>
            <a:endCxn id="1252" idx="1"/>
          </p:cNvCxnSpPr>
          <p:nvPr/>
        </p:nvCxnSpPr>
        <p:spPr>
          <a:xfrm>
            <a:off x="6956768" y="5480561"/>
            <a:ext cx="5194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6" name="Diamond 1255">
            <a:extLst>
              <a:ext uri="{FF2B5EF4-FFF2-40B4-BE49-F238E27FC236}">
                <a16:creationId xmlns:a16="http://schemas.microsoft.com/office/drawing/2014/main" id="{5330DAB4-D6AA-0CEB-1BC3-A16CD30E3381}"/>
              </a:ext>
            </a:extLst>
          </p:cNvPr>
          <p:cNvSpPr/>
          <p:nvPr/>
        </p:nvSpPr>
        <p:spPr>
          <a:xfrm>
            <a:off x="6596160" y="5315421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sp>
        <p:nvSpPr>
          <p:cNvPr id="1258" name="TextBox 1257">
            <a:extLst>
              <a:ext uri="{FF2B5EF4-FFF2-40B4-BE49-F238E27FC236}">
                <a16:creationId xmlns:a16="http://schemas.microsoft.com/office/drawing/2014/main" id="{37243BC4-437D-A62C-C11B-2F60040630E7}"/>
              </a:ext>
            </a:extLst>
          </p:cNvPr>
          <p:cNvSpPr txBox="1"/>
          <p:nvPr/>
        </p:nvSpPr>
        <p:spPr>
          <a:xfrm>
            <a:off x="4853189" y="5338223"/>
            <a:ext cx="1242810" cy="27241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l-GR" sz="10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0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0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000" dirty="0">
                <a:latin typeface="Segoe UI Variable Display Semib" pitchFamily="2" charset="0"/>
              </a:rPr>
              <a:t>OR̂)</a:t>
            </a:r>
            <a:r>
              <a:rPr lang="en-US" sz="1000" dirty="0">
                <a:latin typeface="Segoe UI Variable Display Semib" pitchFamily="2" charset="0"/>
                <a:cs typeface="Segoe UI Semibold" panose="020B0702040204020203" pitchFamily="34" charset="0"/>
              </a:rPr>
              <a:t> </a:t>
            </a:r>
            <a:endParaRPr lang="fi-FI" sz="1000" dirty="0"/>
          </a:p>
        </p:txBody>
      </p:sp>
      <p:cxnSp>
        <p:nvCxnSpPr>
          <p:cNvPr id="1276" name="Straight Arrow Connector 1275">
            <a:extLst>
              <a:ext uri="{FF2B5EF4-FFF2-40B4-BE49-F238E27FC236}">
                <a16:creationId xmlns:a16="http://schemas.microsoft.com/office/drawing/2014/main" id="{5B771F1C-B887-51F1-9965-D056D4B818F8}"/>
              </a:ext>
            </a:extLst>
          </p:cNvPr>
          <p:cNvCxnSpPr>
            <a:cxnSpLocks/>
          </p:cNvCxnSpPr>
          <p:nvPr/>
        </p:nvCxnSpPr>
        <p:spPr>
          <a:xfrm flipV="1">
            <a:off x="6184016" y="5465898"/>
            <a:ext cx="330578" cy="5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060EA92-8B9D-D2EF-0034-40C0F24ABADC}"/>
              </a:ext>
            </a:extLst>
          </p:cNvPr>
          <p:cNvCxnSpPr>
            <a:cxnSpLocks/>
          </p:cNvCxnSpPr>
          <p:nvPr/>
        </p:nvCxnSpPr>
        <p:spPr>
          <a:xfrm>
            <a:off x="6078828" y="1317938"/>
            <a:ext cx="2446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685BD5-79E2-B237-80AA-953BC1A0481B}"/>
              </a:ext>
            </a:extLst>
          </p:cNvPr>
          <p:cNvSpPr/>
          <p:nvPr/>
        </p:nvSpPr>
        <p:spPr>
          <a:xfrm>
            <a:off x="2760371" y="2878426"/>
            <a:ext cx="985238" cy="5494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Assess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 effects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FAB30A-BAD6-3C40-E1E3-63F7110556FB}"/>
              </a:ext>
            </a:extLst>
          </p:cNvPr>
          <p:cNvCxnSpPr>
            <a:cxnSpLocks/>
          </p:cNvCxnSpPr>
          <p:nvPr/>
        </p:nvCxnSpPr>
        <p:spPr>
          <a:xfrm>
            <a:off x="2556456" y="3136007"/>
            <a:ext cx="1717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A72FF69-47CB-2510-56D2-AABC73F3E1FC}"/>
              </a:ext>
            </a:extLst>
          </p:cNvPr>
          <p:cNvSpPr/>
          <p:nvPr/>
        </p:nvSpPr>
        <p:spPr>
          <a:xfrm>
            <a:off x="3436511" y="5215941"/>
            <a:ext cx="985238" cy="5494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Interpret Effects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0E7EC7-12D4-107F-0A2E-1CDA9EC2D7EA}"/>
              </a:ext>
            </a:extLst>
          </p:cNvPr>
          <p:cNvCxnSpPr>
            <a:cxnSpLocks/>
          </p:cNvCxnSpPr>
          <p:nvPr/>
        </p:nvCxnSpPr>
        <p:spPr>
          <a:xfrm flipV="1">
            <a:off x="4451807" y="5468044"/>
            <a:ext cx="330578" cy="5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455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31971A88-73EB-E62C-376E-59DEF00ACE08}"/>
              </a:ext>
            </a:extLst>
          </p:cNvPr>
          <p:cNvSpPr/>
          <p:nvPr/>
        </p:nvSpPr>
        <p:spPr>
          <a:xfrm>
            <a:off x="1234236" y="128788"/>
            <a:ext cx="1244959" cy="579549"/>
          </a:xfrm>
          <a:prstGeom prst="can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Segoe UI Variable Display Semib" pitchFamily="2" charset="0"/>
              </a:rPr>
              <a:t>GameMetaDroid</a:t>
            </a:r>
            <a:endParaRPr lang="fi-FI" sz="1050" dirty="0">
              <a:latin typeface="Segoe UI Variable Display Semib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37501B-1F52-93D2-E7EF-B5D8154DD191}"/>
              </a:ext>
            </a:extLst>
          </p:cNvPr>
          <p:cNvSpPr/>
          <p:nvPr/>
        </p:nvSpPr>
        <p:spPr>
          <a:xfrm>
            <a:off x="3556718" y="912790"/>
            <a:ext cx="929429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Binarize Variables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DE0B66-3DE0-EDA4-6685-C588EF4558A4}"/>
              </a:ext>
            </a:extLst>
          </p:cNvPr>
          <p:cNvCxnSpPr>
            <a:cxnSpLocks/>
            <a:stCxn id="100" idx="3"/>
            <a:endCxn id="20" idx="1"/>
          </p:cNvCxnSpPr>
          <p:nvPr/>
        </p:nvCxnSpPr>
        <p:spPr>
          <a:xfrm flipV="1">
            <a:off x="3434376" y="1155106"/>
            <a:ext cx="122342" cy="12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EC3C606-0B83-5409-9F24-1F1D9A37A464}"/>
              </a:ext>
            </a:extLst>
          </p:cNvPr>
          <p:cNvSpPr/>
          <p:nvPr/>
        </p:nvSpPr>
        <p:spPr>
          <a:xfrm>
            <a:off x="4621372" y="910106"/>
            <a:ext cx="1371600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Create Features x Outcome Pairs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CEF2B5-8F02-CF6D-97DE-86573397402A}"/>
              </a:ext>
            </a:extLst>
          </p:cNvPr>
          <p:cNvSpPr/>
          <p:nvPr/>
        </p:nvSpPr>
        <p:spPr>
          <a:xfrm>
            <a:off x="6126052" y="907959"/>
            <a:ext cx="1541175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Construct 2x2 Contingency Tables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EC329D-0F32-7951-A5A2-A5F8D7EA551C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 flipV="1">
            <a:off x="5992972" y="1150275"/>
            <a:ext cx="133080" cy="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13DB047-47FE-0EEB-E2EF-F745A1AD3AD8}"/>
              </a:ext>
            </a:extLst>
          </p:cNvPr>
          <p:cNvSpPr/>
          <p:nvPr/>
        </p:nvSpPr>
        <p:spPr>
          <a:xfrm>
            <a:off x="7793867" y="905812"/>
            <a:ext cx="114837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probabilities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9B26CE3-5B07-5085-FFA0-0D0B880F5AB2}"/>
              </a:ext>
            </a:extLst>
          </p:cNvPr>
          <p:cNvCxnSpPr>
            <a:cxnSpLocks/>
            <a:stCxn id="42" idx="3"/>
            <a:endCxn id="48" idx="1"/>
          </p:cNvCxnSpPr>
          <p:nvPr/>
        </p:nvCxnSpPr>
        <p:spPr>
          <a:xfrm flipV="1">
            <a:off x="7667227" y="1148128"/>
            <a:ext cx="126640" cy="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D8AEFB0-1942-B623-CF78-90648DD679C9}"/>
              </a:ext>
            </a:extLst>
          </p:cNvPr>
          <p:cNvSpPr/>
          <p:nvPr/>
        </p:nvSpPr>
        <p:spPr>
          <a:xfrm>
            <a:off x="6937439" y="1987643"/>
            <a:ext cx="1648495" cy="45934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 Difference in Proportions (</a:t>
            </a:r>
            <a:r>
              <a:rPr lang="el-GR" sz="1000" dirty="0">
                <a:latin typeface="Segoe UI Variable Display Semib" pitchFamily="2" charset="0"/>
                <a:cs typeface="Segoe UI Semibold" panose="020B0702040204020203" pitchFamily="34" charset="0"/>
              </a:rPr>
              <a:t>Δ</a:t>
            </a:r>
            <a:r>
              <a:rPr lang="fi-FI" sz="10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0DEAF53-F745-C207-943A-47D24691B81C}"/>
              </a:ext>
            </a:extLst>
          </p:cNvPr>
          <p:cNvSpPr/>
          <p:nvPr/>
        </p:nvSpPr>
        <p:spPr>
          <a:xfrm>
            <a:off x="7031882" y="3095223"/>
            <a:ext cx="1257840" cy="4846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Odds Ratio (</a:t>
            </a:r>
            <a:r>
              <a:rPr lang="fi-FI" sz="1000" dirty="0">
                <a:latin typeface="Segoe UI Variable Display Semib" pitchFamily="2" charset="0"/>
              </a:rPr>
              <a:t>OR̂</a:t>
            </a:r>
            <a:r>
              <a:rPr lang="fi-FI" sz="10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000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D390557-D532-6F8F-BE3D-D0FC5A952462}"/>
              </a:ext>
            </a:extLst>
          </p:cNvPr>
          <p:cNvSpPr/>
          <p:nvPr/>
        </p:nvSpPr>
        <p:spPr>
          <a:xfrm>
            <a:off x="4722251" y="1979056"/>
            <a:ext cx="2094964" cy="4765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Difference of est. Difference in Proportions (</a:t>
            </a:r>
            <a:r>
              <a:rPr lang="el-GR" sz="10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0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43AF977-D204-E2B0-0CF3-716156FEA245}"/>
              </a:ext>
            </a:extLst>
          </p:cNvPr>
          <p:cNvSpPr/>
          <p:nvPr/>
        </p:nvSpPr>
        <p:spPr>
          <a:xfrm>
            <a:off x="5318991" y="3104278"/>
            <a:ext cx="1554051" cy="4846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ratio of  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est. Odds Ratio (R</a:t>
            </a:r>
            <a:r>
              <a:rPr lang="fi-FI" sz="1000" dirty="0">
                <a:latin typeface="Segoe UI Variable Display Semib" pitchFamily="2" charset="0"/>
              </a:rPr>
              <a:t>OR̂</a:t>
            </a:r>
            <a:r>
              <a:rPr lang="fi-FI" sz="10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6B04DD2-1023-DA59-15F3-289E337AE104}"/>
              </a:ext>
            </a:extLst>
          </p:cNvPr>
          <p:cNvSpPr/>
          <p:nvPr/>
        </p:nvSpPr>
        <p:spPr>
          <a:xfrm>
            <a:off x="1337268" y="926208"/>
            <a:ext cx="1038895" cy="4840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Divide Variables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C1C66E3-692D-74E0-1A8F-90894C8F9941}"/>
              </a:ext>
            </a:extLst>
          </p:cNvPr>
          <p:cNvCxnSpPr>
            <a:cxnSpLocks/>
            <a:stCxn id="4" idx="3"/>
            <a:endCxn id="85" idx="0"/>
          </p:cNvCxnSpPr>
          <p:nvPr/>
        </p:nvCxnSpPr>
        <p:spPr>
          <a:xfrm>
            <a:off x="1856716" y="708337"/>
            <a:ext cx="0" cy="217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C3E61DDE-1E74-5BA9-A44E-9760981BA352}"/>
              </a:ext>
            </a:extLst>
          </p:cNvPr>
          <p:cNvSpPr/>
          <p:nvPr/>
        </p:nvSpPr>
        <p:spPr>
          <a:xfrm>
            <a:off x="2539295" y="806003"/>
            <a:ext cx="815034" cy="3426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Success Outcomes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8EBB923-BFA5-765E-CA82-AA68BF8D231C}"/>
              </a:ext>
            </a:extLst>
          </p:cNvPr>
          <p:cNvSpPr/>
          <p:nvPr/>
        </p:nvSpPr>
        <p:spPr>
          <a:xfrm>
            <a:off x="2547881" y="1208465"/>
            <a:ext cx="804930" cy="3069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Features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B45454C-83CA-2D14-C95C-4C3D39B3EFC6}"/>
              </a:ext>
            </a:extLst>
          </p:cNvPr>
          <p:cNvCxnSpPr>
            <a:cxnSpLocks/>
            <a:stCxn id="85" idx="3"/>
            <a:endCxn id="92" idx="1"/>
          </p:cNvCxnSpPr>
          <p:nvPr/>
        </p:nvCxnSpPr>
        <p:spPr>
          <a:xfrm flipV="1">
            <a:off x="2376163" y="977332"/>
            <a:ext cx="163132" cy="190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3EEEAD4-FE78-9722-E498-269127945688}"/>
              </a:ext>
            </a:extLst>
          </p:cNvPr>
          <p:cNvCxnSpPr>
            <a:cxnSpLocks/>
            <a:stCxn id="85" idx="3"/>
            <a:endCxn id="93" idx="1"/>
          </p:cNvCxnSpPr>
          <p:nvPr/>
        </p:nvCxnSpPr>
        <p:spPr>
          <a:xfrm>
            <a:off x="2376163" y="1168223"/>
            <a:ext cx="171718" cy="193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1BB7EB3E-684C-FDB6-99F1-A3B225791781}"/>
              </a:ext>
            </a:extLst>
          </p:cNvPr>
          <p:cNvSpPr/>
          <p:nvPr/>
        </p:nvSpPr>
        <p:spPr>
          <a:xfrm>
            <a:off x="2459875" y="759853"/>
            <a:ext cx="974501" cy="8156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2877D20-69C9-D33E-F009-A0E25D2E41C5}"/>
              </a:ext>
            </a:extLst>
          </p:cNvPr>
          <p:cNvCxnSpPr>
            <a:cxnSpLocks/>
            <a:stCxn id="20" idx="3"/>
            <a:endCxn id="37" idx="1"/>
          </p:cNvCxnSpPr>
          <p:nvPr/>
        </p:nvCxnSpPr>
        <p:spPr>
          <a:xfrm flipV="1">
            <a:off x="4486147" y="1152422"/>
            <a:ext cx="135225" cy="2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D47146B-FA7B-C7CF-640C-456A712392CE}"/>
              </a:ext>
            </a:extLst>
          </p:cNvPr>
          <p:cNvCxnSpPr>
            <a:cxnSpLocks/>
            <a:stCxn id="52" idx="1"/>
            <a:endCxn id="75" idx="3"/>
          </p:cNvCxnSpPr>
          <p:nvPr/>
        </p:nvCxnSpPr>
        <p:spPr>
          <a:xfrm flipH="1" flipV="1">
            <a:off x="6817215" y="2217314"/>
            <a:ext cx="1202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Diamond 165">
            <a:extLst>
              <a:ext uri="{FF2B5EF4-FFF2-40B4-BE49-F238E27FC236}">
                <a16:creationId xmlns:a16="http://schemas.microsoft.com/office/drawing/2014/main" id="{74F77B7A-D6A1-AABB-232D-0DB9C747EC35}"/>
              </a:ext>
            </a:extLst>
          </p:cNvPr>
          <p:cNvSpPr/>
          <p:nvPr/>
        </p:nvSpPr>
        <p:spPr>
          <a:xfrm>
            <a:off x="2399769" y="2721594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E75E8F7-4735-E41C-D63A-F5D2BF94D3C1}"/>
              </a:ext>
            </a:extLst>
          </p:cNvPr>
          <p:cNvCxnSpPr>
            <a:cxnSpLocks/>
            <a:stCxn id="53" idx="1"/>
            <a:endCxn id="76" idx="3"/>
          </p:cNvCxnSpPr>
          <p:nvPr/>
        </p:nvCxnSpPr>
        <p:spPr>
          <a:xfrm flipH="1">
            <a:off x="6873042" y="3337539"/>
            <a:ext cx="158840" cy="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58869BEA-71E2-4329-E800-DC5803F0CC2F}"/>
              </a:ext>
            </a:extLst>
          </p:cNvPr>
          <p:cNvSpPr/>
          <p:nvPr/>
        </p:nvSpPr>
        <p:spPr>
          <a:xfrm>
            <a:off x="2990035" y="2638255"/>
            <a:ext cx="119560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95 % CI Score</a:t>
            </a:r>
            <a:endParaRPr lang="fi-FI" sz="12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866E5569-E294-4A4E-9D88-53453D871691}"/>
              </a:ext>
            </a:extLst>
          </p:cNvPr>
          <p:cNvSpPr txBox="1"/>
          <p:nvPr/>
        </p:nvSpPr>
        <p:spPr>
          <a:xfrm>
            <a:off x="978796" y="2316757"/>
            <a:ext cx="972236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Not Significant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E2252CC9-749C-E98D-AFAE-235019027585}"/>
              </a:ext>
            </a:extLst>
          </p:cNvPr>
          <p:cNvSpPr/>
          <p:nvPr/>
        </p:nvSpPr>
        <p:spPr>
          <a:xfrm>
            <a:off x="1146219" y="2999100"/>
            <a:ext cx="989533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Significant</a:t>
            </a:r>
            <a:endParaRPr lang="fi-FI" sz="1200" dirty="0"/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D5D97B8C-F8A2-8458-095F-93F56AB08313}"/>
              </a:ext>
            </a:extLst>
          </p:cNvPr>
          <p:cNvSpPr txBox="1"/>
          <p:nvPr/>
        </p:nvSpPr>
        <p:spPr>
          <a:xfrm>
            <a:off x="2140043" y="3241141"/>
            <a:ext cx="1002407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excludes 0</a:t>
            </a:r>
          </a:p>
        </p:txBody>
      </p: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43D25665-9185-421B-2A3D-CC8ABAF6169A}"/>
              </a:ext>
            </a:extLst>
          </p:cNvPr>
          <p:cNvCxnSpPr>
            <a:cxnSpLocks/>
            <a:stCxn id="222" idx="1"/>
            <a:endCxn id="166" idx="3"/>
          </p:cNvCxnSpPr>
          <p:nvPr/>
        </p:nvCxnSpPr>
        <p:spPr>
          <a:xfrm flipH="1">
            <a:off x="2760377" y="2880571"/>
            <a:ext cx="229658" cy="6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6" name="Connector: Elbow 425">
            <a:extLst>
              <a:ext uri="{FF2B5EF4-FFF2-40B4-BE49-F238E27FC236}">
                <a16:creationId xmlns:a16="http://schemas.microsoft.com/office/drawing/2014/main" id="{AD48EC2F-EBD3-A03E-0EC7-082D85BB34D4}"/>
              </a:ext>
            </a:extLst>
          </p:cNvPr>
          <p:cNvCxnSpPr>
            <a:cxnSpLocks/>
            <a:stCxn id="166" idx="2"/>
            <a:endCxn id="327" idx="3"/>
          </p:cNvCxnSpPr>
          <p:nvPr/>
        </p:nvCxnSpPr>
        <p:spPr>
          <a:xfrm rot="5400000">
            <a:off x="2263142" y="2924485"/>
            <a:ext cx="189542" cy="44432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1" name="Connector: Elbow 520">
            <a:extLst>
              <a:ext uri="{FF2B5EF4-FFF2-40B4-BE49-F238E27FC236}">
                <a16:creationId xmlns:a16="http://schemas.microsoft.com/office/drawing/2014/main" id="{3733622A-BB32-674D-86A8-B70F662CBD84}"/>
              </a:ext>
            </a:extLst>
          </p:cNvPr>
          <p:cNvCxnSpPr>
            <a:cxnSpLocks/>
            <a:stCxn id="166" idx="0"/>
            <a:endCxn id="257" idx="3"/>
          </p:cNvCxnSpPr>
          <p:nvPr/>
        </p:nvCxnSpPr>
        <p:spPr>
          <a:xfrm rot="16200000" flipV="1">
            <a:off x="2178551" y="2320071"/>
            <a:ext cx="174004" cy="62904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7CB8312D-9020-CC3F-86B5-0AB68CB619FF}"/>
              </a:ext>
            </a:extLst>
          </p:cNvPr>
          <p:cNvCxnSpPr>
            <a:cxnSpLocks/>
            <a:stCxn id="48" idx="3"/>
            <a:endCxn id="553" idx="1"/>
          </p:cNvCxnSpPr>
          <p:nvPr/>
        </p:nvCxnSpPr>
        <p:spPr>
          <a:xfrm>
            <a:off x="8942238" y="1148128"/>
            <a:ext cx="124491" cy="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3" name="Rectangle 552">
            <a:extLst>
              <a:ext uri="{FF2B5EF4-FFF2-40B4-BE49-F238E27FC236}">
                <a16:creationId xmlns:a16="http://schemas.microsoft.com/office/drawing/2014/main" id="{79408A18-97B0-D1BB-6C51-3BB704269EE8}"/>
              </a:ext>
            </a:extLst>
          </p:cNvPr>
          <p:cNvSpPr/>
          <p:nvPr/>
        </p:nvSpPr>
        <p:spPr>
          <a:xfrm>
            <a:off x="9066729" y="912251"/>
            <a:ext cx="114837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Assess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06174-AD3C-4C74-B83B-676E98607C5F}"/>
              </a:ext>
            </a:extLst>
          </p:cNvPr>
          <p:cNvSpPr txBox="1"/>
          <p:nvPr/>
        </p:nvSpPr>
        <p:spPr>
          <a:xfrm>
            <a:off x="8822046" y="2012237"/>
            <a:ext cx="1390915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Evaluate Additive Interaction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B75F45A-BD03-FED5-723F-27AC66BD7867}"/>
              </a:ext>
            </a:extLst>
          </p:cNvPr>
          <p:cNvCxnSpPr>
            <a:cxnSpLocks/>
            <a:stCxn id="553" idx="3"/>
            <a:endCxn id="5" idx="3"/>
          </p:cNvCxnSpPr>
          <p:nvPr/>
        </p:nvCxnSpPr>
        <p:spPr>
          <a:xfrm flipH="1">
            <a:off x="10212961" y="1154567"/>
            <a:ext cx="2139" cy="1088503"/>
          </a:xfrm>
          <a:prstGeom prst="bentConnector3">
            <a:avLst>
              <a:gd name="adj1" fmla="val -20922908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6061437-6776-E580-D8E1-333D8AF475C6}"/>
              </a:ext>
            </a:extLst>
          </p:cNvPr>
          <p:cNvSpPr txBox="1"/>
          <p:nvPr/>
        </p:nvSpPr>
        <p:spPr>
          <a:xfrm>
            <a:off x="8628864" y="3136993"/>
            <a:ext cx="1742939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Evaluate Multiplicative Interaction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8031597-D7DB-BDED-28F7-4FBE13597183}"/>
              </a:ext>
            </a:extLst>
          </p:cNvPr>
          <p:cNvCxnSpPr>
            <a:cxnSpLocks/>
            <a:stCxn id="5" idx="1"/>
            <a:endCxn id="116" idx="3"/>
          </p:cNvCxnSpPr>
          <p:nvPr/>
        </p:nvCxnSpPr>
        <p:spPr>
          <a:xfrm flipH="1" flipV="1">
            <a:off x="8633158" y="2236631"/>
            <a:ext cx="188888" cy="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269F226-C78E-8332-8967-59834144C551}"/>
              </a:ext>
            </a:extLst>
          </p:cNvPr>
          <p:cNvSpPr/>
          <p:nvPr/>
        </p:nvSpPr>
        <p:spPr>
          <a:xfrm>
            <a:off x="4644980" y="1850265"/>
            <a:ext cx="3988178" cy="7727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B10842F5-B90E-19A8-E848-23D33A0685F1}"/>
              </a:ext>
            </a:extLst>
          </p:cNvPr>
          <p:cNvCxnSpPr>
            <a:cxnSpLocks/>
            <a:stCxn id="29" idx="1"/>
            <a:endCxn id="168" idx="3"/>
          </p:cNvCxnSpPr>
          <p:nvPr/>
        </p:nvCxnSpPr>
        <p:spPr>
          <a:xfrm flipH="1">
            <a:off x="8366975" y="3367826"/>
            <a:ext cx="2618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3D8A42C-0CAC-9291-E979-A0CFA4BC6C4C}"/>
              </a:ext>
            </a:extLst>
          </p:cNvPr>
          <p:cNvSpPr/>
          <p:nvPr/>
        </p:nvSpPr>
        <p:spPr>
          <a:xfrm>
            <a:off x="5224530" y="3035121"/>
            <a:ext cx="3142445" cy="6654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F9CFACAD-2B7B-D7DB-3E89-CC8BEF8DCEE4}"/>
              </a:ext>
            </a:extLst>
          </p:cNvPr>
          <p:cNvCxnSpPr>
            <a:cxnSpLocks/>
            <a:stCxn id="553" idx="3"/>
            <a:endCxn id="29" idx="3"/>
          </p:cNvCxnSpPr>
          <p:nvPr/>
        </p:nvCxnSpPr>
        <p:spPr>
          <a:xfrm>
            <a:off x="10215100" y="1154567"/>
            <a:ext cx="156703" cy="2213259"/>
          </a:xfrm>
          <a:prstGeom prst="bentConnector3">
            <a:avLst>
              <a:gd name="adj1" fmla="val 28149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10B4093F-1105-E7CD-5E84-29FD2D36D0A1}"/>
              </a:ext>
            </a:extLst>
          </p:cNvPr>
          <p:cNvSpPr txBox="1"/>
          <p:nvPr/>
        </p:nvSpPr>
        <p:spPr>
          <a:xfrm>
            <a:off x="2013400" y="2298838"/>
            <a:ext cx="1171974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If CI includes 0</a:t>
            </a:r>
          </a:p>
        </p:txBody>
      </p:sp>
      <p:cxnSp>
        <p:nvCxnSpPr>
          <p:cNvPr id="269" name="Connector: Elbow 268">
            <a:extLst>
              <a:ext uri="{FF2B5EF4-FFF2-40B4-BE49-F238E27FC236}">
                <a16:creationId xmlns:a16="http://schemas.microsoft.com/office/drawing/2014/main" id="{8B0A554D-02DF-D6E0-3233-3DF0AE2338C6}"/>
              </a:ext>
            </a:extLst>
          </p:cNvPr>
          <p:cNvCxnSpPr>
            <a:cxnSpLocks/>
            <a:stCxn id="75" idx="1"/>
            <a:endCxn id="222" idx="3"/>
          </p:cNvCxnSpPr>
          <p:nvPr/>
        </p:nvCxnSpPr>
        <p:spPr>
          <a:xfrm rot="10800000" flipV="1">
            <a:off x="4185637" y="2217313"/>
            <a:ext cx="536615" cy="66325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2" name="Connector: Elbow 271">
            <a:extLst>
              <a:ext uri="{FF2B5EF4-FFF2-40B4-BE49-F238E27FC236}">
                <a16:creationId xmlns:a16="http://schemas.microsoft.com/office/drawing/2014/main" id="{77A3FCD3-DACE-C258-2553-FC76200C9721}"/>
              </a:ext>
            </a:extLst>
          </p:cNvPr>
          <p:cNvCxnSpPr>
            <a:cxnSpLocks/>
            <a:stCxn id="76" idx="1"/>
            <a:endCxn id="222" idx="3"/>
          </p:cNvCxnSpPr>
          <p:nvPr/>
        </p:nvCxnSpPr>
        <p:spPr>
          <a:xfrm rot="10800000">
            <a:off x="4185637" y="2880572"/>
            <a:ext cx="1133355" cy="466023"/>
          </a:xfrm>
          <a:prstGeom prst="bentConnector3">
            <a:avLst>
              <a:gd name="adj1" fmla="val 76515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Rectangle 284">
            <a:extLst>
              <a:ext uri="{FF2B5EF4-FFF2-40B4-BE49-F238E27FC236}">
                <a16:creationId xmlns:a16="http://schemas.microsoft.com/office/drawing/2014/main" id="{978D7CF9-4E40-F4B9-9677-0955BB3A628B}"/>
              </a:ext>
            </a:extLst>
          </p:cNvPr>
          <p:cNvSpPr/>
          <p:nvPr/>
        </p:nvSpPr>
        <p:spPr>
          <a:xfrm>
            <a:off x="873604" y="4737512"/>
            <a:ext cx="1515426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Interpret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Interactions</a:t>
            </a:r>
            <a:endParaRPr lang="fi-FI" sz="1200" dirty="0"/>
          </a:p>
        </p:txBody>
      </p: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8BF76C76-A6F1-4423-90F3-6436C086EA3D}"/>
              </a:ext>
            </a:extLst>
          </p:cNvPr>
          <p:cNvCxnSpPr>
            <a:cxnSpLocks/>
            <a:stCxn id="327" idx="2"/>
            <a:endCxn id="285" idx="0"/>
          </p:cNvCxnSpPr>
          <p:nvPr/>
        </p:nvCxnSpPr>
        <p:spPr>
          <a:xfrm flipH="1">
            <a:off x="1631317" y="3483732"/>
            <a:ext cx="9669" cy="1253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A5328CBD-1BED-E553-DBB9-18BE8383B926}"/>
              </a:ext>
            </a:extLst>
          </p:cNvPr>
          <p:cNvSpPr txBox="1"/>
          <p:nvPr/>
        </p:nvSpPr>
        <p:spPr>
          <a:xfrm>
            <a:off x="3013667" y="5103144"/>
            <a:ext cx="1682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= 0 )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8D5E67E-B8F5-C235-C6D7-DE559A0F6E6C}"/>
              </a:ext>
            </a:extLst>
          </p:cNvPr>
          <p:cNvSpPr txBox="1"/>
          <p:nvPr/>
        </p:nvSpPr>
        <p:spPr>
          <a:xfrm>
            <a:off x="2994349" y="5757817"/>
            <a:ext cx="1809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&lt; 0 )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B1307CA5-09C6-F390-5155-8A06A80B1007}"/>
              </a:ext>
            </a:extLst>
          </p:cNvPr>
          <p:cNvSpPr txBox="1"/>
          <p:nvPr/>
        </p:nvSpPr>
        <p:spPr>
          <a:xfrm>
            <a:off x="3048010" y="4480666"/>
            <a:ext cx="1828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( </a:t>
            </a:r>
            <a:r>
              <a:rPr lang="el-GR" sz="11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1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&amp; log (</a:t>
            </a:r>
            <a:r>
              <a:rPr lang="en-US" sz="1100" dirty="0">
                <a:latin typeface="Segoe UI Variable Display Semib" pitchFamily="2" charset="0"/>
                <a:ea typeface="Microsoft YaHei UI" panose="020B0503020204020204" pitchFamily="34" charset="-122"/>
              </a:rPr>
              <a:t>R</a:t>
            </a:r>
            <a:r>
              <a:rPr lang="fi-FI" sz="1100" dirty="0">
                <a:latin typeface="Segoe UI Variable Display Semib" pitchFamily="2" charset="0"/>
              </a:rPr>
              <a:t>OR̂)</a:t>
            </a:r>
            <a:r>
              <a:rPr lang="en-US" sz="1100" dirty="0">
                <a:latin typeface="Segoe UI Variable Display Semib" pitchFamily="2" charset="0"/>
                <a:cs typeface="Segoe UI Semibold" panose="020B0702040204020203" pitchFamily="34" charset="0"/>
              </a:rPr>
              <a:t> &gt; 0 )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A6DC96FC-F616-EE2E-0757-ED09AA703153}"/>
              </a:ext>
            </a:extLst>
          </p:cNvPr>
          <p:cNvSpPr txBox="1"/>
          <p:nvPr/>
        </p:nvSpPr>
        <p:spPr>
          <a:xfrm>
            <a:off x="4756608" y="4482710"/>
            <a:ext cx="1145423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200" dirty="0">
                <a:latin typeface="Segoe UI Variable Display Semib" pitchFamily="2" charset="0"/>
              </a:rPr>
              <a:t>Synergistic </a:t>
            </a:r>
          </a:p>
          <a:p>
            <a:pPr algn="ctr"/>
            <a:r>
              <a:rPr lang="fi-FI" sz="1200" dirty="0">
                <a:latin typeface="Segoe UI Variable Display Semib" pitchFamily="2" charset="0"/>
              </a:rPr>
              <a:t>(Reinforcing)</a:t>
            </a:r>
            <a:endParaRPr lang="en-US" sz="12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294" name="Connector: Elbow 293">
            <a:extLst>
              <a:ext uri="{FF2B5EF4-FFF2-40B4-BE49-F238E27FC236}">
                <a16:creationId xmlns:a16="http://schemas.microsoft.com/office/drawing/2014/main" id="{90115AFE-86E0-7D92-F091-B4316D407A45}"/>
              </a:ext>
            </a:extLst>
          </p:cNvPr>
          <p:cNvCxnSpPr>
            <a:cxnSpLocks/>
            <a:stCxn id="299" idx="0"/>
            <a:endCxn id="293" idx="1"/>
          </p:cNvCxnSpPr>
          <p:nvPr/>
        </p:nvCxnSpPr>
        <p:spPr>
          <a:xfrm rot="5400000" flipH="1" flipV="1">
            <a:off x="3585645" y="4027820"/>
            <a:ext cx="485240" cy="185668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4BB5D350-9212-3C41-2602-C4227FDB3814}"/>
              </a:ext>
            </a:extLst>
          </p:cNvPr>
          <p:cNvSpPr txBox="1"/>
          <p:nvPr/>
        </p:nvSpPr>
        <p:spPr>
          <a:xfrm>
            <a:off x="4739437" y="5133090"/>
            <a:ext cx="122894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200" dirty="0">
                <a:latin typeface="Segoe UI Variable Display Semib" pitchFamily="2" charset="0"/>
              </a:rPr>
              <a:t>No Interaction (Independent)</a:t>
            </a:r>
            <a:endParaRPr lang="en-US" sz="12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E176575-987C-C0DF-3F9C-658B3B8C4002}"/>
              </a:ext>
            </a:extLst>
          </p:cNvPr>
          <p:cNvSpPr txBox="1"/>
          <p:nvPr/>
        </p:nvSpPr>
        <p:spPr>
          <a:xfrm>
            <a:off x="4767341" y="5759069"/>
            <a:ext cx="1182709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200" dirty="0">
                <a:latin typeface="Segoe UI Variable Display Semib" pitchFamily="2" charset="0"/>
              </a:rPr>
              <a:t>Antagonistic (Weakening)</a:t>
            </a:r>
            <a:endParaRPr lang="en-US" sz="1200" dirty="0">
              <a:latin typeface="Segoe UI Variable Display Semib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297" name="Connector: Elbow 296">
            <a:extLst>
              <a:ext uri="{FF2B5EF4-FFF2-40B4-BE49-F238E27FC236}">
                <a16:creationId xmlns:a16="http://schemas.microsoft.com/office/drawing/2014/main" id="{D0CC9264-6662-5261-C0CD-6B58003F7D64}"/>
              </a:ext>
            </a:extLst>
          </p:cNvPr>
          <p:cNvCxnSpPr>
            <a:cxnSpLocks/>
            <a:stCxn id="299" idx="2"/>
            <a:endCxn id="296" idx="1"/>
          </p:cNvCxnSpPr>
          <p:nvPr/>
        </p:nvCxnSpPr>
        <p:spPr>
          <a:xfrm rot="16200000" flipH="1">
            <a:off x="3603212" y="4825772"/>
            <a:ext cx="460839" cy="186741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8743B8DD-43A2-F2CD-C3F3-84B846B21925}"/>
              </a:ext>
            </a:extLst>
          </p:cNvPr>
          <p:cNvCxnSpPr>
            <a:cxnSpLocks/>
            <a:stCxn id="299" idx="3"/>
            <a:endCxn id="295" idx="1"/>
          </p:cNvCxnSpPr>
          <p:nvPr/>
        </p:nvCxnSpPr>
        <p:spPr>
          <a:xfrm>
            <a:off x="3080226" y="5363923"/>
            <a:ext cx="16592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9" name="Diamond 298">
            <a:extLst>
              <a:ext uri="{FF2B5EF4-FFF2-40B4-BE49-F238E27FC236}">
                <a16:creationId xmlns:a16="http://schemas.microsoft.com/office/drawing/2014/main" id="{3FCF7AC9-D7C0-021D-06CD-537C81E1055E}"/>
              </a:ext>
            </a:extLst>
          </p:cNvPr>
          <p:cNvSpPr/>
          <p:nvPr/>
        </p:nvSpPr>
        <p:spPr>
          <a:xfrm>
            <a:off x="2719618" y="5198783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300" name="Connector: Elbow 299">
            <a:extLst>
              <a:ext uri="{FF2B5EF4-FFF2-40B4-BE49-F238E27FC236}">
                <a16:creationId xmlns:a16="http://schemas.microsoft.com/office/drawing/2014/main" id="{2D6F2338-A92A-DCAA-521A-2B7ED867B360}"/>
              </a:ext>
            </a:extLst>
          </p:cNvPr>
          <p:cNvCxnSpPr>
            <a:cxnSpLocks/>
            <a:stCxn id="285" idx="2"/>
            <a:endCxn id="299" idx="1"/>
          </p:cNvCxnSpPr>
          <p:nvPr/>
        </p:nvCxnSpPr>
        <p:spPr>
          <a:xfrm rot="16200000" flipH="1">
            <a:off x="2104578" y="4748882"/>
            <a:ext cx="141779" cy="108830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589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31971A88-73EB-E62C-376E-59DEF00ACE08}"/>
              </a:ext>
            </a:extLst>
          </p:cNvPr>
          <p:cNvSpPr/>
          <p:nvPr/>
        </p:nvSpPr>
        <p:spPr>
          <a:xfrm>
            <a:off x="1234236" y="128788"/>
            <a:ext cx="1244959" cy="579549"/>
          </a:xfrm>
          <a:prstGeom prst="can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Segoe UI Variable Display Semib" pitchFamily="2" charset="0"/>
              </a:rPr>
              <a:t>GameMetaDroid</a:t>
            </a:r>
            <a:endParaRPr lang="fi-FI" sz="1050" dirty="0">
              <a:latin typeface="Segoe UI Variable Display Semib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37501B-1F52-93D2-E7EF-B5D8154DD191}"/>
              </a:ext>
            </a:extLst>
          </p:cNvPr>
          <p:cNvSpPr/>
          <p:nvPr/>
        </p:nvSpPr>
        <p:spPr>
          <a:xfrm>
            <a:off x="3556718" y="912790"/>
            <a:ext cx="929429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Binarize Variables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DE0B66-3DE0-EDA4-6685-C588EF4558A4}"/>
              </a:ext>
            </a:extLst>
          </p:cNvPr>
          <p:cNvCxnSpPr>
            <a:cxnSpLocks/>
            <a:stCxn id="100" idx="3"/>
            <a:endCxn id="20" idx="1"/>
          </p:cNvCxnSpPr>
          <p:nvPr/>
        </p:nvCxnSpPr>
        <p:spPr>
          <a:xfrm flipV="1">
            <a:off x="3434376" y="1155106"/>
            <a:ext cx="122342" cy="12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EC3C606-0B83-5409-9F24-1F1D9A37A464}"/>
              </a:ext>
            </a:extLst>
          </p:cNvPr>
          <p:cNvSpPr/>
          <p:nvPr/>
        </p:nvSpPr>
        <p:spPr>
          <a:xfrm>
            <a:off x="4621372" y="910106"/>
            <a:ext cx="1371600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Create Features x Outcome Pairs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CEF2B5-8F02-CF6D-97DE-86573397402A}"/>
              </a:ext>
            </a:extLst>
          </p:cNvPr>
          <p:cNvSpPr/>
          <p:nvPr/>
        </p:nvSpPr>
        <p:spPr>
          <a:xfrm>
            <a:off x="6126052" y="907959"/>
            <a:ext cx="1541175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Construct 2x2 Contingency Tables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EC329D-0F32-7951-A5A2-A5F8D7EA551C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 flipV="1">
            <a:off x="5992972" y="1150275"/>
            <a:ext cx="133080" cy="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13DB047-47FE-0EEB-E2EF-F745A1AD3AD8}"/>
              </a:ext>
            </a:extLst>
          </p:cNvPr>
          <p:cNvSpPr/>
          <p:nvPr/>
        </p:nvSpPr>
        <p:spPr>
          <a:xfrm>
            <a:off x="7793867" y="905812"/>
            <a:ext cx="114837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probabilities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9B26CE3-5B07-5085-FFA0-0D0B880F5AB2}"/>
              </a:ext>
            </a:extLst>
          </p:cNvPr>
          <p:cNvCxnSpPr>
            <a:cxnSpLocks/>
            <a:stCxn id="42" idx="3"/>
            <a:endCxn id="48" idx="1"/>
          </p:cNvCxnSpPr>
          <p:nvPr/>
        </p:nvCxnSpPr>
        <p:spPr>
          <a:xfrm flipV="1">
            <a:off x="7667227" y="1148128"/>
            <a:ext cx="126640" cy="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D8AEFB0-1942-B623-CF78-90648DD679C9}"/>
              </a:ext>
            </a:extLst>
          </p:cNvPr>
          <p:cNvSpPr/>
          <p:nvPr/>
        </p:nvSpPr>
        <p:spPr>
          <a:xfrm>
            <a:off x="7662951" y="2460107"/>
            <a:ext cx="1648495" cy="45934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 Difference in Proportions (</a:t>
            </a:r>
            <a:r>
              <a:rPr lang="el-GR" sz="1000" dirty="0">
                <a:latin typeface="Segoe UI Variable Display Semib" pitchFamily="2" charset="0"/>
                <a:cs typeface="Segoe UI Semibold" panose="020B0702040204020203" pitchFamily="34" charset="0"/>
              </a:rPr>
              <a:t>Δ</a:t>
            </a:r>
            <a:r>
              <a:rPr lang="fi-FI" sz="10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0DEAF53-F745-C207-943A-47D24691B81C}"/>
              </a:ext>
            </a:extLst>
          </p:cNvPr>
          <p:cNvSpPr/>
          <p:nvPr/>
        </p:nvSpPr>
        <p:spPr>
          <a:xfrm>
            <a:off x="9912457" y="2438638"/>
            <a:ext cx="1257840" cy="4846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est.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Odds Ratio (</a:t>
            </a:r>
            <a:r>
              <a:rPr lang="fi-FI" sz="1000" dirty="0">
                <a:latin typeface="Segoe UI Variable Display Semib" pitchFamily="2" charset="0"/>
              </a:rPr>
              <a:t>OR̂</a:t>
            </a:r>
            <a:r>
              <a:rPr lang="fi-FI" sz="10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000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D390557-D532-6F8F-BE3D-D0FC5A952462}"/>
              </a:ext>
            </a:extLst>
          </p:cNvPr>
          <p:cNvSpPr/>
          <p:nvPr/>
        </p:nvSpPr>
        <p:spPr>
          <a:xfrm>
            <a:off x="7443988" y="3073999"/>
            <a:ext cx="2094964" cy="4765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Difference of est. Difference in Proportions (</a:t>
            </a:r>
            <a:r>
              <a:rPr lang="el-GR" sz="1000" dirty="0">
                <a:latin typeface="Segoe UI Variable Display Semib" pitchFamily="2" charset="0"/>
                <a:cs typeface="Segoe UI Semibold" panose="020B0702040204020203" pitchFamily="34" charset="0"/>
              </a:rPr>
              <a:t>ΔΔ</a:t>
            </a:r>
            <a:r>
              <a:rPr lang="fi-FI" sz="1000" dirty="0">
                <a:latin typeface="Segoe UI Variable Display Semib" pitchFamily="2" charset="0"/>
                <a:cs typeface="Segoe UI Semibold" panose="020B0702040204020203" pitchFamily="34" charset="0"/>
              </a:rPr>
              <a:t>p̂</a:t>
            </a:r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43AF977-D204-E2B0-0CF3-716156FEA245}"/>
              </a:ext>
            </a:extLst>
          </p:cNvPr>
          <p:cNvSpPr/>
          <p:nvPr/>
        </p:nvSpPr>
        <p:spPr>
          <a:xfrm>
            <a:off x="9766495" y="3065879"/>
            <a:ext cx="1554051" cy="4846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ratio of  </a:t>
            </a:r>
          </a:p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est. Odds Ratio (R</a:t>
            </a:r>
            <a:r>
              <a:rPr lang="fi-FI" sz="1000" dirty="0">
                <a:latin typeface="Segoe UI Variable Display Semib" pitchFamily="2" charset="0"/>
              </a:rPr>
              <a:t>OR̂</a:t>
            </a:r>
            <a:r>
              <a:rPr lang="fi-FI" sz="1000" dirty="0">
                <a:latin typeface="Segoe UI Variable Display Semib" pitchFamily="2" charset="0"/>
                <a:ea typeface="Microsoft YaHei UI" panose="020B0503020204020204" pitchFamily="34" charset="-122"/>
              </a:rPr>
              <a:t>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6B04DD2-1023-DA59-15F3-289E337AE104}"/>
              </a:ext>
            </a:extLst>
          </p:cNvPr>
          <p:cNvSpPr/>
          <p:nvPr/>
        </p:nvSpPr>
        <p:spPr>
          <a:xfrm>
            <a:off x="1337268" y="926208"/>
            <a:ext cx="1038895" cy="4840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Divide Variables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C1C66E3-692D-74E0-1A8F-90894C8F9941}"/>
              </a:ext>
            </a:extLst>
          </p:cNvPr>
          <p:cNvCxnSpPr>
            <a:cxnSpLocks/>
            <a:stCxn id="4" idx="3"/>
            <a:endCxn id="85" idx="0"/>
          </p:cNvCxnSpPr>
          <p:nvPr/>
        </p:nvCxnSpPr>
        <p:spPr>
          <a:xfrm>
            <a:off x="1856716" y="708337"/>
            <a:ext cx="0" cy="217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C3E61DDE-1E74-5BA9-A44E-9760981BA352}"/>
              </a:ext>
            </a:extLst>
          </p:cNvPr>
          <p:cNvSpPr/>
          <p:nvPr/>
        </p:nvSpPr>
        <p:spPr>
          <a:xfrm>
            <a:off x="2539295" y="806003"/>
            <a:ext cx="815034" cy="3426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Success Outcomes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8EBB923-BFA5-765E-CA82-AA68BF8D231C}"/>
              </a:ext>
            </a:extLst>
          </p:cNvPr>
          <p:cNvSpPr/>
          <p:nvPr/>
        </p:nvSpPr>
        <p:spPr>
          <a:xfrm>
            <a:off x="2547881" y="1208465"/>
            <a:ext cx="804930" cy="3069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Display Semib" pitchFamily="2" charset="0"/>
                <a:ea typeface="Microsoft YaHei UI" panose="020B0503020204020204" pitchFamily="34" charset="-122"/>
              </a:rPr>
              <a:t>Features</a:t>
            </a:r>
            <a:endParaRPr lang="fi-FI" sz="10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B45454C-83CA-2D14-C95C-4C3D39B3EFC6}"/>
              </a:ext>
            </a:extLst>
          </p:cNvPr>
          <p:cNvCxnSpPr>
            <a:cxnSpLocks/>
            <a:stCxn id="85" idx="3"/>
            <a:endCxn id="92" idx="1"/>
          </p:cNvCxnSpPr>
          <p:nvPr/>
        </p:nvCxnSpPr>
        <p:spPr>
          <a:xfrm flipV="1">
            <a:off x="2376163" y="977332"/>
            <a:ext cx="163132" cy="190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3EEEAD4-FE78-9722-E498-269127945688}"/>
              </a:ext>
            </a:extLst>
          </p:cNvPr>
          <p:cNvCxnSpPr>
            <a:cxnSpLocks/>
            <a:stCxn id="85" idx="3"/>
            <a:endCxn id="93" idx="1"/>
          </p:cNvCxnSpPr>
          <p:nvPr/>
        </p:nvCxnSpPr>
        <p:spPr>
          <a:xfrm>
            <a:off x="2376163" y="1168223"/>
            <a:ext cx="171718" cy="193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1BB7EB3E-684C-FDB6-99F1-A3B225791781}"/>
              </a:ext>
            </a:extLst>
          </p:cNvPr>
          <p:cNvSpPr/>
          <p:nvPr/>
        </p:nvSpPr>
        <p:spPr>
          <a:xfrm>
            <a:off x="2459875" y="759853"/>
            <a:ext cx="974501" cy="8156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2877D20-69C9-D33E-F009-A0E25D2E41C5}"/>
              </a:ext>
            </a:extLst>
          </p:cNvPr>
          <p:cNvCxnSpPr>
            <a:cxnSpLocks/>
            <a:stCxn id="20" idx="3"/>
            <a:endCxn id="37" idx="1"/>
          </p:cNvCxnSpPr>
          <p:nvPr/>
        </p:nvCxnSpPr>
        <p:spPr>
          <a:xfrm flipV="1">
            <a:off x="4486147" y="1152422"/>
            <a:ext cx="135225" cy="2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D47146B-FA7B-C7CF-640C-456A712392CE}"/>
              </a:ext>
            </a:extLst>
          </p:cNvPr>
          <p:cNvCxnSpPr>
            <a:cxnSpLocks/>
            <a:stCxn id="52" idx="2"/>
            <a:endCxn id="75" idx="0"/>
          </p:cNvCxnSpPr>
          <p:nvPr/>
        </p:nvCxnSpPr>
        <p:spPr>
          <a:xfrm>
            <a:off x="8487199" y="2919450"/>
            <a:ext cx="4271" cy="154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Diamond 165">
            <a:extLst>
              <a:ext uri="{FF2B5EF4-FFF2-40B4-BE49-F238E27FC236}">
                <a16:creationId xmlns:a16="http://schemas.microsoft.com/office/drawing/2014/main" id="{74F77B7A-D6A1-AABB-232D-0DB9C747EC35}"/>
              </a:ext>
            </a:extLst>
          </p:cNvPr>
          <p:cNvSpPr/>
          <p:nvPr/>
        </p:nvSpPr>
        <p:spPr>
          <a:xfrm>
            <a:off x="9362947" y="4627907"/>
            <a:ext cx="360608" cy="3302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200" b="1" dirty="0">
              <a:latin typeface="Segoe UI Variable Display Semib" pitchFamily="2" charset="0"/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E75E8F7-4735-E41C-D63A-F5D2BF94D3C1}"/>
              </a:ext>
            </a:extLst>
          </p:cNvPr>
          <p:cNvCxnSpPr>
            <a:cxnSpLocks/>
            <a:stCxn id="53" idx="2"/>
            <a:endCxn id="76" idx="0"/>
          </p:cNvCxnSpPr>
          <p:nvPr/>
        </p:nvCxnSpPr>
        <p:spPr>
          <a:xfrm>
            <a:off x="10541377" y="2923270"/>
            <a:ext cx="2144" cy="142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58869BEA-71E2-4329-E800-DC5803F0CC2F}"/>
              </a:ext>
            </a:extLst>
          </p:cNvPr>
          <p:cNvSpPr/>
          <p:nvPr/>
        </p:nvSpPr>
        <p:spPr>
          <a:xfrm>
            <a:off x="8940075" y="3909210"/>
            <a:ext cx="119560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Calculate 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95 % CI Score</a:t>
            </a:r>
            <a:endParaRPr lang="fi-FI" sz="12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866E5569-E294-4A4E-9D88-53453D871691}"/>
              </a:ext>
            </a:extLst>
          </p:cNvPr>
          <p:cNvSpPr txBox="1"/>
          <p:nvPr/>
        </p:nvSpPr>
        <p:spPr>
          <a:xfrm>
            <a:off x="10303101" y="4991509"/>
            <a:ext cx="972236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Not Significant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E2252CC9-749C-E98D-AFAE-235019027585}"/>
              </a:ext>
            </a:extLst>
          </p:cNvPr>
          <p:cNvSpPr/>
          <p:nvPr/>
        </p:nvSpPr>
        <p:spPr>
          <a:xfrm>
            <a:off x="8023538" y="5076894"/>
            <a:ext cx="989533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Significant</a:t>
            </a:r>
            <a:endParaRPr lang="fi-FI" sz="1200" dirty="0"/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D5D97B8C-F8A2-8458-095F-93F56AB08313}"/>
              </a:ext>
            </a:extLst>
          </p:cNvPr>
          <p:cNvSpPr txBox="1"/>
          <p:nvPr/>
        </p:nvSpPr>
        <p:spPr>
          <a:xfrm>
            <a:off x="9008776" y="5314879"/>
            <a:ext cx="1002407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CI excludes 0</a:t>
            </a:r>
          </a:p>
        </p:txBody>
      </p: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43D25665-9185-421B-2A3D-CC8ABAF6169A}"/>
              </a:ext>
            </a:extLst>
          </p:cNvPr>
          <p:cNvCxnSpPr>
            <a:cxnSpLocks/>
            <a:stCxn id="222" idx="2"/>
            <a:endCxn id="166" idx="0"/>
          </p:cNvCxnSpPr>
          <p:nvPr/>
        </p:nvCxnSpPr>
        <p:spPr>
          <a:xfrm>
            <a:off x="9537876" y="4393842"/>
            <a:ext cx="5375" cy="234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6" name="Connector: Elbow 425">
            <a:extLst>
              <a:ext uri="{FF2B5EF4-FFF2-40B4-BE49-F238E27FC236}">
                <a16:creationId xmlns:a16="http://schemas.microsoft.com/office/drawing/2014/main" id="{AD48EC2F-EBD3-A03E-0EC7-082D85BB34D4}"/>
              </a:ext>
            </a:extLst>
          </p:cNvPr>
          <p:cNvCxnSpPr>
            <a:cxnSpLocks/>
            <a:stCxn id="166" idx="2"/>
            <a:endCxn id="327" idx="3"/>
          </p:cNvCxnSpPr>
          <p:nvPr/>
        </p:nvCxnSpPr>
        <p:spPr>
          <a:xfrm rot="5400000">
            <a:off x="9097650" y="4873608"/>
            <a:ext cx="361023" cy="53018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1" name="Connector: Elbow 520">
            <a:extLst>
              <a:ext uri="{FF2B5EF4-FFF2-40B4-BE49-F238E27FC236}">
                <a16:creationId xmlns:a16="http://schemas.microsoft.com/office/drawing/2014/main" id="{3733622A-BB32-674D-86A8-B70F662CBD84}"/>
              </a:ext>
            </a:extLst>
          </p:cNvPr>
          <p:cNvCxnSpPr>
            <a:cxnSpLocks/>
            <a:stCxn id="166" idx="3"/>
            <a:endCxn id="257" idx="1"/>
          </p:cNvCxnSpPr>
          <p:nvPr/>
        </p:nvCxnSpPr>
        <p:spPr>
          <a:xfrm>
            <a:off x="9723555" y="4793047"/>
            <a:ext cx="579546" cy="42929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7CB8312D-9020-CC3F-86B5-0AB68CB619FF}"/>
              </a:ext>
            </a:extLst>
          </p:cNvPr>
          <p:cNvCxnSpPr>
            <a:cxnSpLocks/>
            <a:stCxn id="48" idx="3"/>
            <a:endCxn id="553" idx="1"/>
          </p:cNvCxnSpPr>
          <p:nvPr/>
        </p:nvCxnSpPr>
        <p:spPr>
          <a:xfrm>
            <a:off x="8942238" y="1148128"/>
            <a:ext cx="124491" cy="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3" name="Rectangle 552">
            <a:extLst>
              <a:ext uri="{FF2B5EF4-FFF2-40B4-BE49-F238E27FC236}">
                <a16:creationId xmlns:a16="http://schemas.microsoft.com/office/drawing/2014/main" id="{79408A18-97B0-D1BB-6C51-3BB704269EE8}"/>
              </a:ext>
            </a:extLst>
          </p:cNvPr>
          <p:cNvSpPr/>
          <p:nvPr/>
        </p:nvSpPr>
        <p:spPr>
          <a:xfrm>
            <a:off x="9066729" y="912251"/>
            <a:ext cx="1148371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Assess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Interactions</a:t>
            </a:r>
            <a:endParaRPr lang="fi-FI" sz="1200" dirty="0">
              <a:latin typeface="Segoe UI Variable Display Semib" pitchFamily="2" charset="0"/>
              <a:ea typeface="Microsoft YaHei U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06174-AD3C-4C74-B83B-676E98607C5F}"/>
              </a:ext>
            </a:extLst>
          </p:cNvPr>
          <p:cNvSpPr txBox="1"/>
          <p:nvPr/>
        </p:nvSpPr>
        <p:spPr>
          <a:xfrm>
            <a:off x="8066485" y="1737727"/>
            <a:ext cx="1390915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Evaluate Additive Interaction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061437-6776-E580-D8E1-333D8AF475C6}"/>
              </a:ext>
            </a:extLst>
          </p:cNvPr>
          <p:cNvSpPr txBox="1"/>
          <p:nvPr/>
        </p:nvSpPr>
        <p:spPr>
          <a:xfrm>
            <a:off x="9680637" y="1746314"/>
            <a:ext cx="1742939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Variable Display Semib" pitchFamily="2" charset="0"/>
                <a:ea typeface="Roboto" panose="02000000000000000000" pitchFamily="2" charset="0"/>
                <a:cs typeface="Nirmala UI" panose="020B0502040204020203" pitchFamily="34" charset="0"/>
              </a:rPr>
              <a:t>Evaluate Multiplicative Interaction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8031597-D7DB-BDED-28F7-4FBE13597183}"/>
              </a:ext>
            </a:extLst>
          </p:cNvPr>
          <p:cNvCxnSpPr>
            <a:cxnSpLocks/>
          </p:cNvCxnSpPr>
          <p:nvPr/>
        </p:nvCxnSpPr>
        <p:spPr>
          <a:xfrm flipH="1">
            <a:off x="9156879" y="1409762"/>
            <a:ext cx="333782" cy="316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269F226-C78E-8332-8967-59834144C551}"/>
              </a:ext>
            </a:extLst>
          </p:cNvPr>
          <p:cNvSpPr/>
          <p:nvPr/>
        </p:nvSpPr>
        <p:spPr>
          <a:xfrm>
            <a:off x="7388183" y="2374006"/>
            <a:ext cx="2223752" cy="12621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3D8A42C-0CAC-9291-E979-A0CFA4BC6C4C}"/>
              </a:ext>
            </a:extLst>
          </p:cNvPr>
          <p:cNvSpPr/>
          <p:nvPr/>
        </p:nvSpPr>
        <p:spPr>
          <a:xfrm>
            <a:off x="9706377" y="2387123"/>
            <a:ext cx="1700012" cy="12447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0B4093F-1105-E7CD-5E84-29FD2D36D0A1}"/>
              </a:ext>
            </a:extLst>
          </p:cNvPr>
          <p:cNvSpPr txBox="1"/>
          <p:nvPr/>
        </p:nvSpPr>
        <p:spPr>
          <a:xfrm>
            <a:off x="9586178" y="4578638"/>
            <a:ext cx="1171974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  <a:ea typeface="Roboto" panose="02000000000000000000" pitchFamily="2" charset="0"/>
                <a:cs typeface="Nirmala UI" panose="020B0502040204020203" pitchFamily="34" charset="0"/>
              </a:rPr>
              <a:t>If CI includes 0</a:t>
            </a:r>
          </a:p>
        </p:txBody>
      </p:sp>
      <p:cxnSp>
        <p:nvCxnSpPr>
          <p:cNvPr id="269" name="Connector: Elbow 268">
            <a:extLst>
              <a:ext uri="{FF2B5EF4-FFF2-40B4-BE49-F238E27FC236}">
                <a16:creationId xmlns:a16="http://schemas.microsoft.com/office/drawing/2014/main" id="{8B0A554D-02DF-D6E0-3233-3DF0AE2338C6}"/>
              </a:ext>
            </a:extLst>
          </p:cNvPr>
          <p:cNvCxnSpPr>
            <a:cxnSpLocks/>
            <a:stCxn id="75" idx="2"/>
            <a:endCxn id="222" idx="0"/>
          </p:cNvCxnSpPr>
          <p:nvPr/>
        </p:nvCxnSpPr>
        <p:spPr>
          <a:xfrm rot="16200000" flipH="1">
            <a:off x="8835325" y="3206659"/>
            <a:ext cx="358696" cy="104640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Rectangle 284">
            <a:extLst>
              <a:ext uri="{FF2B5EF4-FFF2-40B4-BE49-F238E27FC236}">
                <a16:creationId xmlns:a16="http://schemas.microsoft.com/office/drawing/2014/main" id="{978D7CF9-4E40-F4B9-9677-0955BB3A628B}"/>
              </a:ext>
            </a:extLst>
          </p:cNvPr>
          <p:cNvSpPr/>
          <p:nvPr/>
        </p:nvSpPr>
        <p:spPr>
          <a:xfrm>
            <a:off x="6196873" y="5089774"/>
            <a:ext cx="1515426" cy="484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Interpret</a:t>
            </a:r>
          </a:p>
          <a:p>
            <a:pPr algn="ctr"/>
            <a:r>
              <a:rPr lang="en-US" sz="1200" dirty="0">
                <a:latin typeface="Segoe UI Variable Display Semib" pitchFamily="2" charset="0"/>
                <a:ea typeface="Microsoft YaHei UI" panose="020B0503020204020204" pitchFamily="34" charset="-122"/>
              </a:rPr>
              <a:t>Interactions</a:t>
            </a:r>
            <a:endParaRPr lang="fi-FI" sz="1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09134B-7000-BEA6-3DA6-A0D21E5E5EEF}"/>
              </a:ext>
            </a:extLst>
          </p:cNvPr>
          <p:cNvCxnSpPr>
            <a:cxnSpLocks/>
          </p:cNvCxnSpPr>
          <p:nvPr/>
        </p:nvCxnSpPr>
        <p:spPr>
          <a:xfrm>
            <a:off x="9877028" y="1401176"/>
            <a:ext cx="541981" cy="320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4B13AFC-D992-C3EA-79F3-E5B42C06995A}"/>
              </a:ext>
            </a:extLst>
          </p:cNvPr>
          <p:cNvCxnSpPr>
            <a:cxnSpLocks/>
            <a:stCxn id="29" idx="2"/>
            <a:endCxn id="168" idx="0"/>
          </p:cNvCxnSpPr>
          <p:nvPr/>
        </p:nvCxnSpPr>
        <p:spPr>
          <a:xfrm>
            <a:off x="10552107" y="2207979"/>
            <a:ext cx="4276" cy="179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369F026-1373-05B7-03B3-2A364284C6D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761943" y="2199392"/>
            <a:ext cx="0" cy="148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AE4F2205-4180-DB04-D11D-70FC1A0135A4}"/>
              </a:ext>
            </a:extLst>
          </p:cNvPr>
          <p:cNvCxnSpPr>
            <a:cxnSpLocks/>
            <a:stCxn id="76" idx="2"/>
            <a:endCxn id="222" idx="0"/>
          </p:cNvCxnSpPr>
          <p:nvPr/>
        </p:nvCxnSpPr>
        <p:spPr>
          <a:xfrm rot="5400000">
            <a:off x="9861350" y="3227038"/>
            <a:ext cx="358699" cy="100564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B670A4AF-BA70-E273-F8B5-1614A7B75D58}"/>
              </a:ext>
            </a:extLst>
          </p:cNvPr>
          <p:cNvCxnSpPr>
            <a:cxnSpLocks/>
            <a:stCxn id="327" idx="1"/>
            <a:endCxn id="285" idx="3"/>
          </p:cNvCxnSpPr>
          <p:nvPr/>
        </p:nvCxnSpPr>
        <p:spPr>
          <a:xfrm flipH="1">
            <a:off x="7712299" y="5319210"/>
            <a:ext cx="311239" cy="1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453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F10CA495-EB42-8C4C-121E-992028F317E2}"/>
              </a:ext>
            </a:extLst>
          </p:cNvPr>
          <p:cNvSpPr/>
          <p:nvPr/>
        </p:nvSpPr>
        <p:spPr>
          <a:xfrm>
            <a:off x="6787163" y="55812"/>
            <a:ext cx="850005" cy="18245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95% CI Sig.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261EE2-6255-EDBA-9E28-4810BADBE5F3}"/>
              </a:ext>
            </a:extLst>
          </p:cNvPr>
          <p:cNvSpPr/>
          <p:nvPr/>
        </p:nvSpPr>
        <p:spPr>
          <a:xfrm>
            <a:off x="6880533" y="5460647"/>
            <a:ext cx="854298" cy="21464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95% CI Sig.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6D6523A-B041-0CF9-C0D0-B2EE85B4C898}"/>
              </a:ext>
            </a:extLst>
          </p:cNvPr>
          <p:cNvSpPr txBox="1"/>
          <p:nvPr/>
        </p:nvSpPr>
        <p:spPr>
          <a:xfrm>
            <a:off x="4653560" y="2382540"/>
            <a:ext cx="129218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Success Probability </a:t>
            </a:r>
            <a:r>
              <a:rPr lang="fi-FI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when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both r and c are present </a:t>
            </a:r>
          </a:p>
          <a:p>
            <a:pPr algn="ctr"/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p(</a:t>
            </a:r>
            <a:r>
              <a:rPr lang="fi-FI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y∣r,c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081E517-171A-B536-D322-F803E7896094}"/>
              </a:ext>
            </a:extLst>
          </p:cNvPr>
          <p:cNvSpPr txBox="1"/>
          <p:nvPr/>
        </p:nvSpPr>
        <p:spPr>
          <a:xfrm>
            <a:off x="5988671" y="2381414"/>
            <a:ext cx="129218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Success Probability </a:t>
            </a:r>
            <a:r>
              <a:rPr lang="fi-FI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when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 is absent but c is present </a:t>
            </a:r>
          </a:p>
          <a:p>
            <a:pPr algn="ctr"/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p(</a:t>
            </a:r>
            <a:r>
              <a:rPr lang="fi-FI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y∣r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ˉ,c)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3881C91-841D-5D5E-0962-A5C24703B732}"/>
              </a:ext>
            </a:extLst>
          </p:cNvPr>
          <p:cNvSpPr txBox="1"/>
          <p:nvPr/>
        </p:nvSpPr>
        <p:spPr>
          <a:xfrm>
            <a:off x="7323776" y="2385705"/>
            <a:ext cx="130076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Success Probability </a:t>
            </a:r>
            <a:r>
              <a:rPr lang="fi-FI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when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 is present but c is absent 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p(</a:t>
            </a:r>
            <a:r>
              <a:rPr lang="fi-FI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y∣r,c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ˉ)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115B7CE-3613-6083-96BB-AB2D70E8E2D6}"/>
              </a:ext>
            </a:extLst>
          </p:cNvPr>
          <p:cNvSpPr txBox="1"/>
          <p:nvPr/>
        </p:nvSpPr>
        <p:spPr>
          <a:xfrm>
            <a:off x="8658889" y="2395412"/>
            <a:ext cx="130076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Success Probability </a:t>
            </a:r>
            <a:r>
              <a:rPr lang="fi-FI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when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both r and c are absent 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p(</a:t>
            </a:r>
            <a:r>
              <a:rPr lang="fi-FI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y∣r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ˉ,cˉ)</a:t>
            </a:r>
            <a:endParaRPr lang="en-US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E331D3F-B66B-F38B-943B-F2A10C36F662}"/>
              </a:ext>
            </a:extLst>
          </p:cNvPr>
          <p:cNvSpPr/>
          <p:nvPr/>
        </p:nvSpPr>
        <p:spPr>
          <a:xfrm>
            <a:off x="5218084" y="931581"/>
            <a:ext cx="799162" cy="3477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Δ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</a:t>
            </a:r>
          </a:p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(c present)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BD923659-6009-0DD6-2CA7-945A1BAF7A13}"/>
              </a:ext>
            </a:extLst>
          </p:cNvPr>
          <p:cNvSpPr/>
          <p:nvPr/>
        </p:nvSpPr>
        <p:spPr>
          <a:xfrm>
            <a:off x="8366970" y="991686"/>
            <a:ext cx="794198" cy="32304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Δ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</a:t>
            </a:r>
          </a:p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(c absent)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9" name="Right Brace 178">
            <a:extLst>
              <a:ext uri="{FF2B5EF4-FFF2-40B4-BE49-F238E27FC236}">
                <a16:creationId xmlns:a16="http://schemas.microsoft.com/office/drawing/2014/main" id="{2D385EB9-A955-D10E-C42B-3CCE5530DA2A}"/>
              </a:ext>
            </a:extLst>
          </p:cNvPr>
          <p:cNvSpPr/>
          <p:nvPr/>
        </p:nvSpPr>
        <p:spPr>
          <a:xfrm rot="16200000">
            <a:off x="5522887" y="1161248"/>
            <a:ext cx="145959" cy="407831"/>
          </a:xfrm>
          <a:prstGeom prst="rightBrace">
            <a:avLst>
              <a:gd name="adj1" fmla="val 8333"/>
              <a:gd name="adj2" fmla="val 4634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B62B376-7FA0-401B-543F-3683C2BA9C43}"/>
              </a:ext>
            </a:extLst>
          </p:cNvPr>
          <p:cNvSpPr/>
          <p:nvPr/>
        </p:nvSpPr>
        <p:spPr>
          <a:xfrm>
            <a:off x="6988933" y="352027"/>
            <a:ext cx="446466" cy="25757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ΔΔ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F165BE27-E858-F2CD-13DC-564AB7C0B7BC}"/>
              </a:ext>
            </a:extLst>
          </p:cNvPr>
          <p:cNvSpPr/>
          <p:nvPr/>
        </p:nvSpPr>
        <p:spPr>
          <a:xfrm>
            <a:off x="5044217" y="4262915"/>
            <a:ext cx="837127" cy="39280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Θ</a:t>
            </a:r>
            <a:endParaRPr lang="en-US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(c present)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71D60B81-BE55-48A7-089C-C159F5F0D293}"/>
              </a:ext>
            </a:extLst>
          </p:cNvPr>
          <p:cNvSpPr/>
          <p:nvPr/>
        </p:nvSpPr>
        <p:spPr>
          <a:xfrm>
            <a:off x="8442098" y="4224273"/>
            <a:ext cx="899378" cy="37778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Θ</a:t>
            </a:r>
            <a:endParaRPr lang="en-US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(c absent)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4FFD578-5E50-8A24-0FB4-76BA95BCE842}"/>
              </a:ext>
            </a:extLst>
          </p:cNvPr>
          <p:cNvSpPr/>
          <p:nvPr/>
        </p:nvSpPr>
        <p:spPr>
          <a:xfrm>
            <a:off x="7076936" y="5039935"/>
            <a:ext cx="461492" cy="2876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ROR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36024F6F-5A07-9A1A-4882-492E2EDE2DD7}"/>
              </a:ext>
            </a:extLst>
          </p:cNvPr>
          <p:cNvSpPr txBox="1"/>
          <p:nvPr/>
        </p:nvSpPr>
        <p:spPr>
          <a:xfrm>
            <a:off x="5065685" y="1416617"/>
            <a:ext cx="11505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p(</a:t>
            </a:r>
            <a:r>
              <a:rPr lang="fi-FI" sz="9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y|r,c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)  −  p(</a:t>
            </a:r>
            <a:r>
              <a:rPr lang="fi-FI" sz="9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y|r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̄,c)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2D9F3430-1FEB-5F82-C18A-CD93C76B12A2}"/>
              </a:ext>
            </a:extLst>
          </p:cNvPr>
          <p:cNvSpPr txBox="1"/>
          <p:nvPr/>
        </p:nvSpPr>
        <p:spPr>
          <a:xfrm>
            <a:off x="8296139" y="1444521"/>
            <a:ext cx="11505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p(</a:t>
            </a:r>
            <a:r>
              <a:rPr lang="fi-FI" sz="9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y|r,c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̄)   −  p(</a:t>
            </a:r>
            <a:r>
              <a:rPr lang="fi-FI" sz="9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y|r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̄,c̄)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12CDF99A-4C93-6476-BD35-B32F2CD74327}"/>
              </a:ext>
            </a:extLst>
          </p:cNvPr>
          <p:cNvSpPr txBox="1"/>
          <p:nvPr/>
        </p:nvSpPr>
        <p:spPr>
          <a:xfrm>
            <a:off x="6070237" y="797304"/>
            <a:ext cx="24083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Δ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 </a:t>
            </a:r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(c present)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 -       </a:t>
            </a:r>
            <a:r>
              <a:rPr lang="el-GR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Δ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 </a:t>
            </a:r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(c absent)</a:t>
            </a:r>
            <a:endParaRPr lang="fi-FI" sz="9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18" name="Right Brace 417">
            <a:extLst>
              <a:ext uri="{FF2B5EF4-FFF2-40B4-BE49-F238E27FC236}">
                <a16:creationId xmlns:a16="http://schemas.microsoft.com/office/drawing/2014/main" id="{6C96776D-96B2-B0CB-BFC2-95863931AFA5}"/>
              </a:ext>
            </a:extLst>
          </p:cNvPr>
          <p:cNvSpPr/>
          <p:nvPr/>
        </p:nvSpPr>
        <p:spPr>
          <a:xfrm rot="16200000">
            <a:off x="8667487" y="1156946"/>
            <a:ext cx="139521" cy="482974"/>
          </a:xfrm>
          <a:prstGeom prst="rightBrace">
            <a:avLst>
              <a:gd name="adj1" fmla="val 8333"/>
              <a:gd name="adj2" fmla="val 5897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19" name="Right Brace 418">
            <a:extLst>
              <a:ext uri="{FF2B5EF4-FFF2-40B4-BE49-F238E27FC236}">
                <a16:creationId xmlns:a16="http://schemas.microsoft.com/office/drawing/2014/main" id="{D639AD50-56F2-7E76-D9C7-FFE87BA8AC22}"/>
              </a:ext>
            </a:extLst>
          </p:cNvPr>
          <p:cNvSpPr/>
          <p:nvPr/>
        </p:nvSpPr>
        <p:spPr>
          <a:xfrm rot="16200000">
            <a:off x="7087668" y="-661112"/>
            <a:ext cx="223234" cy="2790421"/>
          </a:xfrm>
          <a:prstGeom prst="rightBrace">
            <a:avLst>
              <a:gd name="adj1" fmla="val 47842"/>
              <a:gd name="adj2" fmla="val 5081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8B0AA0DD-51A5-F7B1-AB5C-3DE40B3181A9}"/>
              </a:ext>
            </a:extLst>
          </p:cNvPr>
          <p:cNvSpPr txBox="1"/>
          <p:nvPr/>
        </p:nvSpPr>
        <p:spPr>
          <a:xfrm>
            <a:off x="4743708" y="3925852"/>
            <a:ext cx="16098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Odds(</a:t>
            </a:r>
            <a:r>
              <a:rPr lang="fi-FI" sz="9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y|r,c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)   \   Odds(</a:t>
            </a:r>
            <a:r>
              <a:rPr lang="fi-FI" sz="9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y|r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̄,c)</a:t>
            </a: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354BDFE0-53BD-F5D4-2248-95D51B43F4B4}"/>
              </a:ext>
            </a:extLst>
          </p:cNvPr>
          <p:cNvSpPr txBox="1"/>
          <p:nvPr/>
        </p:nvSpPr>
        <p:spPr>
          <a:xfrm>
            <a:off x="8113684" y="3885068"/>
            <a:ext cx="17705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Odds(</a:t>
            </a:r>
            <a:r>
              <a:rPr lang="fi-FI" sz="9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y|r,c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̄)  \   Odds(</a:t>
            </a:r>
            <a:r>
              <a:rPr lang="fi-FI" sz="9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y|r</a:t>
            </a:r>
            <a:r>
              <a:rPr lang="fi-FI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̄,c̄)</a:t>
            </a:r>
          </a:p>
        </p:txBody>
      </p:sp>
      <p:sp>
        <p:nvSpPr>
          <p:cNvPr id="431" name="Right Brace 430">
            <a:extLst>
              <a:ext uri="{FF2B5EF4-FFF2-40B4-BE49-F238E27FC236}">
                <a16:creationId xmlns:a16="http://schemas.microsoft.com/office/drawing/2014/main" id="{24B862A1-4596-F221-C978-F9F4237F2370}"/>
              </a:ext>
            </a:extLst>
          </p:cNvPr>
          <p:cNvSpPr/>
          <p:nvPr/>
        </p:nvSpPr>
        <p:spPr>
          <a:xfrm rot="5400000">
            <a:off x="5402720" y="3975248"/>
            <a:ext cx="113758" cy="452986"/>
          </a:xfrm>
          <a:prstGeom prst="rightBrace">
            <a:avLst>
              <a:gd name="adj1" fmla="val 8333"/>
              <a:gd name="adj2" fmla="val 5239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32" name="Right Brace 431">
            <a:extLst>
              <a:ext uri="{FF2B5EF4-FFF2-40B4-BE49-F238E27FC236}">
                <a16:creationId xmlns:a16="http://schemas.microsoft.com/office/drawing/2014/main" id="{93E5F043-3750-4B56-517C-28987DAC6F43}"/>
              </a:ext>
            </a:extLst>
          </p:cNvPr>
          <p:cNvSpPr/>
          <p:nvPr/>
        </p:nvSpPr>
        <p:spPr>
          <a:xfrm rot="5400000">
            <a:off x="8809996" y="3940095"/>
            <a:ext cx="128783" cy="456752"/>
          </a:xfrm>
          <a:prstGeom prst="rightBrace">
            <a:avLst>
              <a:gd name="adj1" fmla="val 8333"/>
              <a:gd name="adj2" fmla="val 5239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33" name="Right Brace 432">
            <a:extLst>
              <a:ext uri="{FF2B5EF4-FFF2-40B4-BE49-F238E27FC236}">
                <a16:creationId xmlns:a16="http://schemas.microsoft.com/office/drawing/2014/main" id="{2E342437-72C7-F8E9-BDB3-ABCEE70ACAE2}"/>
              </a:ext>
            </a:extLst>
          </p:cNvPr>
          <p:cNvSpPr/>
          <p:nvPr/>
        </p:nvSpPr>
        <p:spPr>
          <a:xfrm rot="5400000">
            <a:off x="7053325" y="3327048"/>
            <a:ext cx="261879" cy="3146738"/>
          </a:xfrm>
          <a:prstGeom prst="rightBrace">
            <a:avLst>
              <a:gd name="adj1" fmla="val 38921"/>
              <a:gd name="adj2" fmla="val 470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26E19D68-4DA9-52B6-D49F-D23001E4DF77}"/>
              </a:ext>
            </a:extLst>
          </p:cNvPr>
          <p:cNvSpPr txBox="1"/>
          <p:nvPr/>
        </p:nvSpPr>
        <p:spPr>
          <a:xfrm>
            <a:off x="6156095" y="4596574"/>
            <a:ext cx="21937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Θ</a:t>
            </a:r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(c present)  \   </a:t>
            </a:r>
            <a:r>
              <a:rPr lang="el-GR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Θ</a:t>
            </a:r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(c absent)</a:t>
            </a:r>
            <a:endParaRPr lang="fi-FI" sz="9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36" name="Straight Arrow Connector 435">
            <a:extLst>
              <a:ext uri="{FF2B5EF4-FFF2-40B4-BE49-F238E27FC236}">
                <a16:creationId xmlns:a16="http://schemas.microsoft.com/office/drawing/2014/main" id="{A343C1FB-136C-9C58-4458-FD9A67441D41}"/>
              </a:ext>
            </a:extLst>
          </p:cNvPr>
          <p:cNvCxnSpPr>
            <a:cxnSpLocks/>
            <a:stCxn id="58" idx="0"/>
            <a:endCxn id="258" idx="2"/>
          </p:cNvCxnSpPr>
          <p:nvPr/>
        </p:nvCxnSpPr>
        <p:spPr>
          <a:xfrm flipV="1">
            <a:off x="7307682" y="5327565"/>
            <a:ext cx="0" cy="133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E6679BB6-0DC3-4799-FF00-5FA0FBA9D8BC}"/>
              </a:ext>
            </a:extLst>
          </p:cNvPr>
          <p:cNvCxnSpPr>
            <a:cxnSpLocks/>
            <a:stCxn id="57" idx="2"/>
            <a:endCxn id="196" idx="0"/>
          </p:cNvCxnSpPr>
          <p:nvPr/>
        </p:nvCxnSpPr>
        <p:spPr>
          <a:xfrm>
            <a:off x="7212166" y="238264"/>
            <a:ext cx="0" cy="113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5" name="Rectangle 504">
            <a:extLst>
              <a:ext uri="{FF2B5EF4-FFF2-40B4-BE49-F238E27FC236}">
                <a16:creationId xmlns:a16="http://schemas.microsoft.com/office/drawing/2014/main" id="{E47B6A43-5490-4FE3-0345-544D8D9F3834}"/>
              </a:ext>
            </a:extLst>
          </p:cNvPr>
          <p:cNvSpPr/>
          <p:nvPr/>
        </p:nvSpPr>
        <p:spPr>
          <a:xfrm>
            <a:off x="4602045" y="2322493"/>
            <a:ext cx="5409127" cy="81995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F1AE389F-A1CB-2B39-959B-F4DA0C60A53E}"/>
              </a:ext>
            </a:extLst>
          </p:cNvPr>
          <p:cNvSpPr txBox="1"/>
          <p:nvPr/>
        </p:nvSpPr>
        <p:spPr>
          <a:xfrm>
            <a:off x="2927791" y="2372090"/>
            <a:ext cx="147678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i-FI" sz="1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Compute Conditional Success Probabilities</a:t>
            </a:r>
          </a:p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</a:t>
            </a:r>
            <a:r>
              <a:rPr lang="en-US" sz="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successes count / total observations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)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04227501-64F9-F8DD-994B-C77F1A566ED9}"/>
              </a:ext>
            </a:extLst>
          </p:cNvPr>
          <p:cNvSpPr txBox="1"/>
          <p:nvPr/>
        </p:nvSpPr>
        <p:spPr>
          <a:xfrm>
            <a:off x="6078823" y="3378493"/>
            <a:ext cx="232249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Evaluate Multiplicative Interaction</a:t>
            </a:r>
            <a:endParaRPr lang="fi-FI" sz="1000" b="1" dirty="0"/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7971BDB8-B7C8-5C56-3C30-3D1F188966DE}"/>
              </a:ext>
            </a:extLst>
          </p:cNvPr>
          <p:cNvCxnSpPr>
            <a:cxnSpLocks/>
          </p:cNvCxnSpPr>
          <p:nvPr/>
        </p:nvCxnSpPr>
        <p:spPr>
          <a:xfrm flipH="1">
            <a:off x="5945746" y="3674776"/>
            <a:ext cx="150246" cy="201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9" name="Straight Arrow Connector 628">
            <a:extLst>
              <a:ext uri="{FF2B5EF4-FFF2-40B4-BE49-F238E27FC236}">
                <a16:creationId xmlns:a16="http://schemas.microsoft.com/office/drawing/2014/main" id="{D325FBB0-8456-2355-D174-63774D9E2254}"/>
              </a:ext>
            </a:extLst>
          </p:cNvPr>
          <p:cNvCxnSpPr>
            <a:cxnSpLocks/>
          </p:cNvCxnSpPr>
          <p:nvPr/>
        </p:nvCxnSpPr>
        <p:spPr>
          <a:xfrm>
            <a:off x="8418490" y="3679063"/>
            <a:ext cx="128789" cy="171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E46AFEF1-AAB4-9E97-F9D5-61B34F46E470}"/>
              </a:ext>
            </a:extLst>
          </p:cNvPr>
          <p:cNvCxnSpPr>
            <a:cxnSpLocks/>
          </p:cNvCxnSpPr>
          <p:nvPr/>
        </p:nvCxnSpPr>
        <p:spPr>
          <a:xfrm flipH="1" flipV="1">
            <a:off x="6250540" y="1484317"/>
            <a:ext cx="171719" cy="211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E5E4F1B2-84BF-9D41-3926-FBC7EF0A1915}"/>
              </a:ext>
            </a:extLst>
          </p:cNvPr>
          <p:cNvCxnSpPr>
            <a:cxnSpLocks/>
          </p:cNvCxnSpPr>
          <p:nvPr/>
        </p:nvCxnSpPr>
        <p:spPr>
          <a:xfrm flipV="1">
            <a:off x="7888304" y="1532584"/>
            <a:ext cx="203921" cy="216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6" name="TextBox 645">
            <a:extLst>
              <a:ext uri="{FF2B5EF4-FFF2-40B4-BE49-F238E27FC236}">
                <a16:creationId xmlns:a16="http://schemas.microsoft.com/office/drawing/2014/main" id="{1C5D2119-3939-4923-E18F-ED97F706091F}"/>
              </a:ext>
            </a:extLst>
          </p:cNvPr>
          <p:cNvSpPr txBox="1"/>
          <p:nvPr/>
        </p:nvSpPr>
        <p:spPr>
          <a:xfrm>
            <a:off x="5879200" y="1830880"/>
            <a:ext cx="257362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Evaluate Additive Interaction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63" name="Right Brace 662">
            <a:extLst>
              <a:ext uri="{FF2B5EF4-FFF2-40B4-BE49-F238E27FC236}">
                <a16:creationId xmlns:a16="http://schemas.microsoft.com/office/drawing/2014/main" id="{D49D086F-2885-7AFA-64D4-4D3FBF90844E}"/>
              </a:ext>
            </a:extLst>
          </p:cNvPr>
          <p:cNvSpPr/>
          <p:nvPr/>
        </p:nvSpPr>
        <p:spPr>
          <a:xfrm>
            <a:off x="2670202" y="1949008"/>
            <a:ext cx="231820" cy="1485372"/>
          </a:xfrm>
          <a:prstGeom prst="rightBrace">
            <a:avLst>
              <a:gd name="adj1" fmla="val 8333"/>
              <a:gd name="adj2" fmla="val 5239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64" name="Flowchart: Magnetic Disk 663">
            <a:extLst>
              <a:ext uri="{FF2B5EF4-FFF2-40B4-BE49-F238E27FC236}">
                <a16:creationId xmlns:a16="http://schemas.microsoft.com/office/drawing/2014/main" id="{215CE4C5-15AB-EA86-FA8B-4A2F68D41626}"/>
              </a:ext>
            </a:extLst>
          </p:cNvPr>
          <p:cNvSpPr/>
          <p:nvPr/>
        </p:nvSpPr>
        <p:spPr>
          <a:xfrm>
            <a:off x="75091" y="236116"/>
            <a:ext cx="809233" cy="536620"/>
          </a:xfrm>
          <a:prstGeom prst="flowChartMagneticDisk">
            <a:avLst/>
          </a:prstGeom>
          <a:solidFill>
            <a:schemeClr val="bg2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Segoe UI Semibold" panose="020B0702040204020203" pitchFamily="34" charset="0"/>
                <a:ea typeface="MS UI Gothic" panose="020B0600070205080204" pitchFamily="34" charset="-128"/>
                <a:cs typeface="Segoe UI Semibold" panose="020B0702040204020203" pitchFamily="34" charset="0"/>
              </a:rPr>
              <a:t>Dataset</a:t>
            </a:r>
            <a:endParaRPr lang="fi-FI" sz="1000" b="1" dirty="0">
              <a:latin typeface="Segoe UI Semibold" panose="020B0702040204020203" pitchFamily="34" charset="0"/>
              <a:ea typeface="MS UI Gothic" panose="020B0600070205080204" pitchFamily="34" charset="-128"/>
              <a:cs typeface="Segoe UI Semibold" panose="020B0702040204020203" pitchFamily="34" charset="0"/>
            </a:endParaRPr>
          </a:p>
        </p:txBody>
      </p:sp>
      <p:sp>
        <p:nvSpPr>
          <p:cNvPr id="665" name="Rectangle 664">
            <a:extLst>
              <a:ext uri="{FF2B5EF4-FFF2-40B4-BE49-F238E27FC236}">
                <a16:creationId xmlns:a16="http://schemas.microsoft.com/office/drawing/2014/main" id="{E982CA48-4575-0124-1EF0-E2598928C027}"/>
              </a:ext>
            </a:extLst>
          </p:cNvPr>
          <p:cNvSpPr/>
          <p:nvPr/>
        </p:nvSpPr>
        <p:spPr>
          <a:xfrm rot="5400000">
            <a:off x="148079" y="1388784"/>
            <a:ext cx="1060347" cy="30050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Features ( r, c)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28576ED2-49AB-2158-C65A-ED5134209CF9}"/>
              </a:ext>
            </a:extLst>
          </p:cNvPr>
          <p:cNvSpPr/>
          <p:nvPr/>
        </p:nvSpPr>
        <p:spPr>
          <a:xfrm rot="5400000">
            <a:off x="-197348" y="1387557"/>
            <a:ext cx="1066487" cy="2983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Outcome (y) 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667" name="Connector: Elbow 666">
            <a:extLst>
              <a:ext uri="{FF2B5EF4-FFF2-40B4-BE49-F238E27FC236}">
                <a16:creationId xmlns:a16="http://schemas.microsoft.com/office/drawing/2014/main" id="{925EE390-3311-D8C2-89B0-48C654AE26AB}"/>
              </a:ext>
            </a:extLst>
          </p:cNvPr>
          <p:cNvCxnSpPr>
            <a:cxnSpLocks/>
            <a:stCxn id="664" idx="3"/>
            <a:endCxn id="665" idx="1"/>
          </p:cNvCxnSpPr>
          <p:nvPr/>
        </p:nvCxnSpPr>
        <p:spPr>
          <a:xfrm rot="16200000" flipH="1">
            <a:off x="460917" y="791527"/>
            <a:ext cx="236127" cy="1985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8" name="Right Brace 667">
            <a:extLst>
              <a:ext uri="{FF2B5EF4-FFF2-40B4-BE49-F238E27FC236}">
                <a16:creationId xmlns:a16="http://schemas.microsoft.com/office/drawing/2014/main" id="{98DE70C9-D656-4480-4D62-B53E5620E26D}"/>
              </a:ext>
            </a:extLst>
          </p:cNvPr>
          <p:cNvSpPr/>
          <p:nvPr/>
        </p:nvSpPr>
        <p:spPr>
          <a:xfrm rot="5400000">
            <a:off x="416384" y="1918955"/>
            <a:ext cx="141674" cy="476536"/>
          </a:xfrm>
          <a:prstGeom prst="rightBrace">
            <a:avLst>
              <a:gd name="adj1" fmla="val 8333"/>
              <a:gd name="adj2" fmla="val 490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69" name="Arrow: Right 668">
            <a:extLst>
              <a:ext uri="{FF2B5EF4-FFF2-40B4-BE49-F238E27FC236}">
                <a16:creationId xmlns:a16="http://schemas.microsoft.com/office/drawing/2014/main" id="{1E9AA6C5-CD3D-C120-91B7-3AA7D638B3E0}"/>
              </a:ext>
            </a:extLst>
          </p:cNvPr>
          <p:cNvSpPr/>
          <p:nvPr/>
        </p:nvSpPr>
        <p:spPr>
          <a:xfrm rot="5400000">
            <a:off x="386341" y="2301023"/>
            <a:ext cx="218940" cy="150253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670" name="Connector: Elbow 669">
            <a:extLst>
              <a:ext uri="{FF2B5EF4-FFF2-40B4-BE49-F238E27FC236}">
                <a16:creationId xmlns:a16="http://schemas.microsoft.com/office/drawing/2014/main" id="{F6829C9E-8F04-93C1-5FEF-B1EB1B6492E7}"/>
              </a:ext>
            </a:extLst>
          </p:cNvPr>
          <p:cNvCxnSpPr>
            <a:cxnSpLocks/>
            <a:stCxn id="664" idx="3"/>
            <a:endCxn id="666" idx="1"/>
          </p:cNvCxnSpPr>
          <p:nvPr/>
        </p:nvCxnSpPr>
        <p:spPr>
          <a:xfrm rot="5400000">
            <a:off x="292423" y="816209"/>
            <a:ext cx="230758" cy="1438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71" name="Picture 670" descr="A grid with black text&#10;&#10;AI-generated content may be incorrect.">
            <a:extLst>
              <a:ext uri="{FF2B5EF4-FFF2-40B4-BE49-F238E27FC236}">
                <a16:creationId xmlns:a16="http://schemas.microsoft.com/office/drawing/2014/main" id="{F0FA8386-766E-4453-5A30-2F015E139F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7"/>
          <a:stretch/>
        </p:blipFill>
        <p:spPr>
          <a:xfrm>
            <a:off x="1536853" y="2335220"/>
            <a:ext cx="1143459" cy="382221"/>
          </a:xfrm>
          <a:prstGeom prst="rect">
            <a:avLst/>
          </a:prstGeom>
        </p:spPr>
      </p:pic>
      <p:pic>
        <p:nvPicPr>
          <p:cNvPr id="672" name="Picture 671" descr="A grid of black text&#10;&#10;AI-generated content may be incorrect.">
            <a:extLst>
              <a:ext uri="{FF2B5EF4-FFF2-40B4-BE49-F238E27FC236}">
                <a16:creationId xmlns:a16="http://schemas.microsoft.com/office/drawing/2014/main" id="{A9D50181-3E56-2779-7CEE-DD0777AF2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4" r="2829"/>
          <a:stretch/>
        </p:blipFill>
        <p:spPr>
          <a:xfrm>
            <a:off x="1708592" y="3615965"/>
            <a:ext cx="1347977" cy="429968"/>
          </a:xfrm>
          <a:prstGeom prst="rect">
            <a:avLst/>
          </a:prstGeom>
        </p:spPr>
      </p:pic>
      <p:sp>
        <p:nvSpPr>
          <p:cNvPr id="673" name="Rectangle 672">
            <a:extLst>
              <a:ext uri="{FF2B5EF4-FFF2-40B4-BE49-F238E27FC236}">
                <a16:creationId xmlns:a16="http://schemas.microsoft.com/office/drawing/2014/main" id="{83AB81DD-5669-32D9-8839-4451C6D6E813}"/>
              </a:ext>
            </a:extLst>
          </p:cNvPr>
          <p:cNvSpPr/>
          <p:nvPr/>
        </p:nvSpPr>
        <p:spPr>
          <a:xfrm>
            <a:off x="1648481" y="1806270"/>
            <a:ext cx="1000250" cy="39280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Small Semibol" pitchFamily="2" charset="0"/>
              </a:rPr>
              <a:t>2×2 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Table of y x r, c</a:t>
            </a:r>
            <a:endParaRPr lang="fi-FI" sz="1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6BD5C9B8-C349-ED9A-C72B-DAA9B3366224}"/>
              </a:ext>
            </a:extLst>
          </p:cNvPr>
          <p:cNvSpPr/>
          <p:nvPr/>
        </p:nvSpPr>
        <p:spPr>
          <a:xfrm>
            <a:off x="133057" y="2502798"/>
            <a:ext cx="1240664" cy="4679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Stratify Data on feature c</a:t>
            </a: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DCC05F18-A69B-84D7-9E45-D8AFEE2C557A}"/>
              </a:ext>
            </a:extLst>
          </p:cNvPr>
          <p:cNvSpPr/>
          <p:nvPr/>
        </p:nvSpPr>
        <p:spPr>
          <a:xfrm>
            <a:off x="1616283" y="3177871"/>
            <a:ext cx="1010983" cy="39280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Variable Small Semibol" pitchFamily="2" charset="0"/>
              </a:rPr>
              <a:t>2×2 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Table of </a:t>
            </a:r>
          </a:p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y x r , </a:t>
            </a:r>
            <a:r>
              <a:rPr lang="fi-FI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cˉ</a:t>
            </a: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0A39A12B-1689-7168-A038-45D60056B2DD}"/>
              </a:ext>
            </a:extLst>
          </p:cNvPr>
          <p:cNvSpPr/>
          <p:nvPr/>
        </p:nvSpPr>
        <p:spPr>
          <a:xfrm rot="19294086">
            <a:off x="936765" y="1937347"/>
            <a:ext cx="685243" cy="3820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 present</a:t>
            </a:r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0E9217FD-4810-F147-95DE-11159C542462}"/>
              </a:ext>
            </a:extLst>
          </p:cNvPr>
          <p:cNvSpPr/>
          <p:nvPr/>
        </p:nvSpPr>
        <p:spPr>
          <a:xfrm rot="2580202">
            <a:off x="1015205" y="3062167"/>
            <a:ext cx="574770" cy="383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 absent</a:t>
            </a:r>
          </a:p>
        </p:txBody>
      </p:sp>
      <p:cxnSp>
        <p:nvCxnSpPr>
          <p:cNvPr id="678" name="Straight Arrow Connector 677">
            <a:extLst>
              <a:ext uri="{FF2B5EF4-FFF2-40B4-BE49-F238E27FC236}">
                <a16:creationId xmlns:a16="http://schemas.microsoft.com/office/drawing/2014/main" id="{2FA955D3-DA1A-56B6-7B32-8687AEE290F6}"/>
              </a:ext>
            </a:extLst>
          </p:cNvPr>
          <p:cNvCxnSpPr>
            <a:cxnSpLocks/>
          </p:cNvCxnSpPr>
          <p:nvPr/>
        </p:nvCxnSpPr>
        <p:spPr>
          <a:xfrm>
            <a:off x="1335093" y="3060877"/>
            <a:ext cx="223233" cy="184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9" name="Straight Arrow Connector 678">
            <a:extLst>
              <a:ext uri="{FF2B5EF4-FFF2-40B4-BE49-F238E27FC236}">
                <a16:creationId xmlns:a16="http://schemas.microsoft.com/office/drawing/2014/main" id="{D66F50E0-8BBD-D0CC-3DAA-8F8862AB8582}"/>
              </a:ext>
            </a:extLst>
          </p:cNvPr>
          <p:cNvCxnSpPr>
            <a:cxnSpLocks/>
          </p:cNvCxnSpPr>
          <p:nvPr/>
        </p:nvCxnSpPr>
        <p:spPr>
          <a:xfrm flipV="1">
            <a:off x="1296448" y="2165805"/>
            <a:ext cx="244707" cy="199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0" name="Arrow: Right 679">
            <a:extLst>
              <a:ext uri="{FF2B5EF4-FFF2-40B4-BE49-F238E27FC236}">
                <a16:creationId xmlns:a16="http://schemas.microsoft.com/office/drawing/2014/main" id="{EC5A00BE-5F24-E083-BFDC-CFDF8911F0AB}"/>
              </a:ext>
            </a:extLst>
          </p:cNvPr>
          <p:cNvSpPr/>
          <p:nvPr/>
        </p:nvSpPr>
        <p:spPr>
          <a:xfrm>
            <a:off x="4346597" y="2689537"/>
            <a:ext cx="218940" cy="150253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81" name="Arrow: Right 680">
            <a:extLst>
              <a:ext uri="{FF2B5EF4-FFF2-40B4-BE49-F238E27FC236}">
                <a16:creationId xmlns:a16="http://schemas.microsoft.com/office/drawing/2014/main" id="{5EAC5BB4-B4F0-EF95-4EE4-49827451AAC2}"/>
              </a:ext>
            </a:extLst>
          </p:cNvPr>
          <p:cNvSpPr/>
          <p:nvPr/>
        </p:nvSpPr>
        <p:spPr>
          <a:xfrm rot="5400000">
            <a:off x="7250794" y="3163899"/>
            <a:ext cx="178158" cy="182473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82" name="Arrow: Right 681">
            <a:extLst>
              <a:ext uri="{FF2B5EF4-FFF2-40B4-BE49-F238E27FC236}">
                <a16:creationId xmlns:a16="http://schemas.microsoft.com/office/drawing/2014/main" id="{728B9E9E-ED05-5034-D32D-B68F70846179}"/>
              </a:ext>
            </a:extLst>
          </p:cNvPr>
          <p:cNvSpPr/>
          <p:nvPr/>
        </p:nvSpPr>
        <p:spPr>
          <a:xfrm rot="16200000">
            <a:off x="7130581" y="2133600"/>
            <a:ext cx="218940" cy="150253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83" name="Arrow: Right 682">
            <a:extLst>
              <a:ext uri="{FF2B5EF4-FFF2-40B4-BE49-F238E27FC236}">
                <a16:creationId xmlns:a16="http://schemas.microsoft.com/office/drawing/2014/main" id="{601BA510-C85C-1568-6292-514F42DF74BF}"/>
              </a:ext>
            </a:extLst>
          </p:cNvPr>
          <p:cNvSpPr/>
          <p:nvPr/>
        </p:nvSpPr>
        <p:spPr>
          <a:xfrm>
            <a:off x="10041207" y="2683100"/>
            <a:ext cx="218940" cy="150253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869281DC-165D-0E7D-0625-04F1B5F1503B}"/>
              </a:ext>
            </a:extLst>
          </p:cNvPr>
          <p:cNvSpPr txBox="1"/>
          <p:nvPr/>
        </p:nvSpPr>
        <p:spPr>
          <a:xfrm>
            <a:off x="10275189" y="2636107"/>
            <a:ext cx="14037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Interpretation</a:t>
            </a:r>
          </a:p>
        </p:txBody>
      </p:sp>
      <p:sp>
        <p:nvSpPr>
          <p:cNvPr id="686" name="TextBox 685">
            <a:extLst>
              <a:ext uri="{FF2B5EF4-FFF2-40B4-BE49-F238E27FC236}">
                <a16:creationId xmlns:a16="http://schemas.microsoft.com/office/drawing/2014/main" id="{54771304-19C7-B681-E787-3A0B35547662}"/>
              </a:ext>
            </a:extLst>
          </p:cNvPr>
          <p:cNvSpPr txBox="1"/>
          <p:nvPr/>
        </p:nvSpPr>
        <p:spPr>
          <a:xfrm>
            <a:off x="10230119" y="3022798"/>
            <a:ext cx="1592688" cy="132343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ΔΔp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&gt; 0 or </a:t>
            </a:r>
            <a:r>
              <a:rPr lang="en-US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RoR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&gt; 1 </a:t>
            </a:r>
          </a:p>
          <a:p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→ Positive interaction</a:t>
            </a:r>
          </a:p>
          <a:p>
            <a:b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ΔΔp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= 0 or </a:t>
            </a:r>
            <a:r>
              <a:rPr lang="en-US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RoR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= 1</a:t>
            </a:r>
          </a:p>
          <a:p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→ No interaction</a:t>
            </a:r>
          </a:p>
          <a:p>
            <a:b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ΔΔp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&lt; 0 or </a:t>
            </a:r>
            <a:r>
              <a:rPr lang="en-US" sz="1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RoR</a:t>
            </a:r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&lt; 1 </a:t>
            </a:r>
          </a:p>
          <a:p>
            <a:r>
              <a:rPr lang="en-US" sz="1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→ Negative interaction</a:t>
            </a:r>
            <a:endParaRPr lang="en-US" sz="1000" b="1" dirty="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C814ABCC-2037-AA6A-CB6E-9BC731A2F34F}"/>
              </a:ext>
            </a:extLst>
          </p:cNvPr>
          <p:cNvSpPr/>
          <p:nvPr/>
        </p:nvSpPr>
        <p:spPr>
          <a:xfrm>
            <a:off x="10242996" y="3045855"/>
            <a:ext cx="1481071" cy="128144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689" name="Straight Arrow Connector 688">
            <a:extLst>
              <a:ext uri="{FF2B5EF4-FFF2-40B4-BE49-F238E27FC236}">
                <a16:creationId xmlns:a16="http://schemas.microsoft.com/office/drawing/2014/main" id="{1E71EEE0-67E7-CF15-B79B-3A25A2677D98}"/>
              </a:ext>
            </a:extLst>
          </p:cNvPr>
          <p:cNvCxnSpPr>
            <a:cxnSpLocks/>
            <a:stCxn id="684" idx="2"/>
            <a:endCxn id="688" idx="0"/>
          </p:cNvCxnSpPr>
          <p:nvPr/>
        </p:nvCxnSpPr>
        <p:spPr>
          <a:xfrm>
            <a:off x="10977088" y="2882328"/>
            <a:ext cx="6444" cy="163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498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46D27E-0D9B-59F4-746A-55DC04CFC606}"/>
              </a:ext>
            </a:extLst>
          </p:cNvPr>
          <p:cNvCxnSpPr>
            <a:cxnSpLocks/>
          </p:cNvCxnSpPr>
          <p:nvPr/>
        </p:nvCxnSpPr>
        <p:spPr>
          <a:xfrm flipV="1">
            <a:off x="2101873" y="3625161"/>
            <a:ext cx="7916236" cy="593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1163518-52DE-ACB2-A303-A4B1BAA32799}"/>
              </a:ext>
            </a:extLst>
          </p:cNvPr>
          <p:cNvSpPr/>
          <p:nvPr/>
        </p:nvSpPr>
        <p:spPr>
          <a:xfrm>
            <a:off x="5787033" y="3523226"/>
            <a:ext cx="1158077" cy="3820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Design Game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97733C-977C-BB0C-8A83-7B36F693B060}"/>
              </a:ext>
            </a:extLst>
          </p:cNvPr>
          <p:cNvCxnSpPr>
            <a:cxnSpLocks/>
          </p:cNvCxnSpPr>
          <p:nvPr/>
        </p:nvCxnSpPr>
        <p:spPr>
          <a:xfrm>
            <a:off x="5829837" y="360608"/>
            <a:ext cx="103031" cy="62591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F2E4B-1A12-BC6E-641D-8F7D19E6E496}"/>
              </a:ext>
            </a:extLst>
          </p:cNvPr>
          <p:cNvSpPr/>
          <p:nvPr/>
        </p:nvSpPr>
        <p:spPr>
          <a:xfrm>
            <a:off x="7310908" y="6001250"/>
            <a:ext cx="3920375" cy="54551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Evaluate Platform Factors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</a:t>
            </a:r>
            <a:r>
              <a:rPr kumimoji="0" lang="fi-FI" altLang="fi-FI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App</a:t>
            </a:r>
            <a:r>
              <a:rPr kumimoji="0" lang="fi-FI" altLang="fi-FI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kumimoji="0" lang="fi-FI" altLang="fi-FI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store</a:t>
            </a:r>
            <a:r>
              <a:rPr kumimoji="0" lang="fi-FI" altLang="fi-FI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kumimoji="0" lang="fi-FI" altLang="fi-FI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algorithms</a:t>
            </a:r>
            <a:r>
              <a:rPr lang="fi-FI" altLang="fi-FI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, </a:t>
            </a:r>
            <a:r>
              <a:rPr kumimoji="0" lang="fi-FI" altLang="fi-FI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Platform</a:t>
            </a:r>
            <a:r>
              <a:rPr kumimoji="0" lang="fi-FI" altLang="fi-FI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kumimoji="0" lang="fi-FI" altLang="fi-FI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policies</a:t>
            </a:r>
            <a:r>
              <a:rPr lang="fi-FI" altLang="fi-FI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, </a:t>
            </a:r>
            <a:r>
              <a:rPr kumimoji="0" lang="fi-FI" altLang="fi-FI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Marketplace </a:t>
            </a:r>
            <a:r>
              <a:rPr kumimoji="0" lang="fi-FI" altLang="fi-FI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competition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75EDD-8D97-DE15-3D9D-3C45EA189D78}"/>
              </a:ext>
            </a:extLst>
          </p:cNvPr>
          <p:cNvSpPr/>
          <p:nvPr/>
        </p:nvSpPr>
        <p:spPr>
          <a:xfrm>
            <a:off x="1395944" y="598561"/>
            <a:ext cx="3149057" cy="38207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Evaluate Economic Conditions</a:t>
            </a:r>
          </a:p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(Purchasing Power, Payment Infrastructure)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EC0C10-1002-50E8-1B90-2AEDFE684A3B}"/>
              </a:ext>
            </a:extLst>
          </p:cNvPr>
          <p:cNvSpPr/>
          <p:nvPr/>
        </p:nvSpPr>
        <p:spPr>
          <a:xfrm>
            <a:off x="7786012" y="510555"/>
            <a:ext cx="3149057" cy="38207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Evaluate Geographical Context</a:t>
            </a:r>
          </a:p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(Country or Regional Differences, Market Maturity)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7F62B3-F693-EEF8-DCA5-CE6B7AAC0232}"/>
              </a:ext>
            </a:extLst>
          </p:cNvPr>
          <p:cNvSpPr/>
          <p:nvPr/>
        </p:nvSpPr>
        <p:spPr>
          <a:xfrm>
            <a:off x="1286473" y="6052764"/>
            <a:ext cx="3149057" cy="38207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Evaluate Social &amp; Cultural Norms</a:t>
            </a:r>
          </a:p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(Content Acceptance, User Expectations)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E697D7-F2E1-7380-9F97-D45074F147FF}"/>
              </a:ext>
            </a:extLst>
          </p:cNvPr>
          <p:cNvSpPr/>
          <p:nvPr/>
        </p:nvSpPr>
        <p:spPr>
          <a:xfrm rot="965081">
            <a:off x="5888396" y="2375666"/>
            <a:ext cx="1023265" cy="3820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/>
              <a:t>Is the target market price-sensitive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4B569E-38D9-7580-301F-03B1EDDBEE75}"/>
              </a:ext>
            </a:extLst>
          </p:cNvPr>
          <p:cNvSpPr/>
          <p:nvPr/>
        </p:nvSpPr>
        <p:spPr>
          <a:xfrm rot="20758210">
            <a:off x="4782370" y="2672278"/>
            <a:ext cx="1165411" cy="3820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/>
              <a:t>Does regional purchasing power support paid games?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A12A98-BEC1-0B92-DF1A-49C422440708}"/>
              </a:ext>
            </a:extLst>
          </p:cNvPr>
          <p:cNvSpPr/>
          <p:nvPr/>
        </p:nvSpPr>
        <p:spPr>
          <a:xfrm rot="1864684">
            <a:off x="4942611" y="3784344"/>
            <a:ext cx="1017726" cy="3761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/>
              <a:t>Are similar successful games in this market free or paid?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F03078-0EA8-D03B-D799-74C2332CDA9C}"/>
              </a:ext>
            </a:extLst>
          </p:cNvPr>
          <p:cNvSpPr txBox="1"/>
          <p:nvPr/>
        </p:nvSpPr>
        <p:spPr>
          <a:xfrm rot="1452594">
            <a:off x="6023020" y="2069207"/>
            <a:ext cx="1425263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700" dirty="0"/>
              <a:t>Do players in this market tolerate ad-supported games?</a:t>
            </a:r>
            <a:endParaRPr lang="fi-FI" sz="7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2560F7-F2B0-0601-AFD0-716A688B8624}"/>
              </a:ext>
            </a:extLst>
          </p:cNvPr>
          <p:cNvSpPr txBox="1"/>
          <p:nvPr/>
        </p:nvSpPr>
        <p:spPr>
          <a:xfrm rot="19852289">
            <a:off x="4467932" y="2123280"/>
            <a:ext cx="1365322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700" dirty="0"/>
              <a:t>Do ads fit naturally into the gameplay loop?</a:t>
            </a:r>
            <a:endParaRPr lang="fi-FI" sz="7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07C763-BFB0-7E2F-5BF1-734FF1B9E54D}"/>
              </a:ext>
            </a:extLst>
          </p:cNvPr>
          <p:cNvSpPr txBox="1"/>
          <p:nvPr/>
        </p:nvSpPr>
        <p:spPr>
          <a:xfrm rot="1872309">
            <a:off x="4252528" y="4078568"/>
            <a:ext cx="1252082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700" dirty="0"/>
              <a:t>Are ads commonly used in competing games?</a:t>
            </a:r>
            <a:endParaRPr lang="fi-FI" sz="7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87F9208-1E19-56BA-479B-6B47D886A2A0}"/>
              </a:ext>
            </a:extLst>
          </p:cNvPr>
          <p:cNvSpPr/>
          <p:nvPr/>
        </p:nvSpPr>
        <p:spPr>
          <a:xfrm>
            <a:off x="4675030" y="2215166"/>
            <a:ext cx="2618704" cy="216794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83392D-D45A-E5FD-4D59-E4036C38F9A0}"/>
              </a:ext>
            </a:extLst>
          </p:cNvPr>
          <p:cNvSpPr/>
          <p:nvPr/>
        </p:nvSpPr>
        <p:spPr>
          <a:xfrm>
            <a:off x="6441848" y="3185633"/>
            <a:ext cx="1173515" cy="3374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Free Vs. Paid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013A205-7225-A65C-027B-72086C57C591}"/>
              </a:ext>
            </a:extLst>
          </p:cNvPr>
          <p:cNvSpPr/>
          <p:nvPr/>
        </p:nvSpPr>
        <p:spPr>
          <a:xfrm>
            <a:off x="4086896" y="1781576"/>
            <a:ext cx="3739166" cy="301365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9F233E-5FE6-805E-6C47-98FEA17765ED}"/>
              </a:ext>
            </a:extLst>
          </p:cNvPr>
          <p:cNvSpPr/>
          <p:nvPr/>
        </p:nvSpPr>
        <p:spPr>
          <a:xfrm>
            <a:off x="7409426" y="2794387"/>
            <a:ext cx="591821" cy="3374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+ Ads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35D3726-F0E2-7D8C-743E-591FA39F9E9D}"/>
              </a:ext>
            </a:extLst>
          </p:cNvPr>
          <p:cNvSpPr/>
          <p:nvPr/>
        </p:nvSpPr>
        <p:spPr>
          <a:xfrm>
            <a:off x="3473004" y="1317939"/>
            <a:ext cx="5121498" cy="375633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903EE25-70B8-7056-FC9A-9316AAF589D7}"/>
              </a:ext>
            </a:extLst>
          </p:cNvPr>
          <p:cNvSpPr/>
          <p:nvPr/>
        </p:nvSpPr>
        <p:spPr>
          <a:xfrm>
            <a:off x="7964677" y="2408997"/>
            <a:ext cx="591821" cy="3374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+ IAP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8050F9-30B8-D500-B3DC-E20A761D1694}"/>
              </a:ext>
            </a:extLst>
          </p:cNvPr>
          <p:cNvSpPr txBox="1"/>
          <p:nvPr/>
        </p:nvSpPr>
        <p:spPr>
          <a:xfrm rot="927478">
            <a:off x="5931818" y="1499958"/>
            <a:ext cx="1699585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dirty="0"/>
              <a:t>Do players trust microtransactions in this market?</a:t>
            </a:r>
            <a:endParaRPr lang="fi-FI" sz="7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67BD4D-3AA3-4AAA-6BB5-B215FC59D3E9}"/>
              </a:ext>
            </a:extLst>
          </p:cNvPr>
          <p:cNvSpPr txBox="1"/>
          <p:nvPr/>
        </p:nvSpPr>
        <p:spPr>
          <a:xfrm rot="19839889">
            <a:off x="3973133" y="1755460"/>
            <a:ext cx="1425263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dirty="0"/>
              <a:t>Is payment infrastructure widely available?</a:t>
            </a:r>
            <a:endParaRPr lang="fi-FI" sz="7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FA3414-7D5A-FB99-A171-5D0FA7890476}"/>
              </a:ext>
            </a:extLst>
          </p:cNvPr>
          <p:cNvSpPr txBox="1"/>
          <p:nvPr/>
        </p:nvSpPr>
        <p:spPr>
          <a:xfrm rot="2467959">
            <a:off x="3443839" y="4193074"/>
            <a:ext cx="1851661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dirty="0"/>
              <a:t>Does the monetization design creates any social concerns?</a:t>
            </a:r>
            <a:endParaRPr lang="fi-FI" sz="7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D4D53CD-5994-6B41-6619-FF20E2450D9F}"/>
              </a:ext>
            </a:extLst>
          </p:cNvPr>
          <p:cNvSpPr/>
          <p:nvPr/>
        </p:nvSpPr>
        <p:spPr>
          <a:xfrm>
            <a:off x="2871989" y="965915"/>
            <a:ext cx="6254839" cy="44517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FBAAEC-3D9F-F4F4-CCF7-F95489266618}"/>
              </a:ext>
            </a:extLst>
          </p:cNvPr>
          <p:cNvSpPr/>
          <p:nvPr/>
        </p:nvSpPr>
        <p:spPr>
          <a:xfrm>
            <a:off x="8391505" y="2006321"/>
            <a:ext cx="900912" cy="3374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+ </a:t>
            </a:r>
            <a:r>
              <a:rPr lang="en-US" sz="1000" dirty="0" err="1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Descrip</a:t>
            </a:r>
            <a:r>
              <a:rPr lang="en-US" sz="1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54612A-E145-DB45-B612-43F4ECBC7830}"/>
              </a:ext>
            </a:extLst>
          </p:cNvPr>
          <p:cNvSpPr txBox="1"/>
          <p:nvPr/>
        </p:nvSpPr>
        <p:spPr>
          <a:xfrm rot="19481383">
            <a:off x="3349997" y="1462458"/>
            <a:ext cx="1800889" cy="29238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274320">
            <a:normAutofit/>
          </a:bodyPr>
          <a:lstStyle/>
          <a:p>
            <a:r>
              <a:rPr lang="en-US" sz="800" dirty="0"/>
              <a:t>Does the description clearly communicate gameplay value?</a:t>
            </a:r>
            <a:endParaRPr lang="fi-FI" sz="7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D3D47E-7A9F-468B-B72C-5E132D408553}"/>
              </a:ext>
            </a:extLst>
          </p:cNvPr>
          <p:cNvSpPr txBox="1"/>
          <p:nvPr/>
        </p:nvSpPr>
        <p:spPr>
          <a:xfrm rot="519705">
            <a:off x="5920077" y="1081818"/>
            <a:ext cx="171526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dirty="0"/>
              <a:t>Is the description localized for the target region?</a:t>
            </a:r>
            <a:endParaRPr lang="fi-FI" sz="7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41876B-5522-A813-B743-02579E3D16E5}"/>
              </a:ext>
            </a:extLst>
          </p:cNvPr>
          <p:cNvSpPr txBox="1"/>
          <p:nvPr/>
        </p:nvSpPr>
        <p:spPr>
          <a:xfrm rot="2618315">
            <a:off x="2915645" y="4230092"/>
            <a:ext cx="1805475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dirty="0"/>
              <a:t>Does it match user expectations and store search behavior?</a:t>
            </a:r>
            <a:endParaRPr lang="fi-FI" sz="7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A05DDC4-ECC1-20BD-3556-36D29C598BF7}"/>
              </a:ext>
            </a:extLst>
          </p:cNvPr>
          <p:cNvSpPr/>
          <p:nvPr/>
        </p:nvSpPr>
        <p:spPr>
          <a:xfrm>
            <a:off x="2219987" y="665019"/>
            <a:ext cx="7735726" cy="5168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6A02BD-2A0A-E5F8-8EA6-74442C8C5CB2}"/>
              </a:ext>
            </a:extLst>
          </p:cNvPr>
          <p:cNvSpPr/>
          <p:nvPr/>
        </p:nvSpPr>
        <p:spPr>
          <a:xfrm>
            <a:off x="7371615" y="4009669"/>
            <a:ext cx="2662335" cy="7893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Validate from app ratings, installs counts or User Reviews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92AFC3-8614-77D3-74A0-9E2FA2D0503D}"/>
              </a:ext>
            </a:extLst>
          </p:cNvPr>
          <p:cNvSpPr/>
          <p:nvPr/>
        </p:nvSpPr>
        <p:spPr>
          <a:xfrm>
            <a:off x="8793287" y="1527932"/>
            <a:ext cx="900912" cy="3374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+ 18+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CF2B1E-490F-D892-0E4E-AADA5EABFBAA}"/>
              </a:ext>
            </a:extLst>
          </p:cNvPr>
          <p:cNvSpPr txBox="1"/>
          <p:nvPr/>
        </p:nvSpPr>
        <p:spPr>
          <a:xfrm rot="519705">
            <a:off x="6136309" y="722173"/>
            <a:ext cx="1668774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Is the content culturally acceptable in the target market?</a:t>
            </a:r>
            <a:endParaRPr lang="fi-FI" sz="7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150316-3917-4D14-C8ED-F8B286D2DE2B}"/>
              </a:ext>
            </a:extLst>
          </p:cNvPr>
          <p:cNvSpPr txBox="1"/>
          <p:nvPr/>
        </p:nvSpPr>
        <p:spPr>
          <a:xfrm rot="19979979">
            <a:off x="2624055" y="1270658"/>
            <a:ext cx="2712606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dirty="0"/>
              <a:t>Are there regulatory restrictions for mature content?</a:t>
            </a:r>
            <a:endParaRPr lang="fi-FI" sz="7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E9F797-7075-5010-AB66-55C36A490345}"/>
              </a:ext>
            </a:extLst>
          </p:cNvPr>
          <p:cNvSpPr txBox="1"/>
          <p:nvPr/>
        </p:nvSpPr>
        <p:spPr>
          <a:xfrm rot="2535323">
            <a:off x="2155773" y="4493382"/>
            <a:ext cx="2403161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dirty="0"/>
              <a:t>How do similar games with this classification perform?</a:t>
            </a:r>
            <a:endParaRPr lang="fi-FI" sz="700" dirty="0"/>
          </a:p>
        </p:txBody>
      </p:sp>
    </p:spTree>
    <p:extLst>
      <p:ext uri="{BB962C8B-B14F-4D97-AF65-F5344CB8AC3E}">
        <p14:creationId xmlns:p14="http://schemas.microsoft.com/office/powerpoint/2010/main" val="841873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11509</TotalTime>
  <Words>3477</Words>
  <Application>Microsoft Office PowerPoint</Application>
  <PresentationFormat>Widescreen</PresentationFormat>
  <Paragraphs>934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Microsoft JhengHei</vt:lpstr>
      <vt:lpstr>Microsoft JhengHei UI</vt:lpstr>
      <vt:lpstr>Microsoft YaHei</vt:lpstr>
      <vt:lpstr>Microsoft YaHei UI</vt:lpstr>
      <vt:lpstr>Aptos</vt:lpstr>
      <vt:lpstr>Arial</vt:lpstr>
      <vt:lpstr>Arial Black</vt:lpstr>
      <vt:lpstr>Calibri</vt:lpstr>
      <vt:lpstr>Calibri Light</vt:lpstr>
      <vt:lpstr>Roboto</vt:lpstr>
      <vt:lpstr>Segoe UI Semibold</vt:lpstr>
      <vt:lpstr>Segoe UI Variable Display Semib</vt:lpstr>
      <vt:lpstr>Segoe UI Variable Small Semibol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Raheela Chand</cp:lastModifiedBy>
  <cp:revision>356</cp:revision>
  <dcterms:created xsi:type="dcterms:W3CDTF">2025-06-22T10:48:58Z</dcterms:created>
  <dcterms:modified xsi:type="dcterms:W3CDTF">2026-09-25T14:12:06Z</dcterms:modified>
</cp:coreProperties>
</file>