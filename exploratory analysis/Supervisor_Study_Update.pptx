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62" r:id="rId4"/>
    <p:sldId id="264" r:id="rId5"/>
    <p:sldId id="273" r:id="rId6"/>
    <p:sldId id="274" r:id="rId7"/>
    <p:sldId id="275" r:id="rId8"/>
    <p:sldId id="266" r:id="rId9"/>
    <p:sldId id="265" r:id="rId10"/>
    <p:sldId id="267" r:id="rId11"/>
    <p:sldId id="269" r:id="rId12"/>
    <p:sldId id="270" r:id="rId13"/>
    <p:sldId id="271" r:id="rId14"/>
    <p:sldId id="276" r:id="rId15"/>
    <p:sldId id="272" r:id="rId16"/>
    <p:sldId id="260" r:id="rId17"/>
    <p:sldId id="261" r:id="rId18"/>
    <p:sldId id="289" r:id="rId19"/>
    <p:sldId id="290" r:id="rId20"/>
    <p:sldId id="291" r:id="rId21"/>
    <p:sldId id="285" r:id="rId22"/>
    <p:sldId id="28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CBCBCB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02" autoAdjust="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86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2D01B-4301-4F55-B590-7941FD3FC1E8}" type="datetimeFigureOut">
              <a:rPr lang="fi-FI" smtClean="0"/>
              <a:t>25.9.2026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3E7022-2015-46C7-9007-AF40AC2268F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45852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E7022-2015-46C7-9007-AF40AC2268F9}" type="slidenum">
              <a:rPr lang="fi-FI" smtClean="0"/>
              <a:t>18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83362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E7022-2015-46C7-9007-AF40AC2268F9}" type="slidenum">
              <a:rPr lang="fi-FI" smtClean="0"/>
              <a:t>19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483537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E7022-2015-46C7-9007-AF40AC2268F9}" type="slidenum">
              <a:rPr lang="fi-FI" smtClean="0"/>
              <a:t>21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3944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E7022-2015-46C7-9007-AF40AC2268F9}" type="slidenum">
              <a:rPr lang="fi-FI" smtClean="0"/>
              <a:t>22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34204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amanetwork.com/journals/jama/fullarticle/206404" TargetMode="External"/><Relationship Id="rId2" Type="http://schemas.openxmlformats.org/officeDocument/2006/relationships/hyperlink" Target="https://pubmed.ncbi.nlm.nih.gov/17405972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mc.ncbi.nlm.nih.gov/articles/PMC3963523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3.png"/><Relationship Id="rId18" Type="http://schemas.openxmlformats.org/officeDocument/2006/relationships/image" Target="../media/image22.png"/><Relationship Id="rId3" Type="http://schemas.openxmlformats.org/officeDocument/2006/relationships/image" Target="../media/image32.png"/><Relationship Id="rId7" Type="http://schemas.openxmlformats.org/officeDocument/2006/relationships/image" Target="../media/image17.png"/><Relationship Id="rId12" Type="http://schemas.openxmlformats.org/officeDocument/2006/relationships/image" Target="../media/image26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5.png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4.png"/><Relationship Id="rId9" Type="http://schemas.openxmlformats.org/officeDocument/2006/relationships/image" Target="../media/image23.png"/><Relationship Id="rId1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13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94687" y="76703"/>
            <a:ext cx="73422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dirty="0">
                <a:solidFill>
                  <a:srgbClr val="1E1E1E"/>
                </a:solidFill>
                <a:latin typeface="Arial"/>
              </a:rPr>
              <a:t>Study Update: From Generic Interaction Analysis to a Focused Monetization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28800"/>
            <a:ext cx="2926080" cy="20116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sz="1700" b="1">
                <a:solidFill>
                  <a:srgbClr val="1E1E1E"/>
                </a:solidFill>
                <a:latin typeface="Arial"/>
              </a:rPr>
              <a:t>Earlier setup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414141"/>
                </a:solidFill>
                <a:latin typeface="Arial"/>
              </a:rPr>
              <a:t>Generic binary feature pairs
~10 countries
Framework demonstration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77639" y="2834640"/>
            <a:ext cx="640081" cy="0"/>
          </a:xfrm>
          <a:prstGeom prst="line">
            <a:avLst/>
          </a:prstGeom>
          <a:ln w="29209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709160" y="1828800"/>
            <a:ext cx="2926080" cy="20116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sz="1700" b="1">
                <a:solidFill>
                  <a:srgbClr val="1E1E1E"/>
                </a:solidFill>
                <a:latin typeface="Arial"/>
              </a:rPr>
              <a:t>Current study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414141"/>
                </a:solidFill>
                <a:latin typeface="Arial"/>
              </a:rPr>
              <a:t>F2P monetization × genre
42 markets × 14 months
Contextual validity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18120" y="2834640"/>
            <a:ext cx="640080" cy="0"/>
          </a:xfrm>
          <a:prstGeom prst="line">
            <a:avLst/>
          </a:prstGeom>
          <a:ln w="29209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549640" y="1828800"/>
            <a:ext cx="2743200" cy="2011680"/>
          </a:xfrm>
          <a:prstGeom prst="round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Resulting story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FFFFFF"/>
                </a:solidFill>
                <a:latin typeface="Arial"/>
              </a:rPr>
              <a:t>Forms of play + markets
Interaction framework
Cultural Paradox of Success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1E1E"/>
                </a:solidFill>
                <a:latin typeface="Arial"/>
              </a:rPr>
              <a:t>Current Research Question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08760"/>
            <a:ext cx="2743200" cy="141732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sz="1700" b="1">
                <a:solidFill>
                  <a:srgbClr val="1E1E1E"/>
                </a:solidFill>
                <a:latin typeface="Arial"/>
              </a:rPr>
              <a:t>Monetization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414141"/>
                </a:solidFill>
                <a:latin typeface="Arial"/>
              </a:rPr>
              <a:t>Ads / IAP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0" y="2212848"/>
            <a:ext cx="685800" cy="0"/>
          </a:xfrm>
          <a:prstGeom prst="line">
            <a:avLst/>
          </a:prstGeom>
          <a:ln w="29209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434840" y="1508760"/>
            <a:ext cx="2743200" cy="141732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sz="1700" b="1">
                <a:solidFill>
                  <a:srgbClr val="1E1E1E"/>
                </a:solidFill>
                <a:latin typeface="Arial"/>
              </a:rPr>
              <a:t>Gameplay Context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414141"/>
                </a:solidFill>
                <a:latin typeface="Arial"/>
              </a:rPr>
              <a:t>Genre / form of play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269480" y="2212848"/>
            <a:ext cx="685799" cy="0"/>
          </a:xfrm>
          <a:prstGeom prst="line">
            <a:avLst/>
          </a:prstGeom>
          <a:ln w="29209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046720" y="1508760"/>
            <a:ext cx="3108960" cy="1417320"/>
          </a:xfrm>
          <a:prstGeom prst="round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Marketplace Success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FFFFFF"/>
                </a:solidFill>
                <a:latin typeface="Arial"/>
              </a:rPr>
              <a:t>Installs / ratings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7472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1E1E"/>
                </a:solidFill>
                <a:latin typeface="Arial"/>
              </a:rPr>
              <a:t>Does genre modify the relationship between Ads/IAP and marketplace success — and do the resulting patterns generalize across markets and remain stable over time?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809EB0-888F-F763-2931-070916372895}"/>
              </a:ext>
            </a:extLst>
          </p:cNvPr>
          <p:cNvSpPr/>
          <p:nvPr/>
        </p:nvSpPr>
        <p:spPr>
          <a:xfrm>
            <a:off x="4413161" y="42926"/>
            <a:ext cx="4669693" cy="5409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Hormonal Replacement Therapy (HRT) to CHD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1F8998-4C5B-2FEC-02F6-B76AF488354B}"/>
              </a:ext>
            </a:extLst>
          </p:cNvPr>
          <p:cNvSpPr/>
          <p:nvPr/>
        </p:nvSpPr>
        <p:spPr>
          <a:xfrm>
            <a:off x="4825328" y="1287884"/>
            <a:ext cx="1644203" cy="5409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Female?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F90096-9C1D-9BE8-E558-D2887A176F5B}"/>
              </a:ext>
            </a:extLst>
          </p:cNvPr>
          <p:cNvSpPr/>
          <p:nvPr/>
        </p:nvSpPr>
        <p:spPr>
          <a:xfrm>
            <a:off x="8182406" y="1287883"/>
            <a:ext cx="1644203" cy="5409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Male?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38D5960-53CA-726E-D108-B691C3291D44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rot="5400000">
            <a:off x="5845697" y="385572"/>
            <a:ext cx="704045" cy="11005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4B0D7D62-2009-8BA4-696A-8CC90C781B87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rot="16200000" flipH="1">
            <a:off x="7524236" y="-192389"/>
            <a:ext cx="704044" cy="22565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76C8258-81AB-C571-2DD6-CF5D1B699DDE}"/>
              </a:ext>
            </a:extLst>
          </p:cNvPr>
          <p:cNvSpPr/>
          <p:nvPr/>
        </p:nvSpPr>
        <p:spPr>
          <a:xfrm>
            <a:off x="3657601" y="2504937"/>
            <a:ext cx="1030311" cy="5409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Teen?</a:t>
            </a:r>
          </a:p>
          <a:p>
            <a:pPr algn="ctr"/>
            <a:r>
              <a:rPr lang="en-US" sz="1400" dirty="0"/>
              <a:t>&lt; 18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EB48E5-DE2C-BD3F-D978-BC7F638AF706}"/>
              </a:ext>
            </a:extLst>
          </p:cNvPr>
          <p:cNvSpPr/>
          <p:nvPr/>
        </p:nvSpPr>
        <p:spPr>
          <a:xfrm>
            <a:off x="4956220" y="2504937"/>
            <a:ext cx="1030311" cy="54091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Adult?</a:t>
            </a:r>
          </a:p>
          <a:p>
            <a:pPr algn="ctr"/>
            <a:r>
              <a:rPr lang="en-US" sz="1400" dirty="0"/>
              <a:t>&gt; 18 - 40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06893C-484A-E7C5-C318-1E90937161E1}"/>
              </a:ext>
            </a:extLst>
          </p:cNvPr>
          <p:cNvSpPr/>
          <p:nvPr/>
        </p:nvSpPr>
        <p:spPr>
          <a:xfrm>
            <a:off x="6173273" y="2504937"/>
            <a:ext cx="1644204" cy="5409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Mature ?</a:t>
            </a:r>
          </a:p>
          <a:p>
            <a:pPr algn="ctr"/>
            <a:r>
              <a:rPr lang="en-US" sz="1400" dirty="0"/>
              <a:t>&gt; 40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2015A96-07E4-3B34-86F0-35FE2ED4BE87}"/>
              </a:ext>
            </a:extLst>
          </p:cNvPr>
          <p:cNvCxnSpPr>
            <a:cxnSpLocks/>
            <a:stCxn id="3" idx="2"/>
            <a:endCxn id="12" idx="0"/>
          </p:cNvCxnSpPr>
          <p:nvPr/>
        </p:nvCxnSpPr>
        <p:spPr>
          <a:xfrm rot="5400000">
            <a:off x="4572024" y="1429531"/>
            <a:ext cx="676140" cy="14746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CEE96115-AD06-7259-0489-DAB713807B14}"/>
              </a:ext>
            </a:extLst>
          </p:cNvPr>
          <p:cNvCxnSpPr>
            <a:cxnSpLocks/>
            <a:stCxn id="3" idx="2"/>
            <a:endCxn id="13" idx="0"/>
          </p:cNvCxnSpPr>
          <p:nvPr/>
        </p:nvCxnSpPr>
        <p:spPr>
          <a:xfrm rot="5400000">
            <a:off x="5221333" y="2078840"/>
            <a:ext cx="676140" cy="1760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AC08DB53-E59C-C319-26FC-5CE04485EB80}"/>
              </a:ext>
            </a:extLst>
          </p:cNvPr>
          <p:cNvCxnSpPr>
            <a:cxnSpLocks/>
            <a:stCxn id="3" idx="2"/>
            <a:endCxn id="14" idx="0"/>
          </p:cNvCxnSpPr>
          <p:nvPr/>
        </p:nvCxnSpPr>
        <p:spPr>
          <a:xfrm rot="16200000" flipH="1">
            <a:off x="5983332" y="1492894"/>
            <a:ext cx="676140" cy="13479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A41E260-0FEE-41D8-10A6-E3AAA28ACDA7}"/>
              </a:ext>
            </a:extLst>
          </p:cNvPr>
          <p:cNvSpPr txBox="1"/>
          <p:nvPr/>
        </p:nvSpPr>
        <p:spPr>
          <a:xfrm>
            <a:off x="5303950" y="583836"/>
            <a:ext cx="1365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dirty="0"/>
              <a:t>split by </a:t>
            </a:r>
            <a:r>
              <a:rPr lang="fi-FI" b="1" dirty="0"/>
              <a:t>Sex</a:t>
            </a:r>
            <a:endParaRPr lang="fi-FI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B404FD-F575-1B4C-3B00-5EAC4DEE5D04}"/>
              </a:ext>
            </a:extLst>
          </p:cNvPr>
          <p:cNvSpPr txBox="1"/>
          <p:nvPr/>
        </p:nvSpPr>
        <p:spPr>
          <a:xfrm>
            <a:off x="6699162" y="1656940"/>
            <a:ext cx="1365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dirty="0"/>
              <a:t>split by </a:t>
            </a:r>
            <a:r>
              <a:rPr lang="fi-FI" b="1" dirty="0"/>
              <a:t>Age</a:t>
            </a:r>
            <a:endParaRPr lang="fi-FI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5A0077-F267-D593-2A7F-E1CA608721AB}"/>
              </a:ext>
            </a:extLst>
          </p:cNvPr>
          <p:cNvSpPr txBox="1"/>
          <p:nvPr/>
        </p:nvSpPr>
        <p:spPr>
          <a:xfrm>
            <a:off x="167426" y="183790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Does the HRT–CHD association differ by age</a:t>
            </a:r>
            <a:r>
              <a:rPr lang="en-US" sz="1600" dirty="0"/>
              <a:t>?</a:t>
            </a:r>
            <a:endParaRPr lang="fi-FI" sz="1600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64891B0-A451-A39E-15C5-9A86FD59ABAB}"/>
              </a:ext>
            </a:extLst>
          </p:cNvPr>
          <p:cNvCxnSpPr/>
          <p:nvPr/>
        </p:nvCxnSpPr>
        <p:spPr>
          <a:xfrm flipV="1">
            <a:off x="4172757" y="1991929"/>
            <a:ext cx="7130603" cy="3434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DDB2908-4674-C47D-E207-29CE4F01604C}"/>
              </a:ext>
            </a:extLst>
          </p:cNvPr>
          <p:cNvCxnSpPr/>
          <p:nvPr/>
        </p:nvCxnSpPr>
        <p:spPr>
          <a:xfrm flipV="1">
            <a:off x="4825328" y="4072686"/>
            <a:ext cx="7130603" cy="3434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F50645C5-FF15-90E4-13F5-5B6D0B323033}"/>
              </a:ext>
            </a:extLst>
          </p:cNvPr>
          <p:cNvSpPr/>
          <p:nvPr/>
        </p:nvSpPr>
        <p:spPr>
          <a:xfrm>
            <a:off x="4456103" y="3588244"/>
            <a:ext cx="2013428" cy="37778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b="1" dirty="0"/>
              <a:t>Pre-menopausal</a:t>
            </a:r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8559A52-EE3E-A547-C1D0-71D25EF87F63}"/>
              </a:ext>
            </a:extLst>
          </p:cNvPr>
          <p:cNvSpPr/>
          <p:nvPr/>
        </p:nvSpPr>
        <p:spPr>
          <a:xfrm>
            <a:off x="7596446" y="3588244"/>
            <a:ext cx="2230163" cy="3777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fi-FI" b="1" dirty="0"/>
              <a:t>Post-</a:t>
            </a:r>
            <a:r>
              <a:rPr lang="fi-FI" b="1" dirty="0" err="1"/>
              <a:t>menopausal</a:t>
            </a:r>
            <a:r>
              <a:rPr lang="fi-FI" dirty="0"/>
              <a:t> </a:t>
            </a:r>
            <a:endParaRPr lang="en-US" sz="1400" dirty="0"/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651A6189-D667-6CDB-3B97-1BD50E064960}"/>
              </a:ext>
            </a:extLst>
          </p:cNvPr>
          <p:cNvCxnSpPr>
            <a:cxnSpLocks/>
            <a:stCxn id="14" idx="2"/>
            <a:endCxn id="44" idx="0"/>
          </p:cNvCxnSpPr>
          <p:nvPr/>
        </p:nvCxnSpPr>
        <p:spPr>
          <a:xfrm rot="16200000" flipH="1">
            <a:off x="7582254" y="2458970"/>
            <a:ext cx="542394" cy="17161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F28B98C-5783-7256-4150-082EBA544496}"/>
              </a:ext>
            </a:extLst>
          </p:cNvPr>
          <p:cNvCxnSpPr>
            <a:cxnSpLocks/>
            <a:stCxn id="14" idx="2"/>
            <a:endCxn id="43" idx="0"/>
          </p:cNvCxnSpPr>
          <p:nvPr/>
        </p:nvCxnSpPr>
        <p:spPr>
          <a:xfrm rot="5400000">
            <a:off x="5957899" y="2550768"/>
            <a:ext cx="542394" cy="15325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8E03214-C3EA-8E98-72EF-686AEDC89DA7}"/>
              </a:ext>
            </a:extLst>
          </p:cNvPr>
          <p:cNvSpPr txBox="1"/>
          <p:nvPr/>
        </p:nvSpPr>
        <p:spPr>
          <a:xfrm>
            <a:off x="0" y="6004670"/>
            <a:ext cx="1159310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→ </a:t>
            </a:r>
            <a:r>
              <a:rPr lang="en-US" sz="2000" b="1" dirty="0"/>
              <a:t> </a:t>
            </a:r>
            <a:r>
              <a:rPr lang="en-US" sz="1400" b="1" dirty="0">
                <a:hlinkClick r:id="rId2"/>
              </a:rPr>
              <a:t>https://pubmed.ncbi.nlm.nih.gov/17405972/</a:t>
            </a:r>
            <a:r>
              <a:rPr lang="en-US" sz="1200" b="1" dirty="0"/>
              <a:t> (</a:t>
            </a:r>
            <a:r>
              <a:rPr lang="en-US" sz="1200" b="1" i="0" dirty="0">
                <a:solidFill>
                  <a:srgbClr val="333333"/>
                </a:solidFill>
                <a:effectLst/>
              </a:rPr>
              <a:t>Postmenopausal Hormone Therapy and Risk of Cardiovascular Disease by Age and Years Since Menopause)</a:t>
            </a:r>
            <a:endParaRPr lang="en-US" sz="1600" b="1" dirty="0"/>
          </a:p>
          <a:p>
            <a:r>
              <a:rPr lang="fi-FI" sz="1600" b="1" dirty="0"/>
              <a:t> </a:t>
            </a:r>
            <a:r>
              <a:rPr lang="en-US" sz="1400" b="1" dirty="0"/>
              <a:t>→</a:t>
            </a:r>
            <a:r>
              <a:rPr lang="en-US" sz="1600" b="1" dirty="0"/>
              <a:t>  </a:t>
            </a:r>
            <a:r>
              <a:rPr lang="fi-FI" sz="1400" b="1" dirty="0">
                <a:hlinkClick r:id="rId3"/>
              </a:rPr>
              <a:t>https://jamanetwork.com/journals/jama/fullarticle/206404</a:t>
            </a:r>
            <a:endParaRPr lang="fi-FI" sz="1400" b="1" dirty="0"/>
          </a:p>
          <a:p>
            <a:r>
              <a:rPr lang="fi-FI" sz="1400" b="1" dirty="0"/>
              <a:t> </a:t>
            </a:r>
            <a:r>
              <a:rPr lang="en-US" sz="1400" b="1" dirty="0"/>
              <a:t>→  </a:t>
            </a:r>
            <a:r>
              <a:rPr lang="fi-FI" sz="1400" b="1" dirty="0">
                <a:hlinkClick r:id="rId4"/>
              </a:rPr>
              <a:t>https://pmc.ncbi.nlm.nih.gov/articles/PMC3963523/</a:t>
            </a:r>
            <a:endParaRPr lang="fi-FI" sz="1400" b="1" dirty="0"/>
          </a:p>
          <a:p>
            <a:endParaRPr lang="fi-FI" sz="16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13E091-A714-6016-A56D-ADDDBBDF5ED2}"/>
              </a:ext>
            </a:extLst>
          </p:cNvPr>
          <p:cNvSpPr txBox="1"/>
          <p:nvPr/>
        </p:nvSpPr>
        <p:spPr>
          <a:xfrm>
            <a:off x="9474558" y="36731"/>
            <a:ext cx="2717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Does HRT affect coronary heart disease (CHD) risk?</a:t>
            </a:r>
            <a:endParaRPr lang="fi-FI" dirty="0">
              <a:solidFill>
                <a:srgbClr val="C0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1D8B36-9FC6-A589-DF3E-CCC52E409DA2}"/>
              </a:ext>
            </a:extLst>
          </p:cNvPr>
          <p:cNvSpPr txBox="1"/>
          <p:nvPr/>
        </p:nvSpPr>
        <p:spPr>
          <a:xfrm>
            <a:off x="120203" y="396602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Does the effect differ by YEARS SINCE MENOPAUSE?</a:t>
            </a:r>
            <a:endParaRPr lang="fi-FI" sz="1600" b="1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B81FAA8-0CE8-CAFF-6E49-ECFE32D0EBE1}"/>
              </a:ext>
            </a:extLst>
          </p:cNvPr>
          <p:cNvSpPr/>
          <p:nvPr/>
        </p:nvSpPr>
        <p:spPr>
          <a:xfrm>
            <a:off x="6166835" y="4532037"/>
            <a:ext cx="1208470" cy="361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dirty="0"/>
              <a:t>&lt;10 </a:t>
            </a:r>
            <a:r>
              <a:rPr lang="fi-FI" dirty="0" err="1"/>
              <a:t>years</a:t>
            </a:r>
            <a:endParaRPr lang="en-US" sz="14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B9D6E18-D998-AB7F-7656-540D2CC20435}"/>
              </a:ext>
            </a:extLst>
          </p:cNvPr>
          <p:cNvSpPr/>
          <p:nvPr/>
        </p:nvSpPr>
        <p:spPr>
          <a:xfrm>
            <a:off x="7467601" y="4532037"/>
            <a:ext cx="1373749" cy="3612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dirty="0"/>
              <a:t>10–19 </a:t>
            </a:r>
            <a:r>
              <a:rPr lang="fi-FI" dirty="0" err="1"/>
              <a:t>years</a:t>
            </a:r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18D42C4-F91F-FEAC-1989-40B4379C4ACF}"/>
              </a:ext>
            </a:extLst>
          </p:cNvPr>
          <p:cNvSpPr/>
          <p:nvPr/>
        </p:nvSpPr>
        <p:spPr>
          <a:xfrm>
            <a:off x="9028092" y="4532037"/>
            <a:ext cx="1644204" cy="3612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fi-FI" dirty="0"/>
              <a:t>≥20 </a:t>
            </a:r>
            <a:r>
              <a:rPr lang="fi-FI" dirty="0" err="1"/>
              <a:t>years</a:t>
            </a:r>
            <a:endParaRPr lang="en-US" sz="14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89C71E0-BCF9-A962-4CBD-4F8F5A5AE8DA}"/>
              </a:ext>
            </a:extLst>
          </p:cNvPr>
          <p:cNvSpPr txBox="1"/>
          <p:nvPr/>
        </p:nvSpPr>
        <p:spPr>
          <a:xfrm>
            <a:off x="167426" y="5288925"/>
            <a:ext cx="115738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Women initiating therapy closer to menopause tended toward lower CHD risk, whereas women further from menopause tended toward higher CHD risk.</a:t>
            </a:r>
            <a:endParaRPr lang="fi-FI" dirty="0">
              <a:solidFill>
                <a:srgbClr val="C00000"/>
              </a:solidFill>
            </a:endParaRP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D3D0E47B-3284-31B7-8BA8-EC19666C0597}"/>
              </a:ext>
            </a:extLst>
          </p:cNvPr>
          <p:cNvCxnSpPr>
            <a:cxnSpLocks/>
            <a:stCxn id="44" idx="2"/>
            <a:endCxn id="84" idx="0"/>
          </p:cNvCxnSpPr>
          <p:nvPr/>
        </p:nvCxnSpPr>
        <p:spPr>
          <a:xfrm rot="5400000">
            <a:off x="7458294" y="3278803"/>
            <a:ext cx="566010" cy="19404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AE140EED-1368-CBFB-0DAE-D53CE50041A2}"/>
              </a:ext>
            </a:extLst>
          </p:cNvPr>
          <p:cNvCxnSpPr>
            <a:cxnSpLocks/>
            <a:stCxn id="44" idx="2"/>
            <a:endCxn id="85" idx="0"/>
          </p:cNvCxnSpPr>
          <p:nvPr/>
        </p:nvCxnSpPr>
        <p:spPr>
          <a:xfrm rot="5400000">
            <a:off x="8149997" y="3970506"/>
            <a:ext cx="566010" cy="5570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8CA178F6-5BEC-A057-F602-25BBB3D24597}"/>
              </a:ext>
            </a:extLst>
          </p:cNvPr>
          <p:cNvCxnSpPr>
            <a:cxnSpLocks/>
            <a:stCxn id="44" idx="2"/>
            <a:endCxn id="86" idx="0"/>
          </p:cNvCxnSpPr>
          <p:nvPr/>
        </p:nvCxnSpPr>
        <p:spPr>
          <a:xfrm rot="16200000" flipH="1">
            <a:off x="8997856" y="3679699"/>
            <a:ext cx="566010" cy="11386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DFDCD526-5F49-D633-5932-C07F800D5F8D}"/>
              </a:ext>
            </a:extLst>
          </p:cNvPr>
          <p:cNvSpPr txBox="1"/>
          <p:nvPr/>
        </p:nvSpPr>
        <p:spPr>
          <a:xfrm>
            <a:off x="10122796" y="3759162"/>
            <a:ext cx="15905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dirty="0"/>
              <a:t>split by </a:t>
            </a:r>
            <a:r>
              <a:rPr lang="fi-FI" b="1" dirty="0"/>
              <a:t>Time</a:t>
            </a:r>
            <a:endParaRPr lang="fi-FI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A4FBCCB-812F-7032-0921-448B15D10467}"/>
              </a:ext>
            </a:extLst>
          </p:cNvPr>
          <p:cNvSpPr txBox="1"/>
          <p:nvPr/>
        </p:nvSpPr>
        <p:spPr>
          <a:xfrm>
            <a:off x="3846490" y="56526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b="1" dirty="0">
                <a:solidFill>
                  <a:srgbClr val="C00000"/>
                </a:solidFill>
              </a:rPr>
              <a:t>HRT × </a:t>
            </a:r>
            <a:r>
              <a:rPr lang="fi-FI" b="1" dirty="0" err="1">
                <a:solidFill>
                  <a:srgbClr val="C00000"/>
                </a:solidFill>
              </a:rPr>
              <a:t>time-since-menopause</a:t>
            </a:r>
            <a:r>
              <a:rPr lang="fi-FI" b="1" dirty="0">
                <a:solidFill>
                  <a:srgbClr val="C00000"/>
                </a:solidFill>
              </a:rPr>
              <a:t> → </a:t>
            </a:r>
            <a:r>
              <a:rPr lang="fi-FI" b="1" dirty="0" err="1">
                <a:solidFill>
                  <a:srgbClr val="C00000"/>
                </a:solidFill>
              </a:rPr>
              <a:t>cardiovascular</a:t>
            </a:r>
            <a:r>
              <a:rPr lang="fi-FI" b="1" dirty="0">
                <a:solidFill>
                  <a:srgbClr val="C00000"/>
                </a:solidFill>
              </a:rPr>
              <a:t> </a:t>
            </a:r>
            <a:r>
              <a:rPr lang="fi-FI" b="1" dirty="0" err="1">
                <a:solidFill>
                  <a:srgbClr val="C00000"/>
                </a:solidFill>
              </a:rPr>
              <a:t>outcome</a:t>
            </a:r>
            <a:endParaRPr lang="fi-FI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784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055A3B-9298-9A93-D1B8-68D01CB4EF30}"/>
              </a:ext>
            </a:extLst>
          </p:cNvPr>
          <p:cNvSpPr/>
          <p:nvPr/>
        </p:nvSpPr>
        <p:spPr>
          <a:xfrm>
            <a:off x="5379420" y="749336"/>
            <a:ext cx="775953" cy="372672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91919"/>
                </a:solidFill>
                <a:latin typeface="Arial"/>
              </a:rPr>
              <a:t>Ads </a:t>
            </a:r>
            <a:endParaRPr sz="1600" b="1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5BEC0-43D4-DFDA-85A6-7D1E2A7C7E00}"/>
              </a:ext>
            </a:extLst>
          </p:cNvPr>
          <p:cNvSpPr txBox="1"/>
          <p:nvPr/>
        </p:nvSpPr>
        <p:spPr>
          <a:xfrm>
            <a:off x="8959403" y="32454"/>
            <a:ext cx="32325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b="1" dirty="0">
                <a:solidFill>
                  <a:srgbClr val="C00000"/>
                </a:solidFill>
              </a:rPr>
              <a:t>Mont. × Genre → </a:t>
            </a:r>
            <a:r>
              <a:rPr lang="fi-FI" sz="1600" b="1" dirty="0" err="1">
                <a:solidFill>
                  <a:srgbClr val="C00000"/>
                </a:solidFill>
              </a:rPr>
              <a:t>Installs</a:t>
            </a:r>
            <a:r>
              <a:rPr lang="fi-FI" sz="1600" b="1" dirty="0">
                <a:solidFill>
                  <a:srgbClr val="C00000"/>
                </a:solidFill>
              </a:rPr>
              <a:t> &amp; </a:t>
            </a:r>
            <a:r>
              <a:rPr lang="fi-FI" sz="1600" b="1" dirty="0" err="1">
                <a:solidFill>
                  <a:srgbClr val="C00000"/>
                </a:solidFill>
              </a:rPr>
              <a:t>Ratings</a:t>
            </a:r>
            <a:endParaRPr lang="fi-FI" sz="1600" b="1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81057-BF07-5296-B0CB-D3C808551C3D}"/>
              </a:ext>
            </a:extLst>
          </p:cNvPr>
          <p:cNvSpPr txBox="1"/>
          <p:nvPr/>
        </p:nvSpPr>
        <p:spPr>
          <a:xfrm>
            <a:off x="164592" y="11155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5691"/>
                </a:solidFill>
                <a:latin typeface="Arial"/>
              </a:rPr>
              <a:t>1. BY GENRE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E1818-2E0B-B4C8-513C-084815CEB1C0}"/>
              </a:ext>
            </a:extLst>
          </p:cNvPr>
          <p:cNvSpPr txBox="1"/>
          <p:nvPr/>
        </p:nvSpPr>
        <p:spPr>
          <a:xfrm>
            <a:off x="45720" y="1367028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191919"/>
                </a:solidFill>
                <a:latin typeface="Arial"/>
              </a:rPr>
              <a:t>Does the monetization–success
relationship differ by genre?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F59F39-6B69-F2C1-D859-BB8F18ED3961}"/>
              </a:ext>
            </a:extLst>
          </p:cNvPr>
          <p:cNvSpPr txBox="1"/>
          <p:nvPr/>
        </p:nvSpPr>
        <p:spPr>
          <a:xfrm>
            <a:off x="1170432" y="540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191919"/>
                </a:solidFill>
                <a:latin typeface="Arial"/>
              </a:rPr>
              <a:t>For EACH genre estimate the conditional effect: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810DC0-4818-DF9C-1C22-65134B23471B}"/>
              </a:ext>
            </a:extLst>
          </p:cNvPr>
          <p:cNvSpPr txBox="1"/>
          <p:nvPr/>
        </p:nvSpPr>
        <p:spPr>
          <a:xfrm>
            <a:off x="2527782" y="805445"/>
            <a:ext cx="28516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BE0000"/>
                </a:solidFill>
                <a:latin typeface="Arial"/>
              </a:rPr>
              <a:t>P(Success | Ads/IAP, Genre)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455817-E3DB-32F2-2A05-5785A2980118}"/>
              </a:ext>
            </a:extLst>
          </p:cNvPr>
          <p:cNvSpPr/>
          <p:nvPr/>
        </p:nvSpPr>
        <p:spPr>
          <a:xfrm>
            <a:off x="2240280" y="1664208"/>
            <a:ext cx="1353312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191919"/>
                </a:solidFill>
                <a:latin typeface="Arial"/>
              </a:rPr>
              <a:t>Action</a:t>
            </a:r>
          </a:p>
          <a:p>
            <a:pPr algn="ctr"/>
            <a:r>
              <a:rPr sz="800" dirty="0">
                <a:solidFill>
                  <a:srgbClr val="191919"/>
                </a:solidFill>
                <a:latin typeface="Arial"/>
              </a:rPr>
              <a:t>P(Success | Ads, Action)</a:t>
            </a:r>
          </a:p>
          <a:p>
            <a:pPr algn="ctr"/>
            <a:r>
              <a:rPr sz="800" dirty="0">
                <a:solidFill>
                  <a:srgbClr val="191919"/>
                </a:solidFill>
                <a:latin typeface="Arial"/>
              </a:rPr>
              <a:t>P(Success | IAP, Action)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8106CC-206E-C899-6ED9-C2A089B7B630}"/>
              </a:ext>
            </a:extLst>
          </p:cNvPr>
          <p:cNvSpPr/>
          <p:nvPr/>
        </p:nvSpPr>
        <p:spPr>
          <a:xfrm>
            <a:off x="3703320" y="1664208"/>
            <a:ext cx="1353312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91919"/>
                </a:solidFill>
                <a:latin typeface="Arial"/>
              </a:rPr>
              <a:t>Puzzle</a:t>
            </a:r>
          </a:p>
          <a:p>
            <a:pPr algn="ctr"/>
            <a:r>
              <a:rPr sz="800">
                <a:solidFill>
                  <a:srgbClr val="191919"/>
                </a:solidFill>
                <a:latin typeface="Arial"/>
              </a:rPr>
              <a:t>P(Success | Ads, Puzzle)</a:t>
            </a:r>
          </a:p>
          <a:p>
            <a:pPr algn="ctr"/>
            <a:r>
              <a:rPr sz="800">
                <a:solidFill>
                  <a:srgbClr val="191919"/>
                </a:solidFill>
                <a:latin typeface="Arial"/>
              </a:rPr>
              <a:t>P(Success | IAP, Puzzle)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5A345E-239C-3655-43EF-BB5EBD679F73}"/>
              </a:ext>
            </a:extLst>
          </p:cNvPr>
          <p:cNvSpPr/>
          <p:nvPr/>
        </p:nvSpPr>
        <p:spPr>
          <a:xfrm>
            <a:off x="5166360" y="1664208"/>
            <a:ext cx="1353312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91919"/>
                </a:solidFill>
                <a:latin typeface="Arial"/>
              </a:rPr>
              <a:t>Arcade</a:t>
            </a:r>
          </a:p>
          <a:p>
            <a:pPr algn="ctr"/>
            <a:r>
              <a:rPr sz="800">
                <a:solidFill>
                  <a:srgbClr val="191919"/>
                </a:solidFill>
                <a:latin typeface="Arial"/>
              </a:rPr>
              <a:t>P(Success | Ads, Arcade)</a:t>
            </a:r>
          </a:p>
          <a:p>
            <a:pPr algn="ctr"/>
            <a:r>
              <a:rPr sz="800">
                <a:solidFill>
                  <a:srgbClr val="191919"/>
                </a:solidFill>
                <a:latin typeface="Arial"/>
              </a:rPr>
              <a:t>P(Success | IAP, Arcade)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0A275B-CD42-E51A-0A6A-40BB953F4795}"/>
              </a:ext>
            </a:extLst>
          </p:cNvPr>
          <p:cNvSpPr/>
          <p:nvPr/>
        </p:nvSpPr>
        <p:spPr>
          <a:xfrm>
            <a:off x="6568225" y="1664208"/>
            <a:ext cx="1414487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191919"/>
                </a:solidFill>
                <a:latin typeface="Arial"/>
              </a:rPr>
              <a:t>Strategy</a:t>
            </a:r>
          </a:p>
          <a:p>
            <a:pPr algn="ctr"/>
            <a:r>
              <a:rPr sz="800" dirty="0">
                <a:solidFill>
                  <a:srgbClr val="191919"/>
                </a:solidFill>
                <a:latin typeface="Arial"/>
              </a:rPr>
              <a:t>P(Success | Ads, Strategy)</a:t>
            </a:r>
          </a:p>
          <a:p>
            <a:pPr algn="ctr"/>
            <a:r>
              <a:rPr sz="800" dirty="0">
                <a:solidFill>
                  <a:srgbClr val="191919"/>
                </a:solidFill>
                <a:latin typeface="Arial"/>
              </a:rPr>
              <a:t>P(Success | IAP, Strategy)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8C8E63-E994-4DF7-6610-754AEE004819}"/>
              </a:ext>
            </a:extLst>
          </p:cNvPr>
          <p:cNvSpPr/>
          <p:nvPr/>
        </p:nvSpPr>
        <p:spPr>
          <a:xfrm>
            <a:off x="8183879" y="1664208"/>
            <a:ext cx="1261872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191919"/>
                </a:solidFill>
                <a:latin typeface="Arial"/>
              </a:rPr>
              <a:t>RPG</a:t>
            </a:r>
          </a:p>
          <a:p>
            <a:pPr algn="ctr"/>
            <a:r>
              <a:rPr sz="800" dirty="0">
                <a:solidFill>
                  <a:srgbClr val="191919"/>
                </a:solidFill>
                <a:latin typeface="Arial"/>
              </a:rPr>
              <a:t>P(Success | Ads, RPG)</a:t>
            </a:r>
          </a:p>
          <a:p>
            <a:pPr algn="ctr"/>
            <a:r>
              <a:rPr sz="800" dirty="0">
                <a:solidFill>
                  <a:srgbClr val="191919"/>
                </a:solidFill>
                <a:latin typeface="Arial"/>
              </a:rPr>
              <a:t>P(Success | IAP, RPG)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52E98D-E352-3A92-5EE7-1DDE6BED2A7F}"/>
              </a:ext>
            </a:extLst>
          </p:cNvPr>
          <p:cNvSpPr/>
          <p:nvPr/>
        </p:nvSpPr>
        <p:spPr>
          <a:xfrm>
            <a:off x="9646919" y="1664208"/>
            <a:ext cx="1519063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191919"/>
                </a:solidFill>
                <a:latin typeface="Arial"/>
              </a:rPr>
              <a:t>Simulation</a:t>
            </a:r>
          </a:p>
          <a:p>
            <a:pPr algn="ctr"/>
            <a:r>
              <a:rPr sz="800" dirty="0">
                <a:solidFill>
                  <a:srgbClr val="191919"/>
                </a:solidFill>
                <a:latin typeface="Arial"/>
              </a:rPr>
              <a:t>P(Success | Ads, Simulation)</a:t>
            </a:r>
          </a:p>
          <a:p>
            <a:pPr algn="ctr"/>
            <a:r>
              <a:rPr sz="800" dirty="0">
                <a:solidFill>
                  <a:srgbClr val="191919"/>
                </a:solidFill>
                <a:latin typeface="Arial"/>
              </a:rPr>
              <a:t>P(Success | IAP, Simulation)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8CAD9D30-8516-274B-CF6B-0DF78C1A741D}"/>
              </a:ext>
            </a:extLst>
          </p:cNvPr>
          <p:cNvCxnSpPr/>
          <p:nvPr/>
        </p:nvCxnSpPr>
        <p:spPr>
          <a:xfrm>
            <a:off x="1645920" y="2633472"/>
            <a:ext cx="9875520" cy="0"/>
          </a:xfrm>
          <a:prstGeom prst="line">
            <a:avLst/>
          </a:prstGeom>
          <a:ln w="17780">
            <a:solidFill>
              <a:srgbClr val="26569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D1A1B1C-3D89-3E61-7D06-EFE35DFEB527}"/>
              </a:ext>
            </a:extLst>
          </p:cNvPr>
          <p:cNvSpPr txBox="1"/>
          <p:nvPr/>
        </p:nvSpPr>
        <p:spPr>
          <a:xfrm>
            <a:off x="0" y="24414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265691"/>
                </a:solidFill>
                <a:latin typeface="Arial"/>
              </a:rPr>
              <a:t>2. BY COUNTRY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1FF26C-A524-4576-7B6D-BC06F260CE3F}"/>
              </a:ext>
            </a:extLst>
          </p:cNvPr>
          <p:cNvSpPr txBox="1"/>
          <p:nvPr/>
        </p:nvSpPr>
        <p:spPr>
          <a:xfrm>
            <a:off x="0" y="2705505"/>
            <a:ext cx="34844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191919"/>
                </a:solidFill>
                <a:latin typeface="Arial"/>
              </a:rPr>
              <a:t>For EACH genre, do its conditional
relationships generalize across markets?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F9525A-378A-D577-E6D8-8C6A1868B397}"/>
              </a:ext>
            </a:extLst>
          </p:cNvPr>
          <p:cNvSpPr txBox="1"/>
          <p:nvPr/>
        </p:nvSpPr>
        <p:spPr>
          <a:xfrm>
            <a:off x="3246120" y="2724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1919"/>
                </a:solidFill>
                <a:latin typeface="Arial"/>
              </a:rPr>
              <a:t>For EACH GENRE → estimate separately in EACH COUNTRY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665D45-DF4B-63BA-0DE4-B418EB41DC09}"/>
              </a:ext>
            </a:extLst>
          </p:cNvPr>
          <p:cNvSpPr txBox="1"/>
          <p:nvPr/>
        </p:nvSpPr>
        <p:spPr>
          <a:xfrm>
            <a:off x="3291840" y="29900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0000"/>
                </a:solidFill>
                <a:latin typeface="Arial"/>
              </a:rPr>
              <a:t>P(Success | Ads/IAP, Genre, Country)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D75F22-6416-2683-F856-8E1EFF874437}"/>
              </a:ext>
            </a:extLst>
          </p:cNvPr>
          <p:cNvSpPr txBox="1"/>
          <p:nvPr/>
        </p:nvSpPr>
        <p:spPr>
          <a:xfrm>
            <a:off x="2411999" y="3278961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91919"/>
                </a:solidFill>
                <a:latin typeface="Arial"/>
              </a:rPr>
              <a:t>Example: Action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F9E9A6-9670-BB3B-EA82-98E1B6A7E626}"/>
              </a:ext>
            </a:extLst>
          </p:cNvPr>
          <p:cNvSpPr/>
          <p:nvPr/>
        </p:nvSpPr>
        <p:spPr>
          <a:xfrm>
            <a:off x="1479761" y="3517478"/>
            <a:ext cx="1521038" cy="749808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191919"/>
                </a:solidFill>
                <a:latin typeface="Arial"/>
              </a:rPr>
              <a:t>US</a:t>
            </a:r>
          </a:p>
          <a:p>
            <a:pPr algn="ctr"/>
            <a:r>
              <a:rPr sz="700" dirty="0">
                <a:solidFill>
                  <a:srgbClr val="191919"/>
                </a:solidFill>
                <a:latin typeface="Arial"/>
              </a:rPr>
              <a:t>P(Success | Ads, Action, US)</a:t>
            </a:r>
          </a:p>
          <a:p>
            <a:pPr algn="ctr"/>
            <a:r>
              <a:rPr sz="700" dirty="0">
                <a:solidFill>
                  <a:srgbClr val="191919"/>
                </a:solidFill>
                <a:latin typeface="Arial"/>
              </a:rPr>
              <a:t>P(Success | IAP, Action, US)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4DD4E6-A8C3-7C37-2A37-FC82BD954FAF}"/>
              </a:ext>
            </a:extLst>
          </p:cNvPr>
          <p:cNvSpPr/>
          <p:nvPr/>
        </p:nvSpPr>
        <p:spPr>
          <a:xfrm>
            <a:off x="3063240" y="3529584"/>
            <a:ext cx="1481328" cy="749808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191919"/>
                </a:solidFill>
                <a:latin typeface="Arial"/>
              </a:rPr>
              <a:t>Brazil</a:t>
            </a:r>
          </a:p>
          <a:p>
            <a:pPr algn="ctr"/>
            <a:r>
              <a:rPr sz="700" dirty="0">
                <a:solidFill>
                  <a:srgbClr val="191919"/>
                </a:solidFill>
                <a:latin typeface="Arial"/>
              </a:rPr>
              <a:t>P(Success | Ads, Action, Brazil)</a:t>
            </a:r>
          </a:p>
          <a:p>
            <a:pPr algn="ctr"/>
            <a:r>
              <a:rPr sz="700" dirty="0">
                <a:solidFill>
                  <a:srgbClr val="191919"/>
                </a:solidFill>
                <a:latin typeface="Arial"/>
              </a:rPr>
              <a:t>P(Success | IAP, Action, Brazil)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8DCFCF-7976-7450-7E17-05EA33B56759}"/>
              </a:ext>
            </a:extLst>
          </p:cNvPr>
          <p:cNvSpPr/>
          <p:nvPr/>
        </p:nvSpPr>
        <p:spPr>
          <a:xfrm>
            <a:off x="4640687" y="3531087"/>
            <a:ext cx="1733969" cy="749808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191919"/>
                </a:solidFill>
                <a:latin typeface="Arial"/>
              </a:rPr>
              <a:t>Germany</a:t>
            </a:r>
          </a:p>
          <a:p>
            <a:pPr algn="ctr"/>
            <a:r>
              <a:rPr sz="700">
                <a:solidFill>
                  <a:srgbClr val="191919"/>
                </a:solidFill>
                <a:latin typeface="Arial"/>
              </a:rPr>
              <a:t>P(Success | Ads, Action, Germany)</a:t>
            </a:r>
          </a:p>
          <a:p>
            <a:pPr algn="ctr"/>
            <a:r>
              <a:rPr sz="700">
                <a:solidFill>
                  <a:srgbClr val="191919"/>
                </a:solidFill>
                <a:latin typeface="Arial"/>
              </a:rPr>
              <a:t>P(Success | IAP, Action, Germany)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287C86-FCC9-CAE1-A97A-453FC2F524B2}"/>
              </a:ext>
            </a:extLst>
          </p:cNvPr>
          <p:cNvSpPr/>
          <p:nvPr/>
        </p:nvSpPr>
        <p:spPr>
          <a:xfrm>
            <a:off x="6427629" y="3529584"/>
            <a:ext cx="1501462" cy="749808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191919"/>
                </a:solidFill>
                <a:latin typeface="Arial"/>
              </a:rPr>
              <a:t>India</a:t>
            </a:r>
          </a:p>
          <a:p>
            <a:pPr algn="ctr"/>
            <a:r>
              <a:rPr sz="700">
                <a:solidFill>
                  <a:srgbClr val="191919"/>
                </a:solidFill>
                <a:latin typeface="Arial"/>
              </a:rPr>
              <a:t>P(Success | Ads, Action, India)</a:t>
            </a:r>
          </a:p>
          <a:p>
            <a:pPr algn="ctr"/>
            <a:r>
              <a:rPr sz="700">
                <a:solidFill>
                  <a:srgbClr val="191919"/>
                </a:solidFill>
                <a:latin typeface="Arial"/>
              </a:rPr>
              <a:t>P(Success | IAP, Action, India)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7BAECD-1A18-691F-8139-8683CAF55515}"/>
              </a:ext>
            </a:extLst>
          </p:cNvPr>
          <p:cNvSpPr/>
          <p:nvPr/>
        </p:nvSpPr>
        <p:spPr>
          <a:xfrm>
            <a:off x="7976529" y="3529584"/>
            <a:ext cx="1469222" cy="749808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191919"/>
                </a:solidFill>
                <a:latin typeface="Arial"/>
              </a:rPr>
              <a:t>Japan</a:t>
            </a:r>
          </a:p>
          <a:p>
            <a:pPr algn="ctr"/>
            <a:r>
              <a:rPr sz="700" dirty="0">
                <a:solidFill>
                  <a:srgbClr val="191919"/>
                </a:solidFill>
                <a:latin typeface="Arial"/>
              </a:rPr>
              <a:t>P(Success | Ads, Action, Japan)</a:t>
            </a:r>
          </a:p>
          <a:p>
            <a:pPr algn="ctr"/>
            <a:r>
              <a:rPr sz="700" dirty="0">
                <a:solidFill>
                  <a:srgbClr val="191919"/>
                </a:solidFill>
                <a:latin typeface="Arial"/>
              </a:rPr>
              <a:t>P(Success | IAP, Action, Japan)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973FC2-2C2C-B5C0-790E-79157B2EE92C}"/>
              </a:ext>
            </a:extLst>
          </p:cNvPr>
          <p:cNvSpPr/>
          <p:nvPr/>
        </p:nvSpPr>
        <p:spPr>
          <a:xfrm>
            <a:off x="9555480" y="3529584"/>
            <a:ext cx="1645920" cy="749808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191919"/>
                </a:solidFill>
                <a:latin typeface="Arial"/>
              </a:rPr>
              <a:t>Indonesia</a:t>
            </a:r>
          </a:p>
          <a:p>
            <a:pPr algn="ctr"/>
            <a:r>
              <a:rPr sz="700">
                <a:solidFill>
                  <a:srgbClr val="191919"/>
                </a:solidFill>
                <a:latin typeface="Arial"/>
              </a:rPr>
              <a:t>P(Success | Ads, Action, Indonesia)</a:t>
            </a:r>
          </a:p>
          <a:p>
            <a:pPr algn="ctr"/>
            <a:r>
              <a:rPr sz="700">
                <a:solidFill>
                  <a:srgbClr val="191919"/>
                </a:solidFill>
                <a:latin typeface="Arial"/>
              </a:rPr>
              <a:t>P(Success | IAP, Action, Indonesia)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307180-7143-D260-08A8-DC957C56CB4C}"/>
              </a:ext>
            </a:extLst>
          </p:cNvPr>
          <p:cNvSpPr txBox="1"/>
          <p:nvPr/>
        </p:nvSpPr>
        <p:spPr>
          <a:xfrm>
            <a:off x="11277600" y="3680567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191919"/>
                </a:solidFill>
                <a:latin typeface="Arial"/>
              </a:rPr>
              <a:t>… 42
markets</a:t>
            </a:r>
          </a:p>
        </p:txBody>
      </p: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6A697C4E-3BA2-A86D-9770-B46A1BE8E574}"/>
              </a:ext>
            </a:extLst>
          </p:cNvPr>
          <p:cNvCxnSpPr/>
          <p:nvPr/>
        </p:nvCxnSpPr>
        <p:spPr>
          <a:xfrm>
            <a:off x="1645920" y="4498848"/>
            <a:ext cx="9875520" cy="0"/>
          </a:xfrm>
          <a:prstGeom prst="line">
            <a:avLst/>
          </a:prstGeom>
          <a:ln w="17780">
            <a:solidFill>
              <a:srgbClr val="26569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E9A3E2A-032A-AE02-CD2F-4DD64627BACB}"/>
              </a:ext>
            </a:extLst>
          </p:cNvPr>
          <p:cNvSpPr txBox="1"/>
          <p:nvPr/>
        </p:nvSpPr>
        <p:spPr>
          <a:xfrm>
            <a:off x="27432" y="44119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265691"/>
                </a:solidFill>
                <a:latin typeface="Arial"/>
              </a:rPr>
              <a:t>3. BY TIME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9D7528-E7AF-632E-3A3A-234953343BDD}"/>
              </a:ext>
            </a:extLst>
          </p:cNvPr>
          <p:cNvSpPr txBox="1"/>
          <p:nvPr/>
        </p:nvSpPr>
        <p:spPr>
          <a:xfrm>
            <a:off x="0" y="4645152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191919"/>
                </a:solidFill>
                <a:latin typeface="Arial"/>
              </a:rPr>
              <a:t>For EACH genre in EACH country,
are supported relationships stable over time?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999698-0854-4C64-6801-EF98CC8793D6}"/>
              </a:ext>
            </a:extLst>
          </p:cNvPr>
          <p:cNvSpPr txBox="1"/>
          <p:nvPr/>
        </p:nvSpPr>
        <p:spPr>
          <a:xfrm>
            <a:off x="3552638" y="459028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191919"/>
                </a:solidFill>
                <a:latin typeface="Arial"/>
              </a:rPr>
              <a:t>For EACH GENRE in EACH COUNTRY → estimate across MONTHS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037720-8ED5-8148-8A92-9A651C3BB9ED}"/>
              </a:ext>
            </a:extLst>
          </p:cNvPr>
          <p:cNvSpPr txBox="1"/>
          <p:nvPr/>
        </p:nvSpPr>
        <p:spPr>
          <a:xfrm>
            <a:off x="3825025" y="48554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BE0000"/>
                </a:solidFill>
                <a:latin typeface="Arial"/>
              </a:rPr>
              <a:t>P(Success | Ads/IAP, Genre, Country, Time)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F1393C2-E7E8-74AF-932D-8EAEF094FA1D}"/>
              </a:ext>
            </a:extLst>
          </p:cNvPr>
          <p:cNvSpPr/>
          <p:nvPr/>
        </p:nvSpPr>
        <p:spPr>
          <a:xfrm>
            <a:off x="1351659" y="5294419"/>
            <a:ext cx="1888515" cy="804672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191919"/>
                </a:solidFill>
                <a:latin typeface="Arial"/>
              </a:rPr>
              <a:t>Month 1</a:t>
            </a:r>
          </a:p>
          <a:p>
            <a:pPr algn="ctr"/>
            <a:r>
              <a:rPr sz="700">
                <a:solidFill>
                  <a:srgbClr val="191919"/>
                </a:solidFill>
                <a:latin typeface="Arial"/>
              </a:rPr>
              <a:t>P(Success | Ads, Action, US, Month 1)</a:t>
            </a:r>
          </a:p>
          <a:p>
            <a:pPr algn="ctr"/>
            <a:r>
              <a:rPr sz="700">
                <a:solidFill>
                  <a:srgbClr val="191919"/>
                </a:solidFill>
                <a:latin typeface="Arial"/>
              </a:rPr>
              <a:t>P(Success | IAP, Action, US, Month 1)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9F2E3F-A091-42F1-ECD1-75799FC69758}"/>
              </a:ext>
            </a:extLst>
          </p:cNvPr>
          <p:cNvSpPr/>
          <p:nvPr/>
        </p:nvSpPr>
        <p:spPr>
          <a:xfrm>
            <a:off x="3361386" y="5285232"/>
            <a:ext cx="1823262" cy="804672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191919"/>
                </a:solidFill>
                <a:latin typeface="Arial"/>
              </a:rPr>
              <a:t>Month 2</a:t>
            </a:r>
          </a:p>
          <a:p>
            <a:pPr algn="ctr"/>
            <a:r>
              <a:rPr sz="700">
                <a:solidFill>
                  <a:srgbClr val="191919"/>
                </a:solidFill>
                <a:latin typeface="Arial"/>
              </a:rPr>
              <a:t>P(Success | Ads, Action, US, Month 2)</a:t>
            </a:r>
          </a:p>
          <a:p>
            <a:pPr algn="ctr"/>
            <a:r>
              <a:rPr sz="700">
                <a:solidFill>
                  <a:srgbClr val="191919"/>
                </a:solidFill>
                <a:latin typeface="Arial"/>
              </a:rPr>
              <a:t>P(Success | IAP, Action, US, Month 2)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44A7555-11C2-8F16-95DF-A96E5B065B4D}"/>
              </a:ext>
            </a:extLst>
          </p:cNvPr>
          <p:cNvSpPr/>
          <p:nvPr/>
        </p:nvSpPr>
        <p:spPr>
          <a:xfrm>
            <a:off x="5297725" y="5290126"/>
            <a:ext cx="1862929" cy="804672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191919"/>
                </a:solidFill>
                <a:latin typeface="Arial"/>
              </a:rPr>
              <a:t>Month 3</a:t>
            </a:r>
          </a:p>
          <a:p>
            <a:pPr algn="ctr"/>
            <a:r>
              <a:rPr sz="700" dirty="0">
                <a:solidFill>
                  <a:srgbClr val="191919"/>
                </a:solidFill>
                <a:latin typeface="Arial"/>
              </a:rPr>
              <a:t>P(Success | Ads, Action, US, Month 3)</a:t>
            </a:r>
          </a:p>
          <a:p>
            <a:pPr algn="ctr"/>
            <a:r>
              <a:rPr sz="700" dirty="0">
                <a:solidFill>
                  <a:srgbClr val="191919"/>
                </a:solidFill>
                <a:latin typeface="Arial"/>
              </a:rPr>
              <a:t>P(Success | IAP, Action, US, Month 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E8EB51-F92C-60FD-3AD0-4D9A55F86B22}"/>
              </a:ext>
            </a:extLst>
          </p:cNvPr>
          <p:cNvSpPr txBox="1"/>
          <p:nvPr/>
        </p:nvSpPr>
        <p:spPr>
          <a:xfrm>
            <a:off x="6812280" y="546811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91919"/>
                </a:solidFill>
                <a:latin typeface="Arial"/>
              </a:rPr>
              <a:t>…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7AB678-38F0-DE75-618E-B1E93F1BB2B7}"/>
              </a:ext>
            </a:extLst>
          </p:cNvPr>
          <p:cNvSpPr/>
          <p:nvPr/>
        </p:nvSpPr>
        <p:spPr>
          <a:xfrm>
            <a:off x="7761668" y="5285232"/>
            <a:ext cx="1812100" cy="804672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191919"/>
                </a:solidFill>
                <a:latin typeface="Arial"/>
              </a:rPr>
              <a:t>Month 14</a:t>
            </a:r>
          </a:p>
          <a:p>
            <a:pPr algn="ctr"/>
            <a:r>
              <a:rPr sz="700">
                <a:solidFill>
                  <a:srgbClr val="191919"/>
                </a:solidFill>
                <a:latin typeface="Arial"/>
              </a:rPr>
              <a:t>P(Success | Ads, Action, US, Month 14)</a:t>
            </a:r>
          </a:p>
          <a:p>
            <a:pPr algn="ctr"/>
            <a:r>
              <a:rPr sz="700">
                <a:solidFill>
                  <a:srgbClr val="191919"/>
                </a:solidFill>
                <a:latin typeface="Arial"/>
              </a:rPr>
              <a:t>P(Success | IAP, Action, US, Month 14)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E958CE-2D46-C2F9-8BA2-DDB20901950B}"/>
              </a:ext>
            </a:extLst>
          </p:cNvPr>
          <p:cNvSpPr txBox="1"/>
          <p:nvPr/>
        </p:nvSpPr>
        <p:spPr>
          <a:xfrm>
            <a:off x="10058400" y="542239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91919"/>
                </a:solidFill>
                <a:latin typeface="Arial"/>
              </a:rPr>
              <a:t>Repeat for every
genre × country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21D2D0-EE5A-0593-A4DC-BCB61CCD01DB}"/>
              </a:ext>
            </a:extLst>
          </p:cNvPr>
          <p:cNvSpPr/>
          <p:nvPr/>
        </p:nvSpPr>
        <p:spPr>
          <a:xfrm>
            <a:off x="1325880" y="6263640"/>
            <a:ext cx="9875520" cy="438912"/>
          </a:xfrm>
          <a:prstGeom prst="rect">
            <a:avLst/>
          </a:prstGeom>
          <a:solidFill>
            <a:srgbClr val="F5F5F5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1919"/>
                </a:solidFill>
                <a:latin typeface="Arial"/>
              </a:rPr>
              <a:t>Genre: WHERE the monetization effect differs   →   Country: WHERE it generalizes   →   Time: WHETHER it persists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34456BEC-10B3-959B-1B76-69392A34ACE4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 rot="5400000">
            <a:off x="4071067" y="-32122"/>
            <a:ext cx="542200" cy="285046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E6FA350-7E07-66E6-A272-9C299940643B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rot="5400000">
            <a:off x="4802587" y="699398"/>
            <a:ext cx="542200" cy="138742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1672C598-AEBF-24DC-A0C0-158BE65807AD}"/>
              </a:ext>
            </a:extLst>
          </p:cNvPr>
          <p:cNvCxnSpPr>
            <a:cxnSpLocks/>
            <a:stCxn id="2" idx="2"/>
            <a:endCxn id="10" idx="0"/>
          </p:cNvCxnSpPr>
          <p:nvPr/>
        </p:nvCxnSpPr>
        <p:spPr>
          <a:xfrm rot="16200000" flipH="1">
            <a:off x="5534106" y="1355298"/>
            <a:ext cx="542200" cy="7561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189F3A3-4852-AD51-AEF6-C27538D928A8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rot="16200000" flipH="1">
            <a:off x="6250333" y="639072"/>
            <a:ext cx="542200" cy="1508072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1815F32-12DC-A824-0D3D-DDE2CF4D2EE7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 rot="16200000" flipH="1">
            <a:off x="7020006" y="-130601"/>
            <a:ext cx="542200" cy="3047418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E0C98BED-4D09-2396-6590-5FCEF13B7ABC}"/>
              </a:ext>
            </a:extLst>
          </p:cNvPr>
          <p:cNvCxnSpPr>
            <a:cxnSpLocks/>
            <a:stCxn id="2" idx="2"/>
            <a:endCxn id="13" idx="0"/>
          </p:cNvCxnSpPr>
          <p:nvPr/>
        </p:nvCxnSpPr>
        <p:spPr>
          <a:xfrm rot="16200000" flipH="1">
            <a:off x="7815824" y="-926419"/>
            <a:ext cx="542200" cy="4639054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D30AE142-B784-4D3C-BFDE-B5D4980EA79C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 rot="5400000">
            <a:off x="2040593" y="2641135"/>
            <a:ext cx="1076030" cy="676656"/>
          </a:xfrm>
          <a:prstGeom prst="bentConnector3">
            <a:avLst>
              <a:gd name="adj1" fmla="val 7673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8943A0AF-293C-05EB-DF74-FA1A1ADCDD26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>
          <a:xfrm rot="16200000" flipH="1">
            <a:off x="2816352" y="2542032"/>
            <a:ext cx="1088136" cy="886968"/>
          </a:xfrm>
          <a:prstGeom prst="bentConnector3">
            <a:avLst>
              <a:gd name="adj1" fmla="val 76433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4839677A-1ADF-FD8D-FD21-C37E9F48E78D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rot="16200000" flipH="1">
            <a:off x="3667485" y="1690899"/>
            <a:ext cx="1089639" cy="2590736"/>
          </a:xfrm>
          <a:prstGeom prst="bentConnector3">
            <a:avLst>
              <a:gd name="adj1" fmla="val 76397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0078F97C-AC6D-F74B-277D-22D26483CF41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4503580" y="854804"/>
            <a:ext cx="1088136" cy="4261424"/>
          </a:xfrm>
          <a:prstGeom prst="bentConnector3">
            <a:avLst>
              <a:gd name="adj1" fmla="val 76433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6A5119DF-BCA5-A9C9-11FF-69DAEB69FF37}"/>
              </a:ext>
            </a:extLst>
          </p:cNvPr>
          <p:cNvCxnSpPr>
            <a:cxnSpLocks/>
            <a:stCxn id="21" idx="2"/>
            <a:endCxn id="32" idx="0"/>
          </p:cNvCxnSpPr>
          <p:nvPr/>
        </p:nvCxnSpPr>
        <p:spPr>
          <a:xfrm rot="5400000">
            <a:off x="2542398" y="4032912"/>
            <a:ext cx="1015027" cy="1507987"/>
          </a:xfrm>
          <a:prstGeom prst="bentConnector3">
            <a:avLst>
              <a:gd name="adj1" fmla="val 7876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D2AEE17D-A035-6D00-C84C-BF00DAEBC195}"/>
              </a:ext>
            </a:extLst>
          </p:cNvPr>
          <p:cNvCxnSpPr>
            <a:cxnSpLocks/>
            <a:stCxn id="21" idx="2"/>
            <a:endCxn id="33" idx="0"/>
          </p:cNvCxnSpPr>
          <p:nvPr/>
        </p:nvCxnSpPr>
        <p:spPr>
          <a:xfrm rot="16200000" flipH="1">
            <a:off x="3535540" y="4547755"/>
            <a:ext cx="1005840" cy="469113"/>
          </a:xfrm>
          <a:prstGeom prst="bentConnector3">
            <a:avLst>
              <a:gd name="adj1" fmla="val 79023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A07189D8-2991-CD94-D1C0-5F6E39CAF5BC}"/>
              </a:ext>
            </a:extLst>
          </p:cNvPr>
          <p:cNvSpPr/>
          <p:nvPr/>
        </p:nvSpPr>
        <p:spPr>
          <a:xfrm>
            <a:off x="4379976" y="85859"/>
            <a:ext cx="3841082" cy="343437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191919"/>
                </a:solidFill>
                <a:latin typeface="Arial"/>
              </a:rPr>
              <a:t>F2P Mobile Games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32FE4D1-A409-E1FD-5A50-8BB7E6FF3C5D}"/>
              </a:ext>
            </a:extLst>
          </p:cNvPr>
          <p:cNvSpPr/>
          <p:nvPr/>
        </p:nvSpPr>
        <p:spPr>
          <a:xfrm>
            <a:off x="6427629" y="742896"/>
            <a:ext cx="775953" cy="372672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91919"/>
                </a:solidFill>
                <a:latin typeface="Arial"/>
              </a:rPr>
              <a:t>IAP </a:t>
            </a:r>
            <a:endParaRPr sz="1600" b="1" dirty="0">
              <a:solidFill>
                <a:srgbClr val="191919"/>
              </a:solidFill>
              <a:latin typeface="Arial"/>
            </a:endParaRPr>
          </a:p>
        </p:txBody>
      </p: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41DA70FC-CBDB-DD51-906C-634EE178C6DE}"/>
              </a:ext>
            </a:extLst>
          </p:cNvPr>
          <p:cNvCxnSpPr>
            <a:cxnSpLocks/>
            <a:stCxn id="93" idx="2"/>
            <a:endCxn id="2" idx="0"/>
          </p:cNvCxnSpPr>
          <p:nvPr/>
        </p:nvCxnSpPr>
        <p:spPr>
          <a:xfrm rot="5400000">
            <a:off x="5873937" y="322756"/>
            <a:ext cx="320040" cy="53312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07C3291B-FEE1-63C7-380F-936467CD5A52}"/>
              </a:ext>
            </a:extLst>
          </p:cNvPr>
          <p:cNvCxnSpPr>
            <a:cxnSpLocks/>
            <a:stCxn id="93" idx="2"/>
            <a:endCxn id="124" idx="0"/>
          </p:cNvCxnSpPr>
          <p:nvPr/>
        </p:nvCxnSpPr>
        <p:spPr>
          <a:xfrm rot="16200000" flipH="1">
            <a:off x="6401261" y="328551"/>
            <a:ext cx="313600" cy="51508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566C4732-D26C-D295-05EC-D40691148945}"/>
              </a:ext>
            </a:extLst>
          </p:cNvPr>
          <p:cNvCxnSpPr>
            <a:cxnSpLocks/>
            <a:stCxn id="124" idx="2"/>
            <a:endCxn id="11" idx="0"/>
          </p:cNvCxnSpPr>
          <p:nvPr/>
        </p:nvCxnSpPr>
        <p:spPr>
          <a:xfrm rot="16200000" flipH="1">
            <a:off x="6771217" y="1159956"/>
            <a:ext cx="548640" cy="459863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135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AC8956-82BC-6528-381E-EE8059D00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64" y="105189"/>
            <a:ext cx="10749566" cy="666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930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541C68-765B-7425-EBEC-8A97A19C4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85" y="170486"/>
            <a:ext cx="10326478" cy="31994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AD725F-95A5-4D5E-5BFD-2646287DB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91" y="3369972"/>
            <a:ext cx="10036314" cy="348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281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C8F9FB-B4B5-A4A2-72A0-A80824EFE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90" y="809503"/>
            <a:ext cx="10904128" cy="360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44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E84F3E2E-7B26-7988-C3EE-DCDA06D4A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8" y="2657353"/>
            <a:ext cx="7965798" cy="41512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0B26F1-1416-9455-1748-4774402694CA}"/>
              </a:ext>
            </a:extLst>
          </p:cNvPr>
          <p:cNvSpPr txBox="1"/>
          <p:nvPr/>
        </p:nvSpPr>
        <p:spPr>
          <a:xfrm>
            <a:off x="1207695" y="281491"/>
            <a:ext cx="28516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dirty="0">
                <a:solidFill>
                  <a:srgbClr val="BE0000"/>
                </a:solidFill>
                <a:latin typeface="Arial"/>
              </a:rPr>
              <a:t>IAP – oriented Genres</a:t>
            </a:r>
            <a:endParaRPr sz="1500" b="1" dirty="0">
              <a:solidFill>
                <a:srgbClr val="BE0000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986D8C-9CD2-F9C3-AA8A-8B2CDE620C85}"/>
              </a:ext>
            </a:extLst>
          </p:cNvPr>
          <p:cNvSpPr/>
          <p:nvPr/>
        </p:nvSpPr>
        <p:spPr>
          <a:xfrm>
            <a:off x="163131" y="908649"/>
            <a:ext cx="1414487" cy="555251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191919"/>
                </a:solidFill>
                <a:latin typeface="Arial"/>
              </a:rPr>
              <a:t>Strategy</a:t>
            </a:r>
            <a:endParaRPr sz="800" dirty="0">
              <a:solidFill>
                <a:srgbClr val="191919"/>
              </a:solidFill>
              <a:latin typeface="Arial"/>
            </a:endParaRPr>
          </a:p>
          <a:p>
            <a:pPr algn="ctr"/>
            <a:r>
              <a:rPr sz="800" dirty="0">
                <a:solidFill>
                  <a:srgbClr val="191919"/>
                </a:solidFill>
                <a:latin typeface="Arial"/>
              </a:rPr>
              <a:t>P(Success | IAP, Strategy)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C2C3EB-35B5-DD49-9A6E-DF00140BF6D1}"/>
              </a:ext>
            </a:extLst>
          </p:cNvPr>
          <p:cNvSpPr/>
          <p:nvPr/>
        </p:nvSpPr>
        <p:spPr>
          <a:xfrm>
            <a:off x="1778785" y="908649"/>
            <a:ext cx="1261872" cy="555251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191919"/>
                </a:solidFill>
                <a:latin typeface="Arial"/>
              </a:rPr>
              <a:t>RPG</a:t>
            </a:r>
            <a:endParaRPr sz="800" dirty="0">
              <a:solidFill>
                <a:srgbClr val="191919"/>
              </a:solidFill>
              <a:latin typeface="Arial"/>
            </a:endParaRPr>
          </a:p>
          <a:p>
            <a:pPr algn="ctr"/>
            <a:r>
              <a:rPr sz="800" dirty="0">
                <a:solidFill>
                  <a:srgbClr val="191919"/>
                </a:solidFill>
                <a:latin typeface="Arial"/>
              </a:rPr>
              <a:t>P(Success | IAP, RPG)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689C4-68E0-6C64-536C-D4597A1DD15B}"/>
              </a:ext>
            </a:extLst>
          </p:cNvPr>
          <p:cNvSpPr/>
          <p:nvPr/>
        </p:nvSpPr>
        <p:spPr>
          <a:xfrm>
            <a:off x="3241825" y="908649"/>
            <a:ext cx="1519063" cy="555251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191919"/>
                </a:solidFill>
                <a:latin typeface="Arial"/>
              </a:rPr>
              <a:t>Simulation</a:t>
            </a:r>
          </a:p>
          <a:p>
            <a:pPr algn="ctr"/>
            <a:r>
              <a:rPr sz="800" dirty="0">
                <a:solidFill>
                  <a:srgbClr val="191919"/>
                </a:solidFill>
                <a:latin typeface="Arial"/>
              </a:rPr>
              <a:t>P(Success | IAP, Simulation)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D423C513-C5FB-DB46-CABE-CFE4C370579B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rot="16200000" flipH="1">
            <a:off x="3163876" y="71168"/>
            <a:ext cx="307118" cy="1367843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D18DD7E-3751-C2B1-E3B4-27FA0F204D68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rot="5400000">
            <a:off x="2368059" y="643194"/>
            <a:ext cx="307118" cy="223793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C3D8D52-CBD4-D8AE-81EC-D3158EF8B91B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rot="5400000">
            <a:off x="1598386" y="-126479"/>
            <a:ext cx="307118" cy="176313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1F3ADEB-DF65-3461-C3CB-A21F2683DEB5}"/>
              </a:ext>
            </a:extLst>
          </p:cNvPr>
          <p:cNvCxnSpPr>
            <a:cxnSpLocks/>
            <a:stCxn id="4" idx="2"/>
            <a:endCxn id="41" idx="0"/>
          </p:cNvCxnSpPr>
          <p:nvPr/>
        </p:nvCxnSpPr>
        <p:spPr>
          <a:xfrm rot="5400000">
            <a:off x="1265829" y="878090"/>
            <a:ext cx="558083" cy="1729702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995A7C5-5520-080D-3FFE-362A4B3FF06C}"/>
              </a:ext>
            </a:extLst>
          </p:cNvPr>
          <p:cNvCxnSpPr>
            <a:cxnSpLocks/>
            <a:stCxn id="4" idx="2"/>
            <a:endCxn id="42" idx="0"/>
          </p:cNvCxnSpPr>
          <p:nvPr/>
        </p:nvCxnSpPr>
        <p:spPr>
          <a:xfrm rot="5400000">
            <a:off x="1953135" y="1548224"/>
            <a:ext cx="540911" cy="372262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8738CF5-D8E8-4AF5-6A35-BDAA4EDCF841}"/>
              </a:ext>
            </a:extLst>
          </p:cNvPr>
          <p:cNvCxnSpPr>
            <a:cxnSpLocks/>
            <a:stCxn id="4" idx="2"/>
            <a:endCxn id="43" idx="0"/>
          </p:cNvCxnSpPr>
          <p:nvPr/>
        </p:nvCxnSpPr>
        <p:spPr>
          <a:xfrm rot="16200000" flipH="1">
            <a:off x="2653166" y="1220455"/>
            <a:ext cx="540911" cy="102780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41F5A8D-F6A3-7B16-1C58-D7596B41C138}"/>
              </a:ext>
            </a:extLst>
          </p:cNvPr>
          <p:cNvCxnSpPr>
            <a:cxnSpLocks/>
            <a:stCxn id="4" idx="2"/>
            <a:endCxn id="44" idx="0"/>
          </p:cNvCxnSpPr>
          <p:nvPr/>
        </p:nvCxnSpPr>
        <p:spPr>
          <a:xfrm rot="16200000" flipH="1">
            <a:off x="3461088" y="412532"/>
            <a:ext cx="531770" cy="2634505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93A17D6-14D1-741D-EC08-4F5047BBB6C3}"/>
              </a:ext>
            </a:extLst>
          </p:cNvPr>
          <p:cNvSpPr txBox="1"/>
          <p:nvPr/>
        </p:nvSpPr>
        <p:spPr>
          <a:xfrm>
            <a:off x="8392733" y="4270298"/>
            <a:ext cx="35545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b="1" dirty="0">
                <a:solidFill>
                  <a:srgbClr val="C00000"/>
                </a:solidFill>
              </a:rPr>
              <a:t>Genre </a:t>
            </a:r>
            <a:r>
              <a:rPr lang="fi-FI" sz="1800" b="1" dirty="0">
                <a:solidFill>
                  <a:srgbClr val="C00000"/>
                </a:solidFill>
              </a:rPr>
              <a:t>→ </a:t>
            </a:r>
            <a:r>
              <a:rPr lang="fi-FI" b="1" dirty="0" err="1">
                <a:solidFill>
                  <a:srgbClr val="C00000"/>
                </a:solidFill>
              </a:rPr>
              <a:t>Forms</a:t>
            </a:r>
            <a:r>
              <a:rPr lang="fi-FI" b="1" dirty="0">
                <a:solidFill>
                  <a:srgbClr val="C00000"/>
                </a:solidFill>
              </a:rPr>
              <a:t> of Play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>
                <a:solidFill>
                  <a:srgbClr val="C00000"/>
                </a:solidFill>
              </a:rPr>
              <a:t>Persistent progression – task </a:t>
            </a:r>
            <a:r>
              <a:rPr lang="fi-FI" dirty="0" err="1">
                <a:solidFill>
                  <a:srgbClr val="C00000"/>
                </a:solidFill>
              </a:rPr>
              <a:t>based</a:t>
            </a:r>
            <a:endParaRPr lang="fi-FI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uninterruptible gameplay</a:t>
            </a:r>
            <a:endParaRPr lang="fi-FI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>
                <a:solidFill>
                  <a:srgbClr val="C00000"/>
                </a:solidFill>
              </a:rPr>
              <a:t>long-</a:t>
            </a:r>
            <a:r>
              <a:rPr lang="fi-FI" dirty="0" err="1">
                <a:solidFill>
                  <a:srgbClr val="C00000"/>
                </a:solidFill>
              </a:rPr>
              <a:t>term</a:t>
            </a:r>
            <a:r>
              <a:rPr lang="fi-FI" dirty="0">
                <a:solidFill>
                  <a:srgbClr val="C00000"/>
                </a:solidFill>
              </a:rPr>
              <a:t> progression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F06AE0D-A877-42A6-1783-05401A71A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944" y="148410"/>
            <a:ext cx="4928140" cy="3848334"/>
          </a:xfrm>
          <a:prstGeom prst="rect">
            <a:avLst/>
          </a:prstGeom>
        </p:spPr>
      </p:pic>
      <p:sp>
        <p:nvSpPr>
          <p:cNvPr id="41" name="Rounded Rectangle 12">
            <a:extLst>
              <a:ext uri="{FF2B5EF4-FFF2-40B4-BE49-F238E27FC236}">
                <a16:creationId xmlns:a16="http://schemas.microsoft.com/office/drawing/2014/main" id="{BC725111-ED48-9997-FB5B-A2C88C99072A}"/>
              </a:ext>
            </a:extLst>
          </p:cNvPr>
          <p:cNvSpPr/>
          <p:nvPr/>
        </p:nvSpPr>
        <p:spPr>
          <a:xfrm>
            <a:off x="83498" y="2021983"/>
            <a:ext cx="1193041" cy="669701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91919"/>
                </a:solidFill>
                <a:latin typeface="Arial"/>
              </a:rPr>
              <a:t>Interaction</a:t>
            </a:r>
          </a:p>
          <a:p>
            <a:pPr algn="ctr">
              <a:spcBef>
                <a:spcPts val="500"/>
              </a:spcBef>
            </a:pPr>
            <a:r>
              <a:rPr sz="900" dirty="0">
                <a:solidFill>
                  <a:srgbClr val="464646"/>
                </a:solidFill>
                <a:latin typeface="Arial"/>
              </a:rPr>
              <a:t>How play is organized</a:t>
            </a:r>
          </a:p>
        </p:txBody>
      </p:sp>
      <p:sp>
        <p:nvSpPr>
          <p:cNvPr id="42" name="Rounded Rectangle 13">
            <a:extLst>
              <a:ext uri="{FF2B5EF4-FFF2-40B4-BE49-F238E27FC236}">
                <a16:creationId xmlns:a16="http://schemas.microsoft.com/office/drawing/2014/main" id="{3EC0079D-DFF8-6F49-1ADD-3E2A224DFE13}"/>
              </a:ext>
            </a:extLst>
          </p:cNvPr>
          <p:cNvSpPr/>
          <p:nvPr/>
        </p:nvSpPr>
        <p:spPr>
          <a:xfrm>
            <a:off x="1393429" y="2004811"/>
            <a:ext cx="1288059" cy="686873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91919"/>
                </a:solidFill>
                <a:latin typeface="Arial"/>
              </a:rPr>
              <a:t>Progression</a:t>
            </a:r>
          </a:p>
          <a:p>
            <a:pPr algn="ctr">
              <a:spcBef>
                <a:spcPts val="500"/>
              </a:spcBef>
            </a:pPr>
            <a:r>
              <a:rPr sz="900" dirty="0">
                <a:solidFill>
                  <a:srgbClr val="464646"/>
                </a:solidFill>
                <a:latin typeface="Arial"/>
              </a:rPr>
              <a:t>How advancement unfolds</a:t>
            </a:r>
          </a:p>
        </p:txBody>
      </p:sp>
      <p:sp>
        <p:nvSpPr>
          <p:cNvPr id="43" name="Rounded Rectangle 14">
            <a:extLst>
              <a:ext uri="{FF2B5EF4-FFF2-40B4-BE49-F238E27FC236}">
                <a16:creationId xmlns:a16="http://schemas.microsoft.com/office/drawing/2014/main" id="{76E928CF-AA43-B320-8C68-A6B35BD93742}"/>
              </a:ext>
            </a:extLst>
          </p:cNvPr>
          <p:cNvSpPr/>
          <p:nvPr/>
        </p:nvSpPr>
        <p:spPr>
          <a:xfrm>
            <a:off x="2770975" y="2004811"/>
            <a:ext cx="1333092" cy="686873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91919"/>
                </a:solidFill>
                <a:latin typeface="Arial"/>
              </a:rPr>
              <a:t>Reward</a:t>
            </a:r>
          </a:p>
          <a:p>
            <a:pPr algn="ctr">
              <a:spcBef>
                <a:spcPts val="500"/>
              </a:spcBef>
            </a:pPr>
            <a:r>
              <a:rPr sz="900" dirty="0">
                <a:solidFill>
                  <a:srgbClr val="464646"/>
                </a:solidFill>
                <a:latin typeface="Arial"/>
              </a:rPr>
              <a:t>How value/rewards are structured</a:t>
            </a:r>
          </a:p>
        </p:txBody>
      </p:sp>
      <p:sp>
        <p:nvSpPr>
          <p:cNvPr id="44" name="Rounded Rectangle 15">
            <a:extLst>
              <a:ext uri="{FF2B5EF4-FFF2-40B4-BE49-F238E27FC236}">
                <a16:creationId xmlns:a16="http://schemas.microsoft.com/office/drawing/2014/main" id="{F81C27D7-5FE4-CF22-5B1C-A9C22B794582}"/>
              </a:ext>
            </a:extLst>
          </p:cNvPr>
          <p:cNvSpPr/>
          <p:nvPr/>
        </p:nvSpPr>
        <p:spPr>
          <a:xfrm>
            <a:off x="4207099" y="1995670"/>
            <a:ext cx="1674253" cy="69601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91919"/>
                </a:solidFill>
                <a:latin typeface="Arial"/>
              </a:rPr>
              <a:t>Session / continuity</a:t>
            </a:r>
          </a:p>
          <a:p>
            <a:pPr algn="ctr">
              <a:spcBef>
                <a:spcPts val="500"/>
              </a:spcBef>
            </a:pPr>
            <a:r>
              <a:rPr sz="900" dirty="0">
                <a:solidFill>
                  <a:srgbClr val="464646"/>
                </a:solidFill>
                <a:latin typeface="Arial"/>
              </a:rPr>
              <a:t>Short/self-contained vs persistent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C3BF68-D1B7-A2E3-364C-DF24A573A151}"/>
              </a:ext>
            </a:extLst>
          </p:cNvPr>
          <p:cNvSpPr txBox="1"/>
          <p:nvPr/>
        </p:nvSpPr>
        <p:spPr>
          <a:xfrm>
            <a:off x="4001357" y="0"/>
            <a:ext cx="3258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b="1" dirty="0"/>
              <a:t>Genre Profile Characterization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288CAB-A8FC-29EF-BAEB-A17C02942A61}"/>
              </a:ext>
            </a:extLst>
          </p:cNvPr>
          <p:cNvSpPr/>
          <p:nvPr/>
        </p:nvSpPr>
        <p:spPr>
          <a:xfrm>
            <a:off x="472225" y="4164169"/>
            <a:ext cx="1026017" cy="257577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23688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79">
            <a:extLst>
              <a:ext uri="{FF2B5EF4-FFF2-40B4-BE49-F238E27FC236}">
                <a16:creationId xmlns:a16="http://schemas.microsoft.com/office/drawing/2014/main" id="{9CA77CB2-F021-47F6-80F3-359C56C64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34" y="2511380"/>
            <a:ext cx="7393794" cy="389371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F2C63A-FBF2-DED6-213B-30CAA1FB623A}"/>
              </a:ext>
            </a:extLst>
          </p:cNvPr>
          <p:cNvSpPr/>
          <p:nvPr/>
        </p:nvSpPr>
        <p:spPr>
          <a:xfrm>
            <a:off x="956686" y="746417"/>
            <a:ext cx="1353312" cy="550057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191919"/>
                </a:solidFill>
                <a:latin typeface="Arial"/>
              </a:rPr>
              <a:t>Action</a:t>
            </a:r>
          </a:p>
          <a:p>
            <a:pPr algn="ctr"/>
            <a:r>
              <a:rPr sz="800" dirty="0">
                <a:solidFill>
                  <a:srgbClr val="191919"/>
                </a:solidFill>
                <a:latin typeface="Arial"/>
              </a:rPr>
              <a:t>P(Success | Ads, Action)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BC7708-56D1-1843-7CC8-F3C3F84C65C0}"/>
              </a:ext>
            </a:extLst>
          </p:cNvPr>
          <p:cNvSpPr txBox="1"/>
          <p:nvPr/>
        </p:nvSpPr>
        <p:spPr>
          <a:xfrm>
            <a:off x="1192672" y="75643"/>
            <a:ext cx="28516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dirty="0">
                <a:solidFill>
                  <a:srgbClr val="BE0000"/>
                </a:solidFill>
                <a:latin typeface="Arial"/>
              </a:rPr>
              <a:t>Ads – oriented Genres</a:t>
            </a:r>
            <a:endParaRPr sz="1500" b="1" dirty="0">
              <a:solidFill>
                <a:srgbClr val="BE0000"/>
              </a:solidFill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A5CF76-A037-4429-A0B0-4B46CFF47051}"/>
              </a:ext>
            </a:extLst>
          </p:cNvPr>
          <p:cNvSpPr/>
          <p:nvPr/>
        </p:nvSpPr>
        <p:spPr>
          <a:xfrm>
            <a:off x="2462656" y="746417"/>
            <a:ext cx="1353312" cy="550057"/>
          </a:xfrm>
          <a:prstGeom prst="rect">
            <a:avLst/>
          </a:prstGeom>
          <a:solidFill>
            <a:srgbClr val="FFFFFF"/>
          </a:solidFill>
          <a:ln w="1651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191919"/>
                </a:solidFill>
                <a:latin typeface="Arial"/>
              </a:rPr>
              <a:t>Casual</a:t>
            </a:r>
            <a:endParaRPr sz="1000" b="1" dirty="0">
              <a:solidFill>
                <a:srgbClr val="191919"/>
              </a:solidFill>
              <a:latin typeface="Arial"/>
            </a:endParaRPr>
          </a:p>
          <a:p>
            <a:pPr algn="ctr"/>
            <a:r>
              <a:rPr sz="800" dirty="0">
                <a:solidFill>
                  <a:srgbClr val="191919"/>
                </a:solidFill>
                <a:latin typeface="Arial"/>
              </a:rPr>
              <a:t>P(Success | Ads, </a:t>
            </a:r>
            <a:r>
              <a:rPr lang="en-US" sz="800" dirty="0">
                <a:solidFill>
                  <a:srgbClr val="191919"/>
                </a:solidFill>
                <a:latin typeface="Arial"/>
              </a:rPr>
              <a:t>Casual</a:t>
            </a:r>
            <a:r>
              <a:rPr sz="800" dirty="0">
                <a:solidFill>
                  <a:srgbClr val="191919"/>
                </a:solidFill>
                <a:latin typeface="Arial"/>
              </a:rPr>
              <a:t>)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463E4035-F691-BFA3-71D0-D222BA6726C1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rot="16200000" flipH="1">
            <a:off x="2703534" y="310639"/>
            <a:ext cx="350734" cy="52082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2B99C62-D864-B558-2DB8-C8AAEBFCF367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rot="5400000">
            <a:off x="1950550" y="78476"/>
            <a:ext cx="350734" cy="98514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B23E3861-2959-D022-5EB7-2C9515F73896}"/>
              </a:ext>
            </a:extLst>
          </p:cNvPr>
          <p:cNvCxnSpPr>
            <a:cxnSpLocks/>
            <a:stCxn id="6" idx="2"/>
            <a:endCxn id="91" idx="0"/>
          </p:cNvCxnSpPr>
          <p:nvPr/>
        </p:nvCxnSpPr>
        <p:spPr>
          <a:xfrm rot="5400000">
            <a:off x="1725071" y="251423"/>
            <a:ext cx="369190" cy="2459293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4C469ACE-90BE-61FE-09D2-E9DFDB43C031}"/>
              </a:ext>
            </a:extLst>
          </p:cNvPr>
          <p:cNvCxnSpPr>
            <a:cxnSpLocks/>
            <a:stCxn id="6" idx="2"/>
            <a:endCxn id="92" idx="0"/>
          </p:cNvCxnSpPr>
          <p:nvPr/>
        </p:nvCxnSpPr>
        <p:spPr>
          <a:xfrm rot="5400000">
            <a:off x="2412377" y="921557"/>
            <a:ext cx="352018" cy="1101853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37D3F8FF-255B-F6D7-2167-214922C12992}"/>
              </a:ext>
            </a:extLst>
          </p:cNvPr>
          <p:cNvCxnSpPr>
            <a:cxnSpLocks/>
            <a:stCxn id="6" idx="2"/>
            <a:endCxn id="93" idx="0"/>
          </p:cNvCxnSpPr>
          <p:nvPr/>
        </p:nvCxnSpPr>
        <p:spPr>
          <a:xfrm rot="16200000" flipH="1">
            <a:off x="3112407" y="1323378"/>
            <a:ext cx="352018" cy="29820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74F082E-B915-AC11-E70B-8D8DF09C1ED3}"/>
              </a:ext>
            </a:extLst>
          </p:cNvPr>
          <p:cNvCxnSpPr>
            <a:cxnSpLocks/>
            <a:stCxn id="6" idx="2"/>
            <a:endCxn id="94" idx="0"/>
          </p:cNvCxnSpPr>
          <p:nvPr/>
        </p:nvCxnSpPr>
        <p:spPr>
          <a:xfrm rot="16200000" flipH="1">
            <a:off x="3920331" y="515455"/>
            <a:ext cx="342877" cy="1904914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3" name="Picture 52">
            <a:extLst>
              <a:ext uri="{FF2B5EF4-FFF2-40B4-BE49-F238E27FC236}">
                <a16:creationId xmlns:a16="http://schemas.microsoft.com/office/drawing/2014/main" id="{CD185CBD-A888-CEFC-0220-C3EA6AFF2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987" y="42375"/>
            <a:ext cx="5251084" cy="4054146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1354E4EE-5916-DA77-9271-393EE2DC3449}"/>
              </a:ext>
            </a:extLst>
          </p:cNvPr>
          <p:cNvSpPr txBox="1"/>
          <p:nvPr/>
        </p:nvSpPr>
        <p:spPr>
          <a:xfrm>
            <a:off x="7874053" y="4672155"/>
            <a:ext cx="35197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b="1" dirty="0">
                <a:solidFill>
                  <a:srgbClr val="C00000"/>
                </a:solidFill>
              </a:rPr>
              <a:t>Genre </a:t>
            </a:r>
            <a:r>
              <a:rPr lang="fi-FI" sz="1800" b="1" dirty="0">
                <a:solidFill>
                  <a:srgbClr val="C00000"/>
                </a:solidFill>
              </a:rPr>
              <a:t>→ </a:t>
            </a:r>
            <a:r>
              <a:rPr lang="fi-FI" b="1" dirty="0" err="1">
                <a:solidFill>
                  <a:srgbClr val="C00000"/>
                </a:solidFill>
              </a:rPr>
              <a:t>Forms</a:t>
            </a:r>
            <a:r>
              <a:rPr lang="fi-FI" b="1" dirty="0">
                <a:solidFill>
                  <a:srgbClr val="C00000"/>
                </a:solidFill>
              </a:rPr>
              <a:t> of Play </a:t>
            </a:r>
            <a:endParaRPr lang="en-US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Level based progression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interruptible gameplay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self-contained play patterns</a:t>
            </a:r>
            <a:endParaRPr lang="fi-FI" dirty="0">
              <a:solidFill>
                <a:srgbClr val="C00000"/>
              </a:solidFill>
            </a:endParaRPr>
          </a:p>
        </p:txBody>
      </p:sp>
      <p:sp>
        <p:nvSpPr>
          <p:cNvPr id="91" name="Rounded Rectangle 12">
            <a:extLst>
              <a:ext uri="{FF2B5EF4-FFF2-40B4-BE49-F238E27FC236}">
                <a16:creationId xmlns:a16="http://schemas.microsoft.com/office/drawing/2014/main" id="{5BE4F977-0ADB-E93E-FDB8-8232FF796CA5}"/>
              </a:ext>
            </a:extLst>
          </p:cNvPr>
          <p:cNvSpPr/>
          <p:nvPr/>
        </p:nvSpPr>
        <p:spPr>
          <a:xfrm>
            <a:off x="83498" y="1665664"/>
            <a:ext cx="1193041" cy="669701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91919"/>
                </a:solidFill>
                <a:latin typeface="Arial"/>
              </a:rPr>
              <a:t>Interaction</a:t>
            </a:r>
          </a:p>
          <a:p>
            <a:pPr algn="ctr">
              <a:spcBef>
                <a:spcPts val="500"/>
              </a:spcBef>
            </a:pPr>
            <a:r>
              <a:rPr sz="900" dirty="0">
                <a:solidFill>
                  <a:srgbClr val="464646"/>
                </a:solidFill>
                <a:latin typeface="Arial"/>
              </a:rPr>
              <a:t>How play is organized</a:t>
            </a:r>
          </a:p>
        </p:txBody>
      </p:sp>
      <p:sp>
        <p:nvSpPr>
          <p:cNvPr id="92" name="Rounded Rectangle 13">
            <a:extLst>
              <a:ext uri="{FF2B5EF4-FFF2-40B4-BE49-F238E27FC236}">
                <a16:creationId xmlns:a16="http://schemas.microsoft.com/office/drawing/2014/main" id="{A1E254E9-7A99-0E79-AACC-837934434A4A}"/>
              </a:ext>
            </a:extLst>
          </p:cNvPr>
          <p:cNvSpPr/>
          <p:nvPr/>
        </p:nvSpPr>
        <p:spPr>
          <a:xfrm>
            <a:off x="1393429" y="1648492"/>
            <a:ext cx="1288059" cy="686873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91919"/>
                </a:solidFill>
                <a:latin typeface="Arial"/>
              </a:rPr>
              <a:t>Progression</a:t>
            </a:r>
          </a:p>
          <a:p>
            <a:pPr algn="ctr">
              <a:spcBef>
                <a:spcPts val="500"/>
              </a:spcBef>
            </a:pPr>
            <a:r>
              <a:rPr sz="900" dirty="0">
                <a:solidFill>
                  <a:srgbClr val="464646"/>
                </a:solidFill>
                <a:latin typeface="Arial"/>
              </a:rPr>
              <a:t>How advancement unfolds</a:t>
            </a:r>
          </a:p>
        </p:txBody>
      </p:sp>
      <p:sp>
        <p:nvSpPr>
          <p:cNvPr id="93" name="Rounded Rectangle 14">
            <a:extLst>
              <a:ext uri="{FF2B5EF4-FFF2-40B4-BE49-F238E27FC236}">
                <a16:creationId xmlns:a16="http://schemas.microsoft.com/office/drawing/2014/main" id="{705C2AFE-6B88-5473-44E9-D06E4402D36C}"/>
              </a:ext>
            </a:extLst>
          </p:cNvPr>
          <p:cNvSpPr/>
          <p:nvPr/>
        </p:nvSpPr>
        <p:spPr>
          <a:xfrm>
            <a:off x="2770975" y="1648492"/>
            <a:ext cx="1333092" cy="686873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91919"/>
                </a:solidFill>
                <a:latin typeface="Arial"/>
              </a:rPr>
              <a:t>Reward</a:t>
            </a:r>
          </a:p>
          <a:p>
            <a:pPr algn="ctr">
              <a:spcBef>
                <a:spcPts val="500"/>
              </a:spcBef>
            </a:pPr>
            <a:r>
              <a:rPr sz="900" dirty="0">
                <a:solidFill>
                  <a:srgbClr val="464646"/>
                </a:solidFill>
                <a:latin typeface="Arial"/>
              </a:rPr>
              <a:t>How value/rewards are structured</a:t>
            </a:r>
          </a:p>
        </p:txBody>
      </p:sp>
      <p:sp>
        <p:nvSpPr>
          <p:cNvPr id="94" name="Rounded Rectangle 15">
            <a:extLst>
              <a:ext uri="{FF2B5EF4-FFF2-40B4-BE49-F238E27FC236}">
                <a16:creationId xmlns:a16="http://schemas.microsoft.com/office/drawing/2014/main" id="{2F44C52B-4C53-636B-7234-B5B3150DDBF3}"/>
              </a:ext>
            </a:extLst>
          </p:cNvPr>
          <p:cNvSpPr/>
          <p:nvPr/>
        </p:nvSpPr>
        <p:spPr>
          <a:xfrm>
            <a:off x="4207099" y="1639351"/>
            <a:ext cx="1674253" cy="69601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91919"/>
                </a:solidFill>
                <a:latin typeface="Arial"/>
              </a:rPr>
              <a:t>Session / continuity</a:t>
            </a:r>
          </a:p>
          <a:p>
            <a:pPr algn="ctr">
              <a:spcBef>
                <a:spcPts val="500"/>
              </a:spcBef>
            </a:pPr>
            <a:r>
              <a:rPr sz="900" dirty="0">
                <a:solidFill>
                  <a:srgbClr val="464646"/>
                </a:solidFill>
                <a:latin typeface="Arial"/>
              </a:rPr>
              <a:t>Short/self-contained vs persistent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CF5C1B-FD3F-4AA1-BF0B-C64AA08CFAF2}"/>
              </a:ext>
            </a:extLst>
          </p:cNvPr>
          <p:cNvSpPr/>
          <p:nvPr/>
        </p:nvSpPr>
        <p:spPr>
          <a:xfrm>
            <a:off x="367412" y="3503054"/>
            <a:ext cx="1026017" cy="257577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07593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E0F8F8-D64C-B89B-4160-0E2BF6DBA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2" y="872193"/>
            <a:ext cx="6747191" cy="5848925"/>
          </a:xfrm>
          <a:prstGeom prst="rect">
            <a:avLst/>
          </a:prstGeom>
        </p:spPr>
      </p:pic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C7B6A4A1-D427-8F6E-5B66-20757774E9FA}"/>
              </a:ext>
            </a:extLst>
          </p:cNvPr>
          <p:cNvSpPr/>
          <p:nvPr/>
        </p:nvSpPr>
        <p:spPr>
          <a:xfrm>
            <a:off x="147893" y="115910"/>
            <a:ext cx="1972964" cy="6819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191919"/>
                </a:solidFill>
              </a:rPr>
              <a:t>Recurring Profile</a:t>
            </a:r>
          </a:p>
          <a:p>
            <a:pPr algn="ctr">
              <a:spcBef>
                <a:spcPts val="500"/>
              </a:spcBef>
            </a:pPr>
            <a:r>
              <a:rPr sz="1100" dirty="0">
                <a:solidFill>
                  <a:srgbClr val="464646"/>
                </a:solidFill>
              </a:rPr>
              <a:t>e.g., Ads × Puzzle
or IAP × RPG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28201C61-2CA3-92F9-72DE-1480E14EE133}"/>
              </a:ext>
            </a:extLst>
          </p:cNvPr>
          <p:cNvSpPr/>
          <p:nvPr/>
        </p:nvSpPr>
        <p:spPr>
          <a:xfrm>
            <a:off x="3018551" y="97722"/>
            <a:ext cx="2367557" cy="7172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191919"/>
                </a:solidFill>
              </a:rPr>
              <a:t>Identify Successful Games</a:t>
            </a:r>
          </a:p>
          <a:p>
            <a:pPr algn="ctr">
              <a:spcBef>
                <a:spcPts val="500"/>
              </a:spcBef>
            </a:pPr>
            <a:r>
              <a:rPr sz="1100" dirty="0">
                <a:solidFill>
                  <a:srgbClr val="464646"/>
                </a:solidFill>
              </a:rPr>
              <a:t>Within that monetization–genre profile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C78232D8-BB10-1FAF-8960-A3457D4D9EBE}"/>
              </a:ext>
            </a:extLst>
          </p:cNvPr>
          <p:cNvSpPr/>
          <p:nvPr/>
        </p:nvSpPr>
        <p:spPr>
          <a:xfrm>
            <a:off x="6003530" y="93429"/>
            <a:ext cx="2711174" cy="7172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191919"/>
                </a:solidFill>
              </a:rPr>
              <a:t>Gameplay Indicators</a:t>
            </a:r>
          </a:p>
          <a:p>
            <a:pPr algn="ctr">
              <a:spcBef>
                <a:spcPts val="500"/>
              </a:spcBef>
            </a:pPr>
            <a:r>
              <a:rPr sz="1100" dirty="0">
                <a:solidFill>
                  <a:srgbClr val="464646"/>
                </a:solidFill>
              </a:rPr>
              <a:t>Apply the same indicator set
to the successful games</a:t>
            </a: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9B4A6EA6-4F41-0313-B1DB-3451A0611A98}"/>
              </a:ext>
            </a:extLst>
          </p:cNvPr>
          <p:cNvSpPr/>
          <p:nvPr/>
        </p:nvSpPr>
        <p:spPr>
          <a:xfrm>
            <a:off x="9310396" y="93430"/>
            <a:ext cx="2529582" cy="717268"/>
          </a:xfrm>
          <a:prstGeom prst="roundRect">
            <a:avLst/>
          </a:prstGeom>
          <a:solidFill>
            <a:srgbClr val="464646"/>
          </a:solidFill>
          <a:ln w="1587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</a:rPr>
              <a:t>Form of Play</a:t>
            </a:r>
          </a:p>
          <a:p>
            <a:pPr algn="ctr">
              <a:spcBef>
                <a:spcPts val="500"/>
              </a:spcBef>
            </a:pPr>
            <a:r>
              <a:rPr sz="1100" dirty="0">
                <a:solidFill>
                  <a:srgbClr val="FFFFFF"/>
                </a:solidFill>
              </a:rPr>
              <a:t>Interpret recurring
gameplay characteristics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A44E92E-B877-4047-7CD5-B99934AB0D8D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2120857" y="456356"/>
            <a:ext cx="897694" cy="508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BF22F0C-7855-BD38-BB88-2F55B82018BF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5386108" y="452063"/>
            <a:ext cx="617422" cy="4293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4E291B3-F939-CA61-262D-1B99011817A4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8714704" y="452063"/>
            <a:ext cx="595692" cy="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1F64F2B-C1F0-48BD-37AC-738E11ED2604}"/>
              </a:ext>
            </a:extLst>
          </p:cNvPr>
          <p:cNvSpPr txBox="1"/>
          <p:nvPr/>
        </p:nvSpPr>
        <p:spPr>
          <a:xfrm>
            <a:off x="8714704" y="1771102"/>
            <a:ext cx="3232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b="1" dirty="0">
                <a:solidFill>
                  <a:srgbClr val="C00000"/>
                </a:solidFill>
              </a:rPr>
              <a:t>Mont. × Genre → </a:t>
            </a:r>
            <a:r>
              <a:rPr lang="fi-FI" sz="1600" b="1" dirty="0" err="1">
                <a:solidFill>
                  <a:srgbClr val="C00000"/>
                </a:solidFill>
              </a:rPr>
              <a:t>Installs</a:t>
            </a:r>
            <a:r>
              <a:rPr lang="fi-FI" sz="1600" b="1" dirty="0">
                <a:solidFill>
                  <a:srgbClr val="C00000"/>
                </a:solidFill>
              </a:rPr>
              <a:t> &amp; </a:t>
            </a:r>
            <a:r>
              <a:rPr lang="fi-FI" sz="1600" b="1" dirty="0" err="1">
                <a:solidFill>
                  <a:srgbClr val="C00000"/>
                </a:solidFill>
              </a:rPr>
              <a:t>Ratings</a:t>
            </a:r>
            <a:endParaRPr lang="fi-FI" sz="1600" b="1" dirty="0">
              <a:solidFill>
                <a:srgbClr val="C00000"/>
              </a:solidFill>
            </a:endParaRPr>
          </a:p>
          <a:p>
            <a:r>
              <a:rPr lang="fi-FI" sz="1600" b="1" dirty="0">
                <a:solidFill>
                  <a:srgbClr val="C00000"/>
                </a:solidFill>
              </a:rPr>
              <a:t>        </a:t>
            </a:r>
          </a:p>
          <a:p>
            <a:r>
              <a:rPr lang="fi-FI" sz="1600" b="1" dirty="0">
                <a:solidFill>
                  <a:srgbClr val="C00000"/>
                </a:solidFill>
              </a:rPr>
              <a:t>         (</a:t>
            </a:r>
            <a:r>
              <a:rPr lang="fi-FI" sz="1600" b="1" dirty="0" err="1">
                <a:solidFill>
                  <a:srgbClr val="C00000"/>
                </a:solidFill>
              </a:rPr>
              <a:t>Form</a:t>
            </a:r>
            <a:r>
              <a:rPr lang="fi-FI" sz="1600" b="1" dirty="0">
                <a:solidFill>
                  <a:srgbClr val="C00000"/>
                </a:solidFill>
              </a:rPr>
              <a:t> of Play)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A9F0C4E5-94AC-A969-26F3-EC09112F1947}"/>
              </a:ext>
            </a:extLst>
          </p:cNvPr>
          <p:cNvSpPr/>
          <p:nvPr/>
        </p:nvSpPr>
        <p:spPr>
          <a:xfrm>
            <a:off x="9629104" y="2118574"/>
            <a:ext cx="128789" cy="158839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774549-BE5C-0799-260A-FF91C54FA8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" t="14749" r="11700"/>
          <a:stretch/>
        </p:blipFill>
        <p:spPr>
          <a:xfrm>
            <a:off x="6498534" y="2941243"/>
            <a:ext cx="5623723" cy="384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74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F7A982-7CEC-F89D-DF39-B73708D76FC0}"/>
              </a:ext>
            </a:extLst>
          </p:cNvPr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85891"/>
                </a:solidFill>
                <a:latin typeface="Arial"/>
              </a:rPr>
              <a:t>CROSS-MARKET CONTEXTUAL CHARACTERIZATION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BEC1A2-EFE5-AA15-F0F8-2E3F3B8ABAFC}"/>
              </a:ext>
            </a:extLst>
          </p:cNvPr>
          <p:cNvSpPr/>
          <p:nvPr/>
        </p:nvSpPr>
        <p:spPr>
          <a:xfrm>
            <a:off x="3840480" y="821758"/>
            <a:ext cx="4572000" cy="59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41414"/>
                </a:solidFill>
                <a:latin typeface="Arial"/>
              </a:rPr>
              <a:t>Recurring Monetization × Genre Profile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141414"/>
                </a:solidFill>
                <a:latin typeface="Arial"/>
              </a:rPr>
              <a:t>e.g., IAP × Strategy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799ECF3-4987-27E1-ABB9-64EA013E0F57}"/>
              </a:ext>
            </a:extLst>
          </p:cNvPr>
          <p:cNvCxnSpPr/>
          <p:nvPr/>
        </p:nvCxnSpPr>
        <p:spPr>
          <a:xfrm>
            <a:off x="6065520" y="1426464"/>
            <a:ext cx="0" cy="356616"/>
          </a:xfrm>
          <a:prstGeom prst="line">
            <a:avLst/>
          </a:prstGeom>
          <a:ln w="2159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5884C3D-C548-EF44-AB48-D5474A8E2432}"/>
              </a:ext>
            </a:extLst>
          </p:cNvPr>
          <p:cNvSpPr/>
          <p:nvPr/>
        </p:nvSpPr>
        <p:spPr>
          <a:xfrm>
            <a:off x="3794760" y="1810512"/>
            <a:ext cx="4572000" cy="584958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141414"/>
                </a:solidFill>
                <a:latin typeface="Arial"/>
              </a:rPr>
              <a:t>Country-Specific Interaction Magnitude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141414"/>
                </a:solidFill>
                <a:latin typeface="Arial"/>
              </a:rPr>
              <a:t>DDP by country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3E58B34A-EA4D-78C0-E436-CA2C96135590}"/>
              </a:ext>
            </a:extLst>
          </p:cNvPr>
          <p:cNvCxnSpPr/>
          <p:nvPr/>
        </p:nvCxnSpPr>
        <p:spPr>
          <a:xfrm>
            <a:off x="6089346" y="2417707"/>
            <a:ext cx="0" cy="384048"/>
          </a:xfrm>
          <a:prstGeom prst="line">
            <a:avLst/>
          </a:prstGeom>
          <a:ln w="2159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D9B182A-64DA-36AA-CEE3-085A89C4CAB3}"/>
              </a:ext>
            </a:extLst>
          </p:cNvPr>
          <p:cNvSpPr txBox="1"/>
          <p:nvPr/>
        </p:nvSpPr>
        <p:spPr>
          <a:xfrm>
            <a:off x="1920240" y="2740474"/>
            <a:ext cx="8321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C00000"/>
                </a:solidFill>
                <a:latin typeface="Arial"/>
              </a:rPr>
              <a:t>Does variation in interaction magnitude correspond to national market characteristics?</a:t>
            </a: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D9B98895-AD0B-E967-93DA-27807449D9C9}"/>
              </a:ext>
            </a:extLst>
          </p:cNvPr>
          <p:cNvCxnSpPr/>
          <p:nvPr/>
        </p:nvCxnSpPr>
        <p:spPr>
          <a:xfrm>
            <a:off x="1234440" y="3328931"/>
            <a:ext cx="9692640" cy="0"/>
          </a:xfrm>
          <a:prstGeom prst="line">
            <a:avLst/>
          </a:prstGeom>
          <a:ln w="190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2BB8A328-D072-8355-6E27-1ECE7645E088}"/>
              </a:ext>
            </a:extLst>
          </p:cNvPr>
          <p:cNvCxnSpPr/>
          <p:nvPr/>
        </p:nvCxnSpPr>
        <p:spPr>
          <a:xfrm>
            <a:off x="6080760" y="2981459"/>
            <a:ext cx="0" cy="347472"/>
          </a:xfrm>
          <a:prstGeom prst="line">
            <a:avLst/>
          </a:prstGeom>
          <a:ln w="190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FDE79AA0-0DE2-C3D3-89B7-2C5BD575732A}"/>
              </a:ext>
            </a:extLst>
          </p:cNvPr>
          <p:cNvCxnSpPr/>
          <p:nvPr/>
        </p:nvCxnSpPr>
        <p:spPr>
          <a:xfrm>
            <a:off x="1417320" y="3328931"/>
            <a:ext cx="0" cy="274319"/>
          </a:xfrm>
          <a:prstGeom prst="line">
            <a:avLst/>
          </a:prstGeom>
          <a:ln w="190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42D3211-ED09-D575-8B4D-3C6BFE1D097E}"/>
              </a:ext>
            </a:extLst>
          </p:cNvPr>
          <p:cNvSpPr/>
          <p:nvPr/>
        </p:nvSpPr>
        <p:spPr>
          <a:xfrm>
            <a:off x="411480" y="3621539"/>
            <a:ext cx="2011680" cy="525458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Median Age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141414"/>
                </a:solidFill>
                <a:latin typeface="Arial"/>
              </a:rPr>
              <a:t>DDP × Age → ρ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20BE3156-4781-C48E-D2B3-1D1A4D10515E}"/>
              </a:ext>
            </a:extLst>
          </p:cNvPr>
          <p:cNvCxnSpPr/>
          <p:nvPr/>
        </p:nvCxnSpPr>
        <p:spPr>
          <a:xfrm>
            <a:off x="3749039" y="3328931"/>
            <a:ext cx="0" cy="274319"/>
          </a:xfrm>
          <a:prstGeom prst="line">
            <a:avLst/>
          </a:prstGeom>
          <a:ln w="190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366D2D8-8E70-8D38-8DBD-881B1206BE84}"/>
              </a:ext>
            </a:extLst>
          </p:cNvPr>
          <p:cNvSpPr/>
          <p:nvPr/>
        </p:nvSpPr>
        <p:spPr>
          <a:xfrm>
            <a:off x="2743200" y="3621539"/>
            <a:ext cx="2011680" cy="525458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PPP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141414"/>
                </a:solidFill>
                <a:latin typeface="Arial"/>
              </a:rPr>
              <a:t>DDP × PPP → ρ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80F8BC53-8A53-C4C8-DB99-187D70627B46}"/>
              </a:ext>
            </a:extLst>
          </p:cNvPr>
          <p:cNvCxnSpPr/>
          <p:nvPr/>
        </p:nvCxnSpPr>
        <p:spPr>
          <a:xfrm>
            <a:off x="6080760" y="3328931"/>
            <a:ext cx="0" cy="274319"/>
          </a:xfrm>
          <a:prstGeom prst="line">
            <a:avLst/>
          </a:prstGeom>
          <a:ln w="190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3C6BA34-6B51-0B66-B431-AA104E22AC7E}"/>
              </a:ext>
            </a:extLst>
          </p:cNvPr>
          <p:cNvSpPr/>
          <p:nvPr/>
        </p:nvSpPr>
        <p:spPr>
          <a:xfrm>
            <a:off x="5074920" y="3621539"/>
            <a:ext cx="2011680" cy="525458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HDI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141414"/>
                </a:solidFill>
                <a:latin typeface="Arial"/>
              </a:rPr>
              <a:t>DDP × HDI → ρ</a:t>
            </a:r>
          </a:p>
        </p:txBody>
      </p: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137C0E69-D09B-C881-1A7D-0B3830B9D8FE}"/>
              </a:ext>
            </a:extLst>
          </p:cNvPr>
          <p:cNvCxnSpPr/>
          <p:nvPr/>
        </p:nvCxnSpPr>
        <p:spPr>
          <a:xfrm>
            <a:off x="8412480" y="3328931"/>
            <a:ext cx="0" cy="274319"/>
          </a:xfrm>
          <a:prstGeom prst="line">
            <a:avLst/>
          </a:prstGeom>
          <a:ln w="190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018C92A-ABF0-90FE-D420-9AA822E2F81A}"/>
              </a:ext>
            </a:extLst>
          </p:cNvPr>
          <p:cNvSpPr/>
          <p:nvPr/>
        </p:nvSpPr>
        <p:spPr>
          <a:xfrm>
            <a:off x="7406640" y="3621539"/>
            <a:ext cx="2011680" cy="525458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Internet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141414"/>
                </a:solidFill>
                <a:latin typeface="Arial"/>
              </a:rPr>
              <a:t>DDP × NET → ρ</a:t>
            </a:r>
          </a:p>
        </p:txBody>
      </p: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F9F80100-36BA-D1F3-5D6E-72A9458F27DA}"/>
              </a:ext>
            </a:extLst>
          </p:cNvPr>
          <p:cNvCxnSpPr/>
          <p:nvPr/>
        </p:nvCxnSpPr>
        <p:spPr>
          <a:xfrm>
            <a:off x="10744200" y="3328931"/>
            <a:ext cx="0" cy="274319"/>
          </a:xfrm>
          <a:prstGeom prst="line">
            <a:avLst/>
          </a:prstGeom>
          <a:ln w="190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65C03D5-3FBD-94BD-0685-320447900108}"/>
              </a:ext>
            </a:extLst>
          </p:cNvPr>
          <p:cNvSpPr/>
          <p:nvPr/>
        </p:nvSpPr>
        <p:spPr>
          <a:xfrm>
            <a:off x="9738360" y="3621539"/>
            <a:ext cx="2011680" cy="525458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Digital Payment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141414"/>
                </a:solidFill>
                <a:latin typeface="Arial"/>
              </a:rPr>
              <a:t>DDP × DP → ρ</a:t>
            </a: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B9ABC599-7B5A-4DE3-7C61-B9275F08ADCE}"/>
              </a:ext>
            </a:extLst>
          </p:cNvPr>
          <p:cNvCxnSpPr/>
          <p:nvPr/>
        </p:nvCxnSpPr>
        <p:spPr>
          <a:xfrm>
            <a:off x="6080760" y="4152921"/>
            <a:ext cx="0" cy="384048"/>
          </a:xfrm>
          <a:prstGeom prst="line">
            <a:avLst/>
          </a:prstGeom>
          <a:ln w="2159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6EE4D56-5B0E-645A-90E2-EB45A3C91BA6}"/>
              </a:ext>
            </a:extLst>
          </p:cNvPr>
          <p:cNvSpPr/>
          <p:nvPr/>
        </p:nvSpPr>
        <p:spPr>
          <a:xfrm>
            <a:off x="4100849" y="4536969"/>
            <a:ext cx="4389120" cy="588823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chemeClr val="tx1"/>
                </a:solidFill>
              </a:rPr>
              <a:t>Spearman Rank Correlation</a:t>
            </a:r>
            <a:endParaRPr sz="900" b="1" dirty="0">
              <a:solidFill>
                <a:schemeClr val="tx1"/>
              </a:solidFill>
            </a:endParaRP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chemeClr val="tx1"/>
                </a:solidFill>
              </a:rPr>
              <a:t>DDP × National Indicator → ρ</a:t>
            </a:r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B8384E31-1727-B5D8-B514-F72D4776B338}"/>
              </a:ext>
            </a:extLst>
          </p:cNvPr>
          <p:cNvCxnSpPr/>
          <p:nvPr/>
        </p:nvCxnSpPr>
        <p:spPr>
          <a:xfrm>
            <a:off x="6089346" y="5139529"/>
            <a:ext cx="0" cy="292608"/>
          </a:xfrm>
          <a:prstGeom prst="line">
            <a:avLst/>
          </a:prstGeom>
          <a:ln w="2159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CA6CFAA-7211-04B9-4914-DDE1A5E08C78}"/>
              </a:ext>
            </a:extLst>
          </p:cNvPr>
          <p:cNvSpPr/>
          <p:nvPr/>
        </p:nvSpPr>
        <p:spPr>
          <a:xfrm>
            <a:off x="1974546" y="5459569"/>
            <a:ext cx="822960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141414"/>
                </a:solidFill>
                <a:latin typeface="Arial"/>
              </a:rPr>
              <a:t>Repeat for all 5 recurring profiles  →  5 profiles × 5 indicators = 25 associations</a:t>
            </a:r>
            <a:r>
              <a:rPr lang="en-US" sz="1300" b="1" dirty="0">
                <a:solidFill>
                  <a:srgbClr val="141414"/>
                </a:solidFill>
                <a:latin typeface="Arial"/>
              </a:rPr>
              <a:t> </a:t>
            </a:r>
            <a:r>
              <a:rPr lang="fi-FI" sz="1400" dirty="0">
                <a:solidFill>
                  <a:schemeClr val="tx1"/>
                </a:solidFill>
              </a:rPr>
              <a:t>p-</a:t>
            </a:r>
            <a:r>
              <a:rPr lang="fi-FI" sz="1400" dirty="0" err="1">
                <a:solidFill>
                  <a:schemeClr val="tx1"/>
                </a:solidFill>
              </a:rPr>
              <a:t>values</a:t>
            </a:r>
            <a:endParaRPr sz="1300" b="1" dirty="0">
              <a:solidFill>
                <a:schemeClr val="tx1"/>
              </a:solidFill>
              <a:latin typeface="Arial"/>
            </a:endParaRPr>
          </a:p>
        </p:txBody>
      </p:sp>
      <p:cxnSp>
        <p:nvCxnSpPr>
          <p:cNvPr id="24" name="Connector 21">
            <a:extLst>
              <a:ext uri="{FF2B5EF4-FFF2-40B4-BE49-F238E27FC236}">
                <a16:creationId xmlns:a16="http://schemas.microsoft.com/office/drawing/2014/main" id="{D3329BC0-8B51-A36A-B347-EB6CE8D6E867}"/>
              </a:ext>
            </a:extLst>
          </p:cNvPr>
          <p:cNvCxnSpPr/>
          <p:nvPr/>
        </p:nvCxnSpPr>
        <p:spPr>
          <a:xfrm>
            <a:off x="6089346" y="5948751"/>
            <a:ext cx="0" cy="292608"/>
          </a:xfrm>
          <a:prstGeom prst="line">
            <a:avLst/>
          </a:prstGeom>
          <a:ln w="2159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D6A0E82-FFEE-D9F9-307E-8B799D2379A6}"/>
              </a:ext>
            </a:extLst>
          </p:cNvPr>
          <p:cNvSpPr/>
          <p:nvPr/>
        </p:nvSpPr>
        <p:spPr>
          <a:xfrm>
            <a:off x="1974546" y="6268791"/>
            <a:ext cx="822960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dirty="0" err="1">
                <a:solidFill>
                  <a:schemeClr val="tx1"/>
                </a:solidFill>
              </a:rPr>
              <a:t>Benjamini</a:t>
            </a:r>
            <a:r>
              <a:rPr lang="fi-FI" sz="1400" b="1" dirty="0">
                <a:solidFill>
                  <a:schemeClr val="tx1"/>
                </a:solidFill>
              </a:rPr>
              <a:t>–</a:t>
            </a:r>
            <a:r>
              <a:rPr lang="fi-FI" sz="1400" b="1" dirty="0" err="1">
                <a:solidFill>
                  <a:schemeClr val="tx1"/>
                </a:solidFill>
              </a:rPr>
              <a:t>Hochberg</a:t>
            </a:r>
            <a:r>
              <a:rPr lang="fi-FI" sz="1400" b="1" dirty="0">
                <a:solidFill>
                  <a:schemeClr val="tx1"/>
                </a:solidFill>
              </a:rPr>
              <a:t> </a:t>
            </a:r>
            <a:r>
              <a:rPr lang="fi-FI" sz="1400" b="1" dirty="0" err="1">
                <a:solidFill>
                  <a:schemeClr val="tx1"/>
                </a:solidFill>
              </a:rPr>
              <a:t>False</a:t>
            </a:r>
            <a:r>
              <a:rPr lang="fi-FI" sz="1400" b="1" dirty="0">
                <a:solidFill>
                  <a:schemeClr val="tx1"/>
                </a:solidFill>
              </a:rPr>
              <a:t> </a:t>
            </a:r>
            <a:r>
              <a:rPr lang="fi-FI" sz="1400" b="1" dirty="0" err="1">
                <a:solidFill>
                  <a:schemeClr val="tx1"/>
                </a:solidFill>
              </a:rPr>
              <a:t>Discovery</a:t>
            </a:r>
            <a:r>
              <a:rPr lang="fi-FI" sz="1400" b="1" dirty="0">
                <a:solidFill>
                  <a:schemeClr val="tx1"/>
                </a:solidFill>
              </a:rPr>
              <a:t> </a:t>
            </a:r>
            <a:r>
              <a:rPr lang="fi-FI" sz="1400" b="1" dirty="0" err="1">
                <a:solidFill>
                  <a:schemeClr val="tx1"/>
                </a:solidFill>
              </a:rPr>
              <a:t>Rate</a:t>
            </a:r>
            <a:r>
              <a:rPr lang="fi-FI" sz="1400" b="1" dirty="0">
                <a:solidFill>
                  <a:schemeClr val="tx1"/>
                </a:solidFill>
              </a:rPr>
              <a:t> (FDR)</a:t>
            </a:r>
            <a:r>
              <a:rPr lang="fi-FI" sz="1400" dirty="0">
                <a:solidFill>
                  <a:schemeClr val="tx1"/>
                </a:solidFill>
              </a:rPr>
              <a:t> </a:t>
            </a:r>
            <a:r>
              <a:rPr lang="fi-FI" sz="1400" dirty="0" err="1">
                <a:solidFill>
                  <a:schemeClr val="tx1"/>
                </a:solidFill>
              </a:rPr>
              <a:t>procedure</a:t>
            </a:r>
            <a:r>
              <a:rPr lang="fi-FI" sz="1400" dirty="0">
                <a:solidFill>
                  <a:schemeClr val="tx1"/>
                </a:solidFill>
              </a:rPr>
              <a:t>: 25 p-</a:t>
            </a:r>
            <a:r>
              <a:rPr lang="fi-FI" sz="1400" dirty="0" err="1">
                <a:solidFill>
                  <a:schemeClr val="tx1"/>
                </a:solidFill>
              </a:rPr>
              <a:t>values</a:t>
            </a:r>
            <a:r>
              <a:rPr lang="fi-FI" sz="1400" dirty="0">
                <a:solidFill>
                  <a:schemeClr val="tx1"/>
                </a:solidFill>
              </a:rPr>
              <a:t> </a:t>
            </a:r>
            <a:r>
              <a:rPr lang="fi-FI" sz="14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fi-FI" sz="1400" dirty="0">
                <a:solidFill>
                  <a:schemeClr val="tx1"/>
                </a:solidFill>
              </a:rPr>
              <a:t>FDR​  </a:t>
            </a:r>
            <a:r>
              <a:rPr lang="fi-FI" sz="14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fi-FI" sz="1400" dirty="0">
                <a:solidFill>
                  <a:schemeClr val="tx1"/>
                </a:solidFill>
              </a:rPr>
              <a:t>25 </a:t>
            </a:r>
            <a:r>
              <a:rPr lang="fi-FI" sz="1400" dirty="0" err="1">
                <a:solidFill>
                  <a:schemeClr val="tx1"/>
                </a:solidFill>
              </a:rPr>
              <a:t>pFDR</a:t>
            </a:r>
            <a:r>
              <a:rPr lang="fi-FI" sz="1400" dirty="0">
                <a:solidFill>
                  <a:schemeClr val="tx1"/>
                </a:solidFill>
              </a:rPr>
              <a:t>​-</a:t>
            </a:r>
            <a:r>
              <a:rPr lang="fi-FI" sz="1400" dirty="0" err="1">
                <a:solidFill>
                  <a:schemeClr val="tx1"/>
                </a:solidFill>
              </a:rPr>
              <a:t>values</a:t>
            </a:r>
            <a:endParaRPr sz="13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0FF212-6621-FC03-855C-75755B9948BA}"/>
              </a:ext>
            </a:extLst>
          </p:cNvPr>
          <p:cNvSpPr txBox="1"/>
          <p:nvPr/>
        </p:nvSpPr>
        <p:spPr>
          <a:xfrm>
            <a:off x="9418320" y="5991792"/>
            <a:ext cx="25714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1" dirty="0" err="1">
                <a:solidFill>
                  <a:srgbClr val="C00000"/>
                </a:solidFill>
              </a:rPr>
              <a:t>Significant</a:t>
            </a:r>
            <a:r>
              <a:rPr lang="fi-FI" sz="1200" b="1" dirty="0">
                <a:solidFill>
                  <a:srgbClr val="C00000"/>
                </a:solidFill>
              </a:rPr>
              <a:t> </a:t>
            </a:r>
            <a:r>
              <a:rPr lang="fi-FI" sz="1200" b="1" dirty="0" err="1">
                <a:solidFill>
                  <a:srgbClr val="C00000"/>
                </a:solidFill>
              </a:rPr>
              <a:t>associations</a:t>
            </a:r>
            <a:r>
              <a:rPr lang="fi-FI" sz="1200" b="1" dirty="0">
                <a:solidFill>
                  <a:srgbClr val="C00000"/>
                </a:solidFill>
              </a:rPr>
              <a:t>: </a:t>
            </a:r>
            <a:r>
              <a:rPr lang="fi-FI" sz="1200" b="1" dirty="0" err="1">
                <a:solidFill>
                  <a:srgbClr val="C00000"/>
                </a:solidFill>
              </a:rPr>
              <a:t>pFDR</a:t>
            </a:r>
            <a:r>
              <a:rPr lang="fi-FI" sz="1200" b="1" dirty="0">
                <a:solidFill>
                  <a:srgbClr val="C00000"/>
                </a:solidFill>
              </a:rPr>
              <a:t>​&lt;0.05</a:t>
            </a:r>
            <a:endParaRPr lang="fi-FI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136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40F8F71-7E0A-E0C5-4E19-862112E6A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3" y="4347774"/>
            <a:ext cx="6817938" cy="24482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F867DD-7209-21CA-DE29-8D22AC5E204D}"/>
              </a:ext>
            </a:extLst>
          </p:cNvPr>
          <p:cNvSpPr txBox="1"/>
          <p:nvPr/>
        </p:nvSpPr>
        <p:spPr>
          <a:xfrm>
            <a:off x="459346" y="692866"/>
            <a:ext cx="579549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Ads-supported profiles</a:t>
            </a:r>
            <a:br>
              <a:rPr lang="en-US" dirty="0"/>
            </a:br>
            <a:r>
              <a:rPr lang="en-US" dirty="0"/>
              <a:t>→ Stronger mainly in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younger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population </a:t>
            </a:r>
            <a:r>
              <a:rPr lang="en-US" b="1" dirty="0"/>
              <a:t>and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comparatively</a:t>
            </a:r>
            <a:r>
              <a:rPr lang="en-US" b="1" dirty="0">
                <a:solidFill>
                  <a:srgbClr val="C00000"/>
                </a:solidFill>
              </a:rPr>
              <a:t> lower digital-payment markets</a:t>
            </a:r>
            <a:br>
              <a:rPr lang="en-US" dirty="0"/>
            </a:br>
            <a:r>
              <a:rPr lang="en-US" dirty="0"/>
              <a:t>→ Pattern strongest for </a:t>
            </a:r>
            <a:r>
              <a:rPr lang="en-US" b="1" dirty="0"/>
              <a:t>Puzzle</a:t>
            </a:r>
            <a:endParaRPr lang="fi-FI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9F3AC-ACD1-0DA8-6E46-A37F171865CB}"/>
              </a:ext>
            </a:extLst>
          </p:cNvPr>
          <p:cNvSpPr txBox="1"/>
          <p:nvPr/>
        </p:nvSpPr>
        <p:spPr>
          <a:xfrm>
            <a:off x="412124" y="2705413"/>
            <a:ext cx="657681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IAP-supported profiles</a:t>
            </a:r>
            <a:br>
              <a:rPr lang="en-US" dirty="0"/>
            </a:br>
            <a:r>
              <a:rPr lang="en-US" dirty="0"/>
              <a:t>→ Stronger consistently 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Older population</a:t>
            </a:r>
            <a:r>
              <a:rPr lang="en-US" b="1" dirty="0"/>
              <a:t>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higher-purchasing-power,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more developed and digitally enabled markets</a:t>
            </a:r>
            <a:br>
              <a:rPr lang="en-US" dirty="0"/>
            </a:br>
            <a:r>
              <a:rPr lang="en-US" dirty="0"/>
              <a:t>→ Consistent across </a:t>
            </a:r>
            <a:r>
              <a:rPr lang="en-US" b="1" dirty="0"/>
              <a:t>RPG, Strategy &amp; Simulation</a:t>
            </a:r>
            <a:endParaRPr lang="fi-F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CB6954-533F-AF94-3370-CDD636E33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570" y="0"/>
            <a:ext cx="5305189" cy="679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765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E1E1E"/>
                </a:solidFill>
                <a:latin typeface="Arial"/>
              </a:rPr>
              <a:t>What We Now 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0107" y="1201771"/>
            <a:ext cx="10241280" cy="80467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sz="1700" b="1">
                <a:solidFill>
                  <a:srgbClr val="1E1E1E"/>
                </a:solidFill>
                <a:latin typeface="Arial"/>
              </a:rPr>
              <a:t>1. Pooled interaction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414141"/>
                </a:solidFill>
                <a:latin typeface="Arial"/>
              </a:rPr>
              <a:t>Identify Monetization × Genre interaction profiles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10949"/>
            <a:ext cx="10241280" cy="80467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lang="en-US" sz="1700" b="1" dirty="0">
                <a:solidFill>
                  <a:srgbClr val="1E1E1E"/>
                </a:solidFill>
                <a:latin typeface="Arial"/>
              </a:rPr>
              <a:t>2</a:t>
            </a:r>
            <a:r>
              <a:rPr sz="1700" b="1" dirty="0">
                <a:solidFill>
                  <a:srgbClr val="1E1E1E"/>
                </a:solidFill>
                <a:latin typeface="Arial"/>
              </a:rPr>
              <a:t>. 42-market replication</a:t>
            </a:r>
          </a:p>
          <a:p>
            <a:pPr algn="ctr">
              <a:spcBef>
                <a:spcPts val="800"/>
              </a:spcBef>
            </a:pPr>
            <a:r>
              <a:rPr sz="1250" dirty="0">
                <a:solidFill>
                  <a:srgbClr val="414141"/>
                </a:solidFill>
                <a:latin typeface="Arial"/>
              </a:rPr>
              <a:t>Test cross-market generalizability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8501"/>
            <a:ext cx="10241280" cy="80467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lang="en-US" sz="1700" b="1" dirty="0">
                <a:solidFill>
                  <a:srgbClr val="1E1E1E"/>
                </a:solidFill>
                <a:latin typeface="Arial"/>
              </a:rPr>
              <a:t>3</a:t>
            </a:r>
            <a:r>
              <a:rPr sz="1700" b="1" dirty="0">
                <a:solidFill>
                  <a:srgbClr val="1E1E1E"/>
                </a:solidFill>
                <a:latin typeface="Arial"/>
              </a:rPr>
              <a:t>. 14-month replication</a:t>
            </a:r>
          </a:p>
          <a:p>
            <a:pPr algn="ctr">
              <a:spcBef>
                <a:spcPts val="800"/>
              </a:spcBef>
            </a:pPr>
            <a:r>
              <a:rPr sz="1250" dirty="0">
                <a:solidFill>
                  <a:srgbClr val="414141"/>
                </a:solidFill>
                <a:latin typeface="Arial"/>
              </a:rPr>
              <a:t>Test temporal stability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7748" y="4633818"/>
            <a:ext cx="3885127" cy="80467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sz="1700" b="1" dirty="0">
                <a:solidFill>
                  <a:schemeClr val="tx1"/>
                </a:solidFill>
                <a:latin typeface="Arial"/>
              </a:rPr>
              <a:t>5. Market characterization</a:t>
            </a:r>
          </a:p>
          <a:p>
            <a:pPr algn="ctr">
              <a:spcBef>
                <a:spcPts val="800"/>
              </a:spcBef>
            </a:pPr>
            <a:r>
              <a:rPr sz="1250" dirty="0">
                <a:solidFill>
                  <a:schemeClr val="tx1"/>
                </a:solidFill>
                <a:latin typeface="Arial"/>
              </a:rPr>
              <a:t>Relate magnitude differences to national context</a:t>
            </a: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EFE70B6D-ECCF-A220-78ED-15493F27E8F8}"/>
              </a:ext>
            </a:extLst>
          </p:cNvPr>
          <p:cNvSpPr/>
          <p:nvPr/>
        </p:nvSpPr>
        <p:spPr>
          <a:xfrm>
            <a:off x="965915" y="4657772"/>
            <a:ext cx="4692203" cy="80467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lang="en-US" sz="1700" b="1" dirty="0">
                <a:solidFill>
                  <a:srgbClr val="1E1E1E"/>
                </a:solidFill>
                <a:latin typeface="Arial"/>
              </a:rPr>
              <a:t>4</a:t>
            </a:r>
            <a:r>
              <a:rPr sz="1700" b="1" dirty="0">
                <a:solidFill>
                  <a:srgbClr val="1E1E1E"/>
                </a:solidFill>
                <a:latin typeface="Arial"/>
              </a:rPr>
              <a:t>. Gameplay characterization</a:t>
            </a:r>
          </a:p>
          <a:p>
            <a:pPr algn="ctr">
              <a:spcBef>
                <a:spcPts val="800"/>
              </a:spcBef>
            </a:pPr>
            <a:r>
              <a:rPr sz="1250" dirty="0">
                <a:solidFill>
                  <a:srgbClr val="414141"/>
                </a:solidFill>
                <a:latin typeface="Arial"/>
              </a:rPr>
              <a:t>Interpret recurring profiles as distinguishable forms of play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C35F59C-07ED-7A98-A5D3-C254B2F8A8E8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6030747" y="2006443"/>
            <a:ext cx="4293" cy="20450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825B61E4-3E69-1ADD-CFF5-3FCB3867D72F}"/>
              </a:ext>
            </a:extLst>
          </p:cNvPr>
          <p:cNvCxnSpPr>
            <a:cxnSpLocks/>
            <a:stCxn id="30" idx="2"/>
            <a:endCxn id="14" idx="0"/>
          </p:cNvCxnSpPr>
          <p:nvPr/>
        </p:nvCxnSpPr>
        <p:spPr>
          <a:xfrm rot="5400000">
            <a:off x="4527452" y="2978786"/>
            <a:ext cx="463551" cy="289442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BC887D2-5898-8816-2780-D2BAC8C32E97}"/>
              </a:ext>
            </a:extLst>
          </p:cNvPr>
          <p:cNvCxnSpPr>
            <a:cxnSpLocks/>
            <a:stCxn id="30" idx="2"/>
            <a:endCxn id="11" idx="0"/>
          </p:cNvCxnSpPr>
          <p:nvPr/>
        </p:nvCxnSpPr>
        <p:spPr>
          <a:xfrm rot="16200000" flipH="1">
            <a:off x="7378576" y="3022081"/>
            <a:ext cx="439597" cy="2783875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C9622F-639A-38FC-23AE-21EFE8638F47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6035040" y="3015621"/>
            <a:ext cx="0" cy="18288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EE51B0C-5C1B-0FA2-6038-CD2D2198A229}"/>
              </a:ext>
            </a:extLst>
          </p:cNvPr>
          <p:cNvSpPr/>
          <p:nvPr/>
        </p:nvSpPr>
        <p:spPr>
          <a:xfrm>
            <a:off x="594360" y="1043189"/>
            <a:ext cx="11224153" cy="31510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DF3F3B27-52BA-FADF-FF14-787E3582E541}"/>
              </a:ext>
            </a:extLst>
          </p:cNvPr>
          <p:cNvSpPr/>
          <p:nvPr/>
        </p:nvSpPr>
        <p:spPr>
          <a:xfrm rot="16200000">
            <a:off x="5784764" y="3380598"/>
            <a:ext cx="330558" cy="494548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0A0846-EDE9-796F-9A1B-E01A14BC554F}"/>
              </a:ext>
            </a:extLst>
          </p:cNvPr>
          <p:cNvSpPr txBox="1"/>
          <p:nvPr/>
        </p:nvSpPr>
        <p:spPr>
          <a:xfrm>
            <a:off x="1920239" y="6117633"/>
            <a:ext cx="83210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Arial"/>
              </a:rPr>
              <a:t>Cultural Paradox of Success</a:t>
            </a:r>
            <a:endParaRPr sz="2000" b="1" dirty="0">
              <a:solidFill>
                <a:srgbClr val="C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9701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BDF420-3797-6190-A507-5D6F83136CD6}"/>
              </a:ext>
            </a:extLst>
          </p:cNvPr>
          <p:cNvSpPr txBox="1"/>
          <p:nvPr/>
        </p:nvSpPr>
        <p:spPr>
          <a:xfrm>
            <a:off x="339143" y="793004"/>
            <a:ext cx="7886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Two findings that appear contradictory but can both be true at the same time.</a:t>
            </a:r>
            <a:endParaRPr lang="fi-FI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D1919-C8F6-6D03-CFEB-760E71B6BDB2}"/>
              </a:ext>
            </a:extLst>
          </p:cNvPr>
          <p:cNvSpPr txBox="1"/>
          <p:nvPr/>
        </p:nvSpPr>
        <p:spPr>
          <a:xfrm>
            <a:off x="446468" y="1342501"/>
            <a:ext cx="7890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 appears to be X overall, yet under different conditions it can also be Y.</a:t>
            </a:r>
            <a:endParaRPr lang="fi-FI" dirty="0"/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E707FAD4-E7C6-13D5-83B3-74E675336D2D}"/>
              </a:ext>
            </a:extLst>
          </p:cNvPr>
          <p:cNvSpPr/>
          <p:nvPr/>
        </p:nvSpPr>
        <p:spPr>
          <a:xfrm>
            <a:off x="3803561" y="2648668"/>
            <a:ext cx="2799009" cy="80467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lang="en-US" sz="1700" b="1" dirty="0">
                <a:solidFill>
                  <a:srgbClr val="1E1E1E"/>
                </a:solidFill>
                <a:latin typeface="Arial"/>
              </a:rPr>
              <a:t>Monetization Practice</a:t>
            </a:r>
            <a:endParaRPr sz="1250" dirty="0">
              <a:solidFill>
                <a:srgbClr val="414141"/>
              </a:solidFill>
              <a:latin typeface="Arial"/>
            </a:endParaRP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5A30719F-F39C-853C-6BD1-0241F4491766}"/>
              </a:ext>
            </a:extLst>
          </p:cNvPr>
          <p:cNvSpPr/>
          <p:nvPr/>
        </p:nvSpPr>
        <p:spPr>
          <a:xfrm>
            <a:off x="796344" y="4990476"/>
            <a:ext cx="2799009" cy="80467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lang="en-US" sz="1700" b="1" dirty="0">
                <a:solidFill>
                  <a:srgbClr val="1E1E1E"/>
                </a:solidFill>
                <a:latin typeface="Arial"/>
              </a:rPr>
              <a:t>Align with gameplay? </a:t>
            </a:r>
            <a:endParaRPr sz="1250" dirty="0">
              <a:solidFill>
                <a:srgbClr val="414141"/>
              </a:solidFill>
              <a:latin typeface="Arial"/>
            </a:endParaRP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1D555595-D557-D0E0-24EE-D0DD9A9B61EC}"/>
              </a:ext>
            </a:extLst>
          </p:cNvPr>
          <p:cNvSpPr/>
          <p:nvPr/>
        </p:nvSpPr>
        <p:spPr>
          <a:xfrm>
            <a:off x="7516969" y="3657513"/>
            <a:ext cx="2799009" cy="80467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lang="en-US" sz="1700" b="1" dirty="0">
                <a:solidFill>
                  <a:srgbClr val="1E1E1E"/>
                </a:solidFill>
                <a:latin typeface="Arial"/>
              </a:rPr>
              <a:t>Do Country structure support? </a:t>
            </a:r>
            <a:endParaRPr sz="1250" dirty="0">
              <a:solidFill>
                <a:srgbClr val="414141"/>
              </a:solidFill>
              <a:latin typeface="Arial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9F24662-C57E-158F-C674-B0DA3AD381D0}"/>
              </a:ext>
            </a:extLst>
          </p:cNvPr>
          <p:cNvCxnSpPr>
            <a:cxnSpLocks/>
            <a:stCxn id="8" idx="1"/>
            <a:endCxn id="9" idx="0"/>
          </p:cNvCxnSpPr>
          <p:nvPr/>
        </p:nvCxnSpPr>
        <p:spPr>
          <a:xfrm rot="10800000" flipV="1">
            <a:off x="2195849" y="3051004"/>
            <a:ext cx="1607712" cy="1939472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F45B935-9404-DA45-CAD7-7BD6425E71DB}"/>
              </a:ext>
            </a:extLst>
          </p:cNvPr>
          <p:cNvCxnSpPr>
            <a:cxnSpLocks/>
            <a:stCxn id="8" idx="2"/>
            <a:endCxn id="10" idx="1"/>
          </p:cNvCxnSpPr>
          <p:nvPr/>
        </p:nvCxnSpPr>
        <p:spPr>
          <a:xfrm rot="16200000" flipH="1">
            <a:off x="6056763" y="2599642"/>
            <a:ext cx="606509" cy="2313903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9D6E810-B5AF-F9A7-9C6C-2C1510837B1A}"/>
              </a:ext>
            </a:extLst>
          </p:cNvPr>
          <p:cNvSpPr txBox="1"/>
          <p:nvPr/>
        </p:nvSpPr>
        <p:spPr>
          <a:xfrm>
            <a:off x="1551904" y="2648668"/>
            <a:ext cx="20434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Overall Acceptable</a:t>
            </a:r>
            <a:endParaRPr lang="fi-FI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16898E-F255-5710-E811-8763A63E8CE5}"/>
              </a:ext>
            </a:extLst>
          </p:cNvPr>
          <p:cNvSpPr txBox="1"/>
          <p:nvPr/>
        </p:nvSpPr>
        <p:spPr>
          <a:xfrm>
            <a:off x="94444" y="5861862"/>
            <a:ext cx="63063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Under a particular context:</a:t>
            </a:r>
            <a:r>
              <a:rPr lang="en-US" dirty="0"/>
              <a:t> The same monetization practice may have </a:t>
            </a:r>
            <a:r>
              <a:rPr lang="en-US" b="1" dirty="0"/>
              <a:t>no benefit or even a negative relationship with success</a:t>
            </a:r>
            <a:r>
              <a:rPr lang="en-US" dirty="0"/>
              <a:t>.</a:t>
            </a:r>
            <a:endParaRPr lang="fi-FI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5B6402-CAC3-E8B0-6579-BF3F0C1A3FF8}"/>
              </a:ext>
            </a:extLst>
          </p:cNvPr>
          <p:cNvSpPr txBox="1"/>
          <p:nvPr/>
        </p:nvSpPr>
        <p:spPr>
          <a:xfrm>
            <a:off x="5632360" y="4767158"/>
            <a:ext cx="669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 practice can appear successful overall while, at the same time, becoming unsuccessful under particular contextual conditions</a:t>
            </a:r>
            <a:endParaRPr lang="fi-FI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024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C2E16B-13EC-4CD7-881C-F80E042E881D}"/>
              </a:ext>
            </a:extLst>
          </p:cNvPr>
          <p:cNvSpPr txBox="1"/>
          <p:nvPr/>
        </p:nvSpPr>
        <p:spPr>
          <a:xfrm>
            <a:off x="551430" y="347472"/>
            <a:ext cx="487825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700" b="1" dirty="0">
                <a:solidFill>
                  <a:srgbClr val="1E1E1E"/>
                </a:solidFill>
                <a:latin typeface="Arial"/>
              </a:rPr>
              <a:t>Cultural Paradox of Success</a:t>
            </a:r>
            <a:endParaRPr sz="2700" b="1" dirty="0">
              <a:solidFill>
                <a:srgbClr val="1E1E1E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06FB62-FEBD-0E20-882C-5E6871DAA364}"/>
              </a:ext>
            </a:extLst>
          </p:cNvPr>
          <p:cNvSpPr txBox="1"/>
          <p:nvPr/>
        </p:nvSpPr>
        <p:spPr>
          <a:xfrm>
            <a:off x="281189" y="4091119"/>
            <a:ext cx="116446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this study, </a:t>
            </a:r>
            <a:r>
              <a:rPr lang="en-US" dirty="0">
                <a:solidFill>
                  <a:srgbClr val="C00000"/>
                </a:solidFill>
              </a:rPr>
              <a:t>monetization is the practice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	We first ask whether the relationship of </a:t>
            </a:r>
            <a:r>
              <a:rPr lang="en-US" b="1" dirty="0"/>
              <a:t>Ads/IAP with marketplace success is conditional on genre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Genre provides the internal game context.</a:t>
            </a:r>
            <a:r>
              <a:rPr lang="en-US" dirty="0"/>
              <a:t> It helps reveal whether monetization succeeds when it is aligned with particular </a:t>
            </a:r>
            <a:r>
              <a:rPr lang="en-US" b="1" dirty="0"/>
              <a:t>forms of play</a:t>
            </a:r>
            <a:r>
              <a:rPr lang="en-US" dirty="0"/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we test it across 42 countries x 14 month time in each country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 the central idea is: </a:t>
            </a:r>
            <a:r>
              <a:rPr lang="en-US" b="1" dirty="0">
                <a:solidFill>
                  <a:srgbClr val="C00000"/>
                </a:solidFill>
              </a:rPr>
              <a:t>a successful practice is not inherently successful; its success is conditional on its alignment with the context in which it operates.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	</a:t>
            </a:r>
            <a:endParaRPr lang="fi-FI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4A775C-A305-8503-0881-E4AC47F41892}"/>
              </a:ext>
            </a:extLst>
          </p:cNvPr>
          <p:cNvSpPr txBox="1"/>
          <p:nvPr/>
        </p:nvSpPr>
        <p:spPr>
          <a:xfrm>
            <a:off x="382074" y="1009988"/>
            <a:ext cx="113291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Finding that a practice works is only the first result. We need to identify the conditions under which it works.</a:t>
            </a:r>
          </a:p>
          <a:p>
            <a:r>
              <a:rPr lang="en-US" dirty="0"/>
              <a:t> </a:t>
            </a:r>
          </a:p>
          <a:p>
            <a:r>
              <a:rPr lang="en-US" b="1" dirty="0"/>
              <a:t>ad frequency:</a:t>
            </a:r>
            <a:r>
              <a:rPr lang="en-US" dirty="0"/>
              <a:t> Suppose an aggregate analysis shows that a certain ad frequency is associated with higher success. The immediate interpretation might be: </a:t>
            </a:r>
            <a:r>
              <a:rPr lang="en-US" b="1" dirty="0"/>
              <a:t>“this frequency works.”</a:t>
            </a:r>
          </a:p>
          <a:p>
            <a:endParaRPr lang="en-US" b="1" dirty="0"/>
          </a:p>
          <a:p>
            <a:r>
              <a:rPr lang="en-US" dirty="0"/>
              <a:t>Therefore, the useful question is not only </a:t>
            </a:r>
            <a:r>
              <a:rPr lang="en-US" b="1" dirty="0"/>
              <a:t>“Is this ad frequency successful?”</a:t>
            </a:r>
            <a:r>
              <a:rPr lang="en-US" dirty="0"/>
              <a:t> but </a:t>
            </a:r>
            <a:r>
              <a:rPr lang="en-US" b="1" dirty="0"/>
              <a:t>“Under what form of play does this ad frequency become successful?”</a:t>
            </a:r>
          </a:p>
          <a:p>
            <a:endParaRPr lang="en-US" b="1" dirty="0"/>
          </a:p>
          <a:p>
            <a:r>
              <a:rPr lang="en-US" b="1" dirty="0"/>
              <a:t>However, </a:t>
            </a:r>
            <a:r>
              <a:rPr lang="fi-FI" dirty="0" err="1"/>
              <a:t>analysing</a:t>
            </a:r>
            <a:r>
              <a:rPr lang="fi-FI" dirty="0"/>
              <a:t> </a:t>
            </a:r>
            <a:r>
              <a:rPr lang="fi-FI" dirty="0" err="1"/>
              <a:t>variables</a:t>
            </a:r>
            <a:r>
              <a:rPr lang="fi-FI" dirty="0"/>
              <a:t> </a:t>
            </a:r>
            <a:r>
              <a:rPr lang="fi-FI" dirty="0" err="1"/>
              <a:t>together</a:t>
            </a:r>
            <a:r>
              <a:rPr lang="fi-FI" dirty="0"/>
              <a:t>  </a:t>
            </a:r>
            <a:r>
              <a:rPr lang="en-US" dirty="0"/>
              <a:t>to test whether the </a:t>
            </a:r>
            <a:r>
              <a:rPr lang="en-US" b="1" dirty="0"/>
              <a:t>relationship between the practice and success changes conditional on another variable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128977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1E1E"/>
                </a:solidFill>
                <a:latin typeface="Arial"/>
              </a:rPr>
              <a:t>What the Results Are Showing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3429000" cy="18288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sz="1700" b="1">
                <a:solidFill>
                  <a:srgbClr val="1E1E1E"/>
                </a:solidFill>
                <a:latin typeface="Arial"/>
              </a:rPr>
              <a:t>Ads-oriented patterns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414141"/>
                </a:solidFill>
                <a:latin typeface="Arial"/>
              </a:rPr>
              <a:t>Stronger in Casual / Puzzle
Shorter, interruptible,
self-contained play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sz="1700" b="1">
                <a:solidFill>
                  <a:srgbClr val="1E1E1E"/>
                </a:solidFill>
                <a:latin typeface="Arial"/>
              </a:rPr>
              <a:t>IAP-oriented patterns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414141"/>
                </a:solidFill>
                <a:latin typeface="Arial"/>
              </a:rPr>
              <a:t>Stronger in RPG / Strategy /
Simulation
Persistent progression and
resource investment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325880"/>
            <a:ext cx="3429000" cy="18288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sz="1700" b="1">
                <a:solidFill>
                  <a:srgbClr val="1E1E1E"/>
                </a:solidFill>
                <a:latin typeface="Arial"/>
              </a:rPr>
              <a:t>Across environments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414141"/>
                </a:solidFill>
                <a:latin typeface="Arial"/>
              </a:rPr>
              <a:t>Patterns recur across markets
and remain stable over time,
but magnitude differs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3886200"/>
            <a:ext cx="4297680" cy="13258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sz="1700" b="1">
                <a:solidFill>
                  <a:srgbClr val="1E1E1E"/>
                </a:solidFill>
                <a:latin typeface="Arial"/>
              </a:rPr>
              <a:t>Ads stronger where…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414141"/>
                </a:solidFill>
                <a:latin typeface="Arial"/>
              </a:rPr>
              <a:t>younger populations and comparatively lower purchasing power / digital-payment participation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3886200"/>
            <a:ext cx="4297680" cy="13258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sz="1700" b="1">
                <a:solidFill>
                  <a:srgbClr val="1E1E1E"/>
                </a:solidFill>
                <a:latin typeface="Arial"/>
              </a:rPr>
              <a:t>IAP stronger where…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414141"/>
                </a:solidFill>
                <a:latin typeface="Arial"/>
              </a:rPr>
              <a:t>greater purchasing power, development, Internet penetration and digital-payment adoption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1E1E"/>
                </a:solidFill>
                <a:latin typeface="Arial"/>
              </a:rPr>
              <a:t>How the Contribution Has Advanced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074920" cy="2057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sz="1700" b="1">
                <a:solidFill>
                  <a:srgbClr val="1E1E1E"/>
                </a:solidFill>
                <a:latin typeface="Arial"/>
              </a:rPr>
              <a:t>Methodological contribution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414141"/>
                </a:solidFill>
                <a:latin typeface="Arial"/>
              </a:rPr>
              <a:t>The Interaction-Analysis Framework is now demonstrated through a theoretically motivated, context-sensitive game research problem.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417320"/>
            <a:ext cx="5074920" cy="2057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sz="1700" b="1">
                <a:solidFill>
                  <a:srgbClr val="1E1E1E"/>
                </a:solidFill>
                <a:latin typeface="Arial"/>
              </a:rPr>
              <a:t>Empirical / conceptual contribution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414141"/>
                </a:solidFill>
                <a:latin typeface="Arial"/>
              </a:rPr>
              <a:t>Aggregate monetization patterns can recur broadly while retaining different significance across forms of play and marketplace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160520"/>
            <a:ext cx="8138160" cy="1143000"/>
          </a:xfrm>
          <a:prstGeom prst="roundRect">
            <a:avLst/>
          </a:prstGeom>
          <a:solidFill>
            <a:srgbClr val="414141"/>
          </a:solidFill>
          <a:ln w="12700">
            <a:solidFill>
              <a:srgbClr val="4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64592" bIns="9144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Cultural Paradox of Success</a:t>
            </a:r>
          </a:p>
          <a:p>
            <a:pPr algn="ctr">
              <a:spcBef>
                <a:spcPts val="800"/>
              </a:spcBef>
            </a:pPr>
            <a:r>
              <a:rPr sz="1250">
                <a:solidFill>
                  <a:srgbClr val="FFFFFF"/>
                </a:solidFill>
                <a:latin typeface="Arial"/>
              </a:rPr>
              <a:t>Broad empirical regularity can coexist with systematic contextual differentiation.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73F768-4A35-696C-D06A-B0E456CB62D6}"/>
              </a:ext>
            </a:extLst>
          </p:cNvPr>
          <p:cNvSpPr/>
          <p:nvPr/>
        </p:nvSpPr>
        <p:spPr>
          <a:xfrm>
            <a:off x="562262" y="1157562"/>
            <a:ext cx="1730177" cy="7694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3605EB-30A0-82F4-46D5-05C24631216C}"/>
              </a:ext>
            </a:extLst>
          </p:cNvPr>
          <p:cNvSpPr txBox="1"/>
          <p:nvPr/>
        </p:nvSpPr>
        <p:spPr>
          <a:xfrm>
            <a:off x="562262" y="1166148"/>
            <a:ext cx="1730178" cy="7540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endParaRPr lang="fi-FI" sz="1200" dirty="0">
              <a:latin typeface="Whitney-Semibold" panose="0200060304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DC743-41F1-8F44-4976-F51311C1BD3A}"/>
              </a:ext>
            </a:extLst>
          </p:cNvPr>
          <p:cNvSpPr txBox="1"/>
          <p:nvPr/>
        </p:nvSpPr>
        <p:spPr>
          <a:xfrm>
            <a:off x="626771" y="1226829"/>
            <a:ext cx="1465867" cy="7232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Segoe UI Variable Small Semibol" pitchFamily="2" charset="0"/>
              </a:rPr>
              <a:t>1,778,700</a:t>
            </a:r>
          </a:p>
          <a:p>
            <a:pPr algn="ctr"/>
            <a:r>
              <a:rPr lang="en-US" sz="1100" dirty="0">
                <a:latin typeface="Segoe UI Variable Small Semibol" pitchFamily="2" charset="0"/>
              </a:rPr>
              <a:t> </a:t>
            </a:r>
            <a:r>
              <a:rPr lang="en-US" sz="800" dirty="0">
                <a:latin typeface="Segoe UI Variable Small Semibol" pitchFamily="2" charset="0"/>
              </a:rPr>
              <a:t>game–market–month observations of free-to-play (F2P) Android games </a:t>
            </a:r>
            <a:endParaRPr lang="fi-FI" sz="800" dirty="0">
              <a:latin typeface="Segoe UI Variable Small Semibol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1B86C2-6F02-EDC3-5256-5CBDE27ABDD0}"/>
              </a:ext>
            </a:extLst>
          </p:cNvPr>
          <p:cNvSpPr txBox="1"/>
          <p:nvPr/>
        </p:nvSpPr>
        <p:spPr>
          <a:xfrm>
            <a:off x="2625143" y="1176261"/>
            <a:ext cx="1757965" cy="7540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endParaRPr lang="fi-FI" sz="1200" dirty="0">
              <a:latin typeface="Whitney-Semibold" panose="0200060304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82B140-EA7B-6EB4-EC7A-002CF00621D5}"/>
              </a:ext>
            </a:extLst>
          </p:cNvPr>
          <p:cNvSpPr txBox="1"/>
          <p:nvPr/>
        </p:nvSpPr>
        <p:spPr>
          <a:xfrm>
            <a:off x="2728174" y="1247714"/>
            <a:ext cx="1654934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Segoe UI Variable Small Semibol" pitchFamily="2" charset="0"/>
              </a:rPr>
              <a:t>Ads</a:t>
            </a:r>
            <a:r>
              <a:rPr lang="en-US" sz="1050" dirty="0">
                <a:latin typeface="Segoe UI Variable Small Semibol" pitchFamily="2" charset="0"/>
              </a:rPr>
              <a:t> availability</a:t>
            </a:r>
            <a:r>
              <a:rPr lang="en-US" sz="1400" dirty="0">
                <a:latin typeface="Segoe UI Variable Small Semibol" pitchFamily="2" charset="0"/>
              </a:rPr>
              <a:t>; </a:t>
            </a:r>
          </a:p>
          <a:p>
            <a:pPr algn="ctr"/>
            <a:r>
              <a:rPr lang="en-US" sz="1400" dirty="0">
                <a:latin typeface="Segoe UI Variable Small Semibol" pitchFamily="2" charset="0"/>
              </a:rPr>
              <a:t>IAP </a:t>
            </a:r>
            <a:r>
              <a:rPr lang="en-US" sz="1050" dirty="0">
                <a:latin typeface="Segoe UI Variable Small Semibol" pitchFamily="2" charset="0"/>
              </a:rPr>
              <a:t>availability </a:t>
            </a:r>
            <a:r>
              <a:rPr lang="en-US" sz="1000" dirty="0">
                <a:latin typeface="Segoe UI Variable Small Semibol" pitchFamily="2" charset="0"/>
              </a:rPr>
              <a:t>— </a:t>
            </a:r>
            <a:r>
              <a:rPr lang="en-US" sz="800" dirty="0" err="1">
                <a:latin typeface="Segoe UI Variable Small Semibol" pitchFamily="2" charset="0"/>
              </a:rPr>
              <a:t>analysed</a:t>
            </a:r>
            <a:r>
              <a:rPr lang="en-US" sz="800" dirty="0">
                <a:latin typeface="Segoe UI Variable Small Semibol" pitchFamily="2" charset="0"/>
              </a:rPr>
              <a:t> separately</a:t>
            </a:r>
            <a:endParaRPr lang="fi-FI" sz="800" dirty="0">
              <a:latin typeface="Segoe UI Variable Small Semibol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A3E6F0-34FA-A1F3-781F-4196A3D68798}"/>
              </a:ext>
            </a:extLst>
          </p:cNvPr>
          <p:cNvSpPr txBox="1"/>
          <p:nvPr/>
        </p:nvSpPr>
        <p:spPr>
          <a:xfrm>
            <a:off x="4713667" y="1176261"/>
            <a:ext cx="2237002" cy="7540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endParaRPr lang="fi-FI" sz="1200" dirty="0">
              <a:latin typeface="Whitney-Semibold" panose="0200060304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076845-6346-FADD-B9F2-6F12DE6AB03E}"/>
              </a:ext>
            </a:extLst>
          </p:cNvPr>
          <p:cNvSpPr txBox="1"/>
          <p:nvPr/>
        </p:nvSpPr>
        <p:spPr>
          <a:xfrm>
            <a:off x="4675032" y="1181527"/>
            <a:ext cx="2270974" cy="7386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Segoe UI Variable Small Semibol" pitchFamily="2" charset="0"/>
              </a:rPr>
              <a:t>10 </a:t>
            </a:r>
            <a:r>
              <a:rPr lang="en-US" sz="1050" dirty="0">
                <a:latin typeface="Segoe UI Variable Small Semibol" pitchFamily="2" charset="0"/>
              </a:rPr>
              <a:t>genres (one-vs-rest);</a:t>
            </a:r>
          </a:p>
          <a:p>
            <a:pPr algn="ctr"/>
            <a:r>
              <a:rPr lang="en-US" sz="1050" dirty="0">
                <a:latin typeface="Segoe UI Variable Small Semibol" pitchFamily="2" charset="0"/>
              </a:rPr>
              <a:t> </a:t>
            </a:r>
            <a:r>
              <a:rPr lang="en-US" sz="1400" dirty="0">
                <a:latin typeface="Segoe UI Variable Small Semibol" pitchFamily="2" charset="0"/>
              </a:rPr>
              <a:t>42 </a:t>
            </a:r>
            <a:r>
              <a:rPr lang="en-US" sz="1050" dirty="0">
                <a:latin typeface="Segoe UI Variable Small Semibol" pitchFamily="2" charset="0"/>
              </a:rPr>
              <a:t>national markets; </a:t>
            </a:r>
          </a:p>
          <a:p>
            <a:pPr algn="ctr"/>
            <a:r>
              <a:rPr lang="en-US" sz="1400" dirty="0">
                <a:latin typeface="Segoe UI Variable Small Semibol" pitchFamily="2" charset="0"/>
              </a:rPr>
              <a:t>14 </a:t>
            </a:r>
            <a:r>
              <a:rPr lang="en-US" sz="1050" dirty="0">
                <a:latin typeface="Segoe UI Variable Small Semibol" pitchFamily="2" charset="0"/>
              </a:rPr>
              <a:t>months, Jan 2025–Feb 2026</a:t>
            </a:r>
            <a:endParaRPr lang="fi-FI" sz="1050" dirty="0">
              <a:latin typeface="Segoe UI Variable Small Semibol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D04E86-34CF-CA19-A710-061F2F39E8F7}"/>
              </a:ext>
            </a:extLst>
          </p:cNvPr>
          <p:cNvSpPr txBox="1"/>
          <p:nvPr/>
        </p:nvSpPr>
        <p:spPr>
          <a:xfrm>
            <a:off x="7212166" y="1198363"/>
            <a:ext cx="1828799" cy="7540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endParaRPr lang="fi-FI" sz="1200" dirty="0">
              <a:latin typeface="Whitney-Semibold" panose="02000603040000020004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EAC5D1-47E0-7919-0CFE-35B0F34CCEEB}"/>
              </a:ext>
            </a:extLst>
          </p:cNvPr>
          <p:cNvSpPr txBox="1"/>
          <p:nvPr/>
        </p:nvSpPr>
        <p:spPr>
          <a:xfrm>
            <a:off x="7248590" y="1217664"/>
            <a:ext cx="1687133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Segoe UI Variable Small Semibol" pitchFamily="2" charset="0"/>
              </a:rPr>
              <a:t>Install success &amp;</a:t>
            </a:r>
          </a:p>
          <a:p>
            <a:pPr algn="ctr"/>
            <a:r>
              <a:rPr lang="en-US" sz="1400" dirty="0">
                <a:latin typeface="Segoe UI Variable Small Semibol" pitchFamily="2" charset="0"/>
              </a:rPr>
              <a:t>rating success </a:t>
            </a:r>
          </a:p>
          <a:p>
            <a:pPr algn="ctr"/>
            <a:r>
              <a:rPr lang="en-US" sz="800" dirty="0">
                <a:latin typeface="Segoe UI Variable Small Semibol" pitchFamily="2" charset="0"/>
              </a:rPr>
              <a:t>at or above the</a:t>
            </a:r>
          </a:p>
          <a:p>
            <a:pPr algn="ctr"/>
            <a:r>
              <a:rPr lang="en-US" sz="800" dirty="0">
                <a:latin typeface="Segoe UI Variable Small Semibol" pitchFamily="2" charset="0"/>
              </a:rPr>
              <a:t> country–month median</a:t>
            </a:r>
            <a:endParaRPr lang="fi-FI" sz="800" dirty="0">
              <a:latin typeface="Segoe UI Variable Small Semibol" pitchFamily="2" charset="0"/>
            </a:endParaRP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8BA5597E-DCEE-11EB-D271-9EAECB451531}"/>
              </a:ext>
            </a:extLst>
          </p:cNvPr>
          <p:cNvSpPr txBox="1"/>
          <p:nvPr/>
        </p:nvSpPr>
        <p:spPr>
          <a:xfrm>
            <a:off x="9283517" y="1198699"/>
            <a:ext cx="2054181" cy="7540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endParaRPr lang="fi-FI" sz="1200" dirty="0">
              <a:latin typeface="Whitney-Semibold" panose="02000603040000020004" pitchFamily="2" charset="0"/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4E45C1FD-26C6-B6D1-BF95-CA94DB735A9A}"/>
              </a:ext>
            </a:extLst>
          </p:cNvPr>
          <p:cNvSpPr txBox="1"/>
          <p:nvPr/>
        </p:nvSpPr>
        <p:spPr>
          <a:xfrm>
            <a:off x="9247028" y="1252587"/>
            <a:ext cx="2090670" cy="68480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Segoe UI Variable Small Semibol" pitchFamily="2" charset="0"/>
              </a:rPr>
              <a:t>2×2 tables per stratum </a:t>
            </a:r>
          </a:p>
          <a:p>
            <a:pPr algn="ctr"/>
            <a:r>
              <a:rPr lang="fr-FR" sz="1400" dirty="0">
                <a:latin typeface="Segoe UI Variable Small Semibol" pitchFamily="2" charset="0"/>
              </a:rPr>
              <a:t>→ </a:t>
            </a:r>
            <a:r>
              <a:rPr lang="fr-FR" sz="1050" dirty="0" err="1">
                <a:latin typeface="Segoe UI Variable Small Semibol" pitchFamily="2" charset="0"/>
              </a:rPr>
              <a:t>conditional</a:t>
            </a:r>
            <a:r>
              <a:rPr lang="fr-FR" sz="1050" dirty="0">
                <a:latin typeface="Segoe UI Variable Small Semibol" pitchFamily="2" charset="0"/>
              </a:rPr>
              <a:t> </a:t>
            </a:r>
            <a:r>
              <a:rPr lang="fr-FR" sz="1050" dirty="0" err="1">
                <a:latin typeface="Segoe UI Variable Small Semibol" pitchFamily="2" charset="0"/>
              </a:rPr>
              <a:t>probabilities</a:t>
            </a:r>
            <a:r>
              <a:rPr lang="fr-FR" sz="1050" dirty="0">
                <a:latin typeface="Segoe UI Variable Small Semibol" pitchFamily="2" charset="0"/>
              </a:rPr>
              <a:t> </a:t>
            </a:r>
          </a:p>
          <a:p>
            <a:pPr algn="ctr"/>
            <a:r>
              <a:rPr lang="fr-FR" sz="1050" dirty="0">
                <a:latin typeface="Segoe UI Variable Small Semibol" pitchFamily="2" charset="0"/>
              </a:rPr>
              <a:t>→ DDP, </a:t>
            </a:r>
            <a:r>
              <a:rPr lang="fr-FR" sz="1050" dirty="0" err="1">
                <a:latin typeface="Segoe UI Variable Small Semibol" pitchFamily="2" charset="0"/>
              </a:rPr>
              <a:t>RoR</a:t>
            </a:r>
            <a:r>
              <a:rPr lang="fr-FR" sz="1050" dirty="0">
                <a:latin typeface="Segoe UI Variable Small Semibol" pitchFamily="2" charset="0"/>
              </a:rPr>
              <a:t> (95% CI)</a:t>
            </a:r>
            <a:endParaRPr lang="fi-FI" sz="1050" dirty="0">
              <a:latin typeface="Segoe UI Variable Small Semibol" pitchFamily="2" charset="0"/>
            </a:endParaRP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21619ADD-0DD5-A236-CFEB-5B8CDE6084BF}"/>
              </a:ext>
            </a:extLst>
          </p:cNvPr>
          <p:cNvSpPr/>
          <p:nvPr/>
        </p:nvSpPr>
        <p:spPr>
          <a:xfrm>
            <a:off x="2612264" y="1175343"/>
            <a:ext cx="1770844" cy="7694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5F773536-D90B-66F1-2B11-90D18DC5022D}"/>
              </a:ext>
            </a:extLst>
          </p:cNvPr>
          <p:cNvSpPr/>
          <p:nvPr/>
        </p:nvSpPr>
        <p:spPr>
          <a:xfrm>
            <a:off x="4696495" y="1175343"/>
            <a:ext cx="2254173" cy="7694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306E2D9E-46A9-A47C-7BF0-07435BD64979}"/>
              </a:ext>
            </a:extLst>
          </p:cNvPr>
          <p:cNvSpPr/>
          <p:nvPr/>
        </p:nvSpPr>
        <p:spPr>
          <a:xfrm>
            <a:off x="7216458" y="1185751"/>
            <a:ext cx="1824508" cy="7694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41F5DEF0-F32A-CE18-C548-5E3929496CAC}"/>
              </a:ext>
            </a:extLst>
          </p:cNvPr>
          <p:cNvSpPr/>
          <p:nvPr/>
        </p:nvSpPr>
        <p:spPr>
          <a:xfrm>
            <a:off x="9283517" y="1182348"/>
            <a:ext cx="2054182" cy="7694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91821B-1443-370E-6E64-2D5443EA1516}"/>
              </a:ext>
            </a:extLst>
          </p:cNvPr>
          <p:cNvSpPr/>
          <p:nvPr/>
        </p:nvSpPr>
        <p:spPr>
          <a:xfrm>
            <a:off x="562262" y="962102"/>
            <a:ext cx="1620528" cy="2661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Population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597AE7-6B71-98F1-32D6-4AD084E0FA80}"/>
              </a:ext>
            </a:extLst>
          </p:cNvPr>
          <p:cNvSpPr/>
          <p:nvPr/>
        </p:nvSpPr>
        <p:spPr>
          <a:xfrm>
            <a:off x="4713667" y="962102"/>
            <a:ext cx="1620528" cy="2661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Context (c)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106AF3-D335-E39C-587A-7E08075ACA9E}"/>
              </a:ext>
            </a:extLst>
          </p:cNvPr>
          <p:cNvSpPr/>
          <p:nvPr/>
        </p:nvSpPr>
        <p:spPr>
          <a:xfrm>
            <a:off x="2638022" y="969731"/>
            <a:ext cx="1620528" cy="2661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Focal Feature (r)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99C4B1-A2A0-4016-E3E4-9B8A3550F10B}"/>
              </a:ext>
            </a:extLst>
          </p:cNvPr>
          <p:cNvSpPr/>
          <p:nvPr/>
        </p:nvSpPr>
        <p:spPr>
          <a:xfrm>
            <a:off x="7216458" y="965885"/>
            <a:ext cx="1620528" cy="2661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Outcome (y)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AA85E6-93F9-580D-65AE-A4C320CCC2B2}"/>
              </a:ext>
            </a:extLst>
          </p:cNvPr>
          <p:cNvSpPr/>
          <p:nvPr/>
        </p:nvSpPr>
        <p:spPr>
          <a:xfrm>
            <a:off x="9283517" y="970020"/>
            <a:ext cx="1620528" cy="2661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Estimation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D184772A-08A2-00AB-6654-37FD74FEAE5E}"/>
              </a:ext>
            </a:extLst>
          </p:cNvPr>
          <p:cNvSpPr txBox="1"/>
          <p:nvPr/>
        </p:nvSpPr>
        <p:spPr>
          <a:xfrm>
            <a:off x="5035639" y="386297"/>
            <a:ext cx="20906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Segoe UI Variable Small Semibol" pitchFamily="2" charset="0"/>
              </a:rPr>
              <a:t>DATA &amp; DESIGN</a:t>
            </a:r>
            <a:endParaRPr lang="fi-FI" sz="2000" dirty="0">
              <a:latin typeface="Segoe UI Variable Small Semibo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740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4" name="Picture 1543">
            <a:extLst>
              <a:ext uri="{FF2B5EF4-FFF2-40B4-BE49-F238E27FC236}">
                <a16:creationId xmlns:a16="http://schemas.microsoft.com/office/drawing/2014/main" id="{638A41FC-D81C-08A8-2255-682CBCA7F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737" y="4769484"/>
            <a:ext cx="1283594" cy="907909"/>
          </a:xfrm>
          <a:prstGeom prst="rect">
            <a:avLst/>
          </a:prstGeom>
        </p:spPr>
      </p:pic>
      <p:sp>
        <p:nvSpPr>
          <p:cNvPr id="1517" name="TextBox 1516">
            <a:extLst>
              <a:ext uri="{FF2B5EF4-FFF2-40B4-BE49-F238E27FC236}">
                <a16:creationId xmlns:a16="http://schemas.microsoft.com/office/drawing/2014/main" id="{F3E3851A-943A-6C55-176C-06C4ADA62DCE}"/>
              </a:ext>
            </a:extLst>
          </p:cNvPr>
          <p:cNvSpPr txBox="1"/>
          <p:nvPr/>
        </p:nvSpPr>
        <p:spPr>
          <a:xfrm>
            <a:off x="10023633" y="244796"/>
            <a:ext cx="2099679" cy="6712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endParaRPr lang="fi-FI" sz="1200" dirty="0">
              <a:latin typeface="Whitney-Semibold" panose="02000603040000020004" pitchFamily="2" charset="0"/>
            </a:endParaRPr>
          </a:p>
        </p:txBody>
      </p:sp>
      <p:sp>
        <p:nvSpPr>
          <p:cNvPr id="1157" name="Rectangle 1156">
            <a:extLst>
              <a:ext uri="{FF2B5EF4-FFF2-40B4-BE49-F238E27FC236}">
                <a16:creationId xmlns:a16="http://schemas.microsoft.com/office/drawing/2014/main" id="{6013EF4D-8793-3E1F-F85E-4FFCC2EA34A4}"/>
              </a:ext>
            </a:extLst>
          </p:cNvPr>
          <p:cNvSpPr/>
          <p:nvPr/>
        </p:nvSpPr>
        <p:spPr>
          <a:xfrm>
            <a:off x="192467" y="4002638"/>
            <a:ext cx="2665928" cy="2883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87" name="Rectangle 1386">
            <a:extLst>
              <a:ext uri="{FF2B5EF4-FFF2-40B4-BE49-F238E27FC236}">
                <a16:creationId xmlns:a16="http://schemas.microsoft.com/office/drawing/2014/main" id="{F7DE9A5D-F48C-2B90-CC5A-18D9B9B4EC3E}"/>
              </a:ext>
            </a:extLst>
          </p:cNvPr>
          <p:cNvSpPr/>
          <p:nvPr/>
        </p:nvSpPr>
        <p:spPr>
          <a:xfrm>
            <a:off x="1578007" y="2077366"/>
            <a:ext cx="1240758" cy="339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77" name="Rectangle 1376">
            <a:extLst>
              <a:ext uri="{FF2B5EF4-FFF2-40B4-BE49-F238E27FC236}">
                <a16:creationId xmlns:a16="http://schemas.microsoft.com/office/drawing/2014/main" id="{7DE8FC87-2C86-6C75-6C54-657EB468B048}"/>
              </a:ext>
            </a:extLst>
          </p:cNvPr>
          <p:cNvSpPr/>
          <p:nvPr/>
        </p:nvSpPr>
        <p:spPr>
          <a:xfrm>
            <a:off x="227525" y="2077366"/>
            <a:ext cx="1081825" cy="3482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462C7F-02D0-DEAD-EDD6-AC5CE8F986D9}"/>
              </a:ext>
            </a:extLst>
          </p:cNvPr>
          <p:cNvSpPr/>
          <p:nvPr/>
        </p:nvSpPr>
        <p:spPr>
          <a:xfrm>
            <a:off x="69979" y="278462"/>
            <a:ext cx="2853528" cy="645289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9048BB-D5FA-A165-E36D-4118D8523B3C}"/>
              </a:ext>
            </a:extLst>
          </p:cNvPr>
          <p:cNvSpPr txBox="1"/>
          <p:nvPr/>
        </p:nvSpPr>
        <p:spPr>
          <a:xfrm>
            <a:off x="69979" y="291310"/>
            <a:ext cx="2853528" cy="5958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endParaRPr lang="fi-FI" sz="1200" dirty="0">
              <a:latin typeface="Whitney-Semibold" panose="0200060304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E3B9F9-15A4-A4E2-E84C-53FCCCB89A8E}"/>
              </a:ext>
            </a:extLst>
          </p:cNvPr>
          <p:cNvSpPr/>
          <p:nvPr/>
        </p:nvSpPr>
        <p:spPr>
          <a:xfrm>
            <a:off x="344861" y="2618648"/>
            <a:ext cx="738365" cy="409912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5B784-1382-F7F5-2093-1502219DABE8}"/>
              </a:ext>
            </a:extLst>
          </p:cNvPr>
          <p:cNvSpPr txBox="1"/>
          <p:nvPr/>
        </p:nvSpPr>
        <p:spPr>
          <a:xfrm>
            <a:off x="634749" y="2733532"/>
            <a:ext cx="3864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Ad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BA0A1A-4A67-BCE9-D4AE-1B6E707C9433}"/>
              </a:ext>
            </a:extLst>
          </p:cNvPr>
          <p:cNvSpPr txBox="1"/>
          <p:nvPr/>
        </p:nvSpPr>
        <p:spPr>
          <a:xfrm>
            <a:off x="634748" y="3258926"/>
            <a:ext cx="38645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IAP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7BA2A4-1231-7124-C08B-A2A85AD22023}"/>
              </a:ext>
            </a:extLst>
          </p:cNvPr>
          <p:cNvSpPr txBox="1"/>
          <p:nvPr/>
        </p:nvSpPr>
        <p:spPr>
          <a:xfrm>
            <a:off x="227003" y="2056587"/>
            <a:ext cx="1136932" cy="369332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Monetization</a:t>
            </a:r>
          </a:p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(Focal Feature) 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DEA29D-9E23-0250-BC74-8E12E96B3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99" y="2733417"/>
            <a:ext cx="304044" cy="2438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2E8BC1-6297-E7D2-6697-5F4430392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861" y="3239031"/>
            <a:ext cx="289887" cy="29640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4E542D7-F233-977E-BDAA-CE1B190DF0C4}"/>
              </a:ext>
            </a:extLst>
          </p:cNvPr>
          <p:cNvSpPr txBox="1"/>
          <p:nvPr/>
        </p:nvSpPr>
        <p:spPr>
          <a:xfrm>
            <a:off x="613743" y="4488073"/>
            <a:ext cx="8968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High Installs 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C166B1-FBA7-F749-537B-8E1709BC2AE8}"/>
              </a:ext>
            </a:extLst>
          </p:cNvPr>
          <p:cNvSpPr txBox="1"/>
          <p:nvPr/>
        </p:nvSpPr>
        <p:spPr>
          <a:xfrm>
            <a:off x="1815844" y="4485515"/>
            <a:ext cx="112690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High Ratings 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DAA743-CC96-4803-DEE5-151DA413FE0A}"/>
              </a:ext>
            </a:extLst>
          </p:cNvPr>
          <p:cNvSpPr txBox="1"/>
          <p:nvPr/>
        </p:nvSpPr>
        <p:spPr>
          <a:xfrm>
            <a:off x="284536" y="4026736"/>
            <a:ext cx="2416479" cy="230832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Marketplace Success (Outcome) 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4BC78A1-3889-1CF4-3601-F9A4861E47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575" y="4458234"/>
            <a:ext cx="297206" cy="25529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C77FB9F-2AC6-266A-7BE1-A1BC51FDD3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8441" y="4472486"/>
            <a:ext cx="308637" cy="24386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38D580C-BE18-5FBD-9FC4-3C76C446CC02}"/>
              </a:ext>
            </a:extLst>
          </p:cNvPr>
          <p:cNvSpPr txBox="1"/>
          <p:nvPr/>
        </p:nvSpPr>
        <p:spPr>
          <a:xfrm>
            <a:off x="1519214" y="2047177"/>
            <a:ext cx="1342752" cy="369332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Genre </a:t>
            </a:r>
          </a:p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(Contextual Modifier) 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C1E49B-5906-1369-1BE7-16232737DD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3935" y="5649543"/>
            <a:ext cx="1550796" cy="10036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9F4FFF-5271-76E1-6861-BC0A24835A71}"/>
              </a:ext>
            </a:extLst>
          </p:cNvPr>
          <p:cNvSpPr/>
          <p:nvPr/>
        </p:nvSpPr>
        <p:spPr>
          <a:xfrm>
            <a:off x="344861" y="3182276"/>
            <a:ext cx="738365" cy="409912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24" name="Left Brace 1123">
            <a:extLst>
              <a:ext uri="{FF2B5EF4-FFF2-40B4-BE49-F238E27FC236}">
                <a16:creationId xmlns:a16="http://schemas.microsoft.com/office/drawing/2014/main" id="{3FB28B69-6138-89D2-1E0C-FE5D021D9F44}"/>
              </a:ext>
            </a:extLst>
          </p:cNvPr>
          <p:cNvSpPr/>
          <p:nvPr/>
        </p:nvSpPr>
        <p:spPr>
          <a:xfrm rot="16200000">
            <a:off x="1456822" y="3193539"/>
            <a:ext cx="107449" cy="1430545"/>
          </a:xfrm>
          <a:prstGeom prst="leftBrace">
            <a:avLst>
              <a:gd name="adj1" fmla="val 8333"/>
              <a:gd name="adj2" fmla="val 54096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pic>
        <p:nvPicPr>
          <p:cNvPr id="1125" name="Picture 1124">
            <a:extLst>
              <a:ext uri="{FF2B5EF4-FFF2-40B4-BE49-F238E27FC236}">
                <a16:creationId xmlns:a16="http://schemas.microsoft.com/office/drawing/2014/main" id="{0745E537-1BD6-A487-15CC-B8B0207123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9288" y="3111566"/>
            <a:ext cx="203771" cy="193708"/>
          </a:xfrm>
          <a:prstGeom prst="rect">
            <a:avLst/>
          </a:prstGeom>
        </p:spPr>
      </p:pic>
      <p:sp>
        <p:nvSpPr>
          <p:cNvPr id="1126" name="Rectangle 1125">
            <a:extLst>
              <a:ext uri="{FF2B5EF4-FFF2-40B4-BE49-F238E27FC236}">
                <a16:creationId xmlns:a16="http://schemas.microsoft.com/office/drawing/2014/main" id="{79B29C0B-9BE8-9B3F-937B-97D2E2BDCA29}"/>
              </a:ext>
            </a:extLst>
          </p:cNvPr>
          <p:cNvSpPr/>
          <p:nvPr/>
        </p:nvSpPr>
        <p:spPr>
          <a:xfrm>
            <a:off x="1709691" y="2503631"/>
            <a:ext cx="916124" cy="234262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173C19B7-C194-DDB6-0D6C-5FEABD900441}"/>
              </a:ext>
            </a:extLst>
          </p:cNvPr>
          <p:cNvSpPr/>
          <p:nvPr/>
        </p:nvSpPr>
        <p:spPr>
          <a:xfrm>
            <a:off x="1716520" y="2784848"/>
            <a:ext cx="908370" cy="2535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86E3DBA0-1B42-3004-2C71-150AFA2FB968}"/>
              </a:ext>
            </a:extLst>
          </p:cNvPr>
          <p:cNvSpPr/>
          <p:nvPr/>
        </p:nvSpPr>
        <p:spPr>
          <a:xfrm>
            <a:off x="1714632" y="3081993"/>
            <a:ext cx="908370" cy="25779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EFA5D5FA-B854-C690-E53E-172B8705F28E}"/>
              </a:ext>
            </a:extLst>
          </p:cNvPr>
          <p:cNvSpPr/>
          <p:nvPr/>
        </p:nvSpPr>
        <p:spPr>
          <a:xfrm>
            <a:off x="1717445" y="3385045"/>
            <a:ext cx="908370" cy="239914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77F4A75F-D86E-BF39-B224-1844C5F78895}"/>
              </a:ext>
            </a:extLst>
          </p:cNvPr>
          <p:cNvSpPr txBox="1"/>
          <p:nvPr/>
        </p:nvSpPr>
        <p:spPr>
          <a:xfrm>
            <a:off x="1954628" y="2503631"/>
            <a:ext cx="6375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Action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A2F202D7-996D-2AC0-0300-864CBCDF6BCF}"/>
              </a:ext>
            </a:extLst>
          </p:cNvPr>
          <p:cNvSpPr txBox="1"/>
          <p:nvPr/>
        </p:nvSpPr>
        <p:spPr>
          <a:xfrm>
            <a:off x="1966175" y="2797728"/>
            <a:ext cx="6375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Racing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B6ABB6C0-34F1-B32B-75B6-1D23702B7D18}"/>
              </a:ext>
            </a:extLst>
          </p:cNvPr>
          <p:cNvSpPr txBox="1"/>
          <p:nvPr/>
        </p:nvSpPr>
        <p:spPr>
          <a:xfrm>
            <a:off x="1948201" y="3108951"/>
            <a:ext cx="6375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Puzzle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42D16650-52BC-1257-3B53-038B1A4AC44F}"/>
              </a:ext>
            </a:extLst>
          </p:cNvPr>
          <p:cNvSpPr txBox="1"/>
          <p:nvPr/>
        </p:nvSpPr>
        <p:spPr>
          <a:xfrm>
            <a:off x="1888942" y="3385045"/>
            <a:ext cx="7527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Strategy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8558EEE3-65F0-2FEE-E028-C23C345EE1B3}"/>
              </a:ext>
            </a:extLst>
          </p:cNvPr>
          <p:cNvSpPr txBox="1"/>
          <p:nvPr/>
        </p:nvSpPr>
        <p:spPr>
          <a:xfrm>
            <a:off x="1514241" y="3610076"/>
            <a:ext cx="130452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….  10 Genres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146" name="Picture 1145">
            <a:extLst>
              <a:ext uri="{FF2B5EF4-FFF2-40B4-BE49-F238E27FC236}">
                <a16:creationId xmlns:a16="http://schemas.microsoft.com/office/drawing/2014/main" id="{0413C3BF-8B2D-FBC4-FE42-65DF810D08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5404" y="2527630"/>
            <a:ext cx="199478" cy="184882"/>
          </a:xfrm>
          <a:prstGeom prst="rect">
            <a:avLst/>
          </a:prstGeom>
        </p:spPr>
      </p:pic>
      <p:pic>
        <p:nvPicPr>
          <p:cNvPr id="1147" name="Picture 1146">
            <a:extLst>
              <a:ext uri="{FF2B5EF4-FFF2-40B4-BE49-F238E27FC236}">
                <a16:creationId xmlns:a16="http://schemas.microsoft.com/office/drawing/2014/main" id="{75DD9ACB-6F7F-3149-D4F9-A8BA2EADB9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4493" y="3395858"/>
            <a:ext cx="193708" cy="186161"/>
          </a:xfrm>
          <a:prstGeom prst="rect">
            <a:avLst/>
          </a:prstGeom>
        </p:spPr>
      </p:pic>
      <p:pic>
        <p:nvPicPr>
          <p:cNvPr id="1148" name="Picture 1147">
            <a:extLst>
              <a:ext uri="{FF2B5EF4-FFF2-40B4-BE49-F238E27FC236}">
                <a16:creationId xmlns:a16="http://schemas.microsoft.com/office/drawing/2014/main" id="{2B3D93B5-531D-8BFA-5B42-1CDA5247F92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75008" y="2813843"/>
            <a:ext cx="208803" cy="166036"/>
          </a:xfrm>
          <a:prstGeom prst="rect">
            <a:avLst/>
          </a:prstGeom>
        </p:spPr>
      </p:pic>
      <p:cxnSp>
        <p:nvCxnSpPr>
          <p:cNvPr id="1056" name="Connector: Elbow 1055">
            <a:extLst>
              <a:ext uri="{FF2B5EF4-FFF2-40B4-BE49-F238E27FC236}">
                <a16:creationId xmlns:a16="http://schemas.microsoft.com/office/drawing/2014/main" id="{B1F9FFFE-A022-D28B-F66A-7FDA3D22679C}"/>
              </a:ext>
            </a:extLst>
          </p:cNvPr>
          <p:cNvCxnSpPr>
            <a:cxnSpLocks/>
            <a:stCxn id="1069" idx="1"/>
            <a:endCxn id="7" idx="3"/>
          </p:cNvCxnSpPr>
          <p:nvPr/>
        </p:nvCxnSpPr>
        <p:spPr>
          <a:xfrm rot="10800000">
            <a:off x="1083227" y="2823604"/>
            <a:ext cx="490805" cy="281490"/>
          </a:xfrm>
          <a:prstGeom prst="bentConnector3">
            <a:avLst>
              <a:gd name="adj1" fmla="val 82363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3" name="Connector: Elbow 1062">
            <a:extLst>
              <a:ext uri="{FF2B5EF4-FFF2-40B4-BE49-F238E27FC236}">
                <a16:creationId xmlns:a16="http://schemas.microsoft.com/office/drawing/2014/main" id="{575B1F90-9F52-3937-92EA-3CA1D087EC4C}"/>
              </a:ext>
            </a:extLst>
          </p:cNvPr>
          <p:cNvCxnSpPr>
            <a:cxnSpLocks/>
            <a:stCxn id="1069" idx="1"/>
            <a:endCxn id="6" idx="3"/>
          </p:cNvCxnSpPr>
          <p:nvPr/>
        </p:nvCxnSpPr>
        <p:spPr>
          <a:xfrm rot="10800000" flipV="1">
            <a:off x="1083227" y="3105094"/>
            <a:ext cx="490805" cy="282138"/>
          </a:xfrm>
          <a:prstGeom prst="bentConnector3">
            <a:avLst>
              <a:gd name="adj1" fmla="val 82363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9" name="Left Brace 1068">
            <a:extLst>
              <a:ext uri="{FF2B5EF4-FFF2-40B4-BE49-F238E27FC236}">
                <a16:creationId xmlns:a16="http://schemas.microsoft.com/office/drawing/2014/main" id="{48540F5E-5F34-7C45-EF61-8056C35FB33D}"/>
              </a:ext>
            </a:extLst>
          </p:cNvPr>
          <p:cNvSpPr/>
          <p:nvPr/>
        </p:nvSpPr>
        <p:spPr>
          <a:xfrm>
            <a:off x="1574031" y="2696725"/>
            <a:ext cx="130888" cy="754896"/>
          </a:xfrm>
          <a:prstGeom prst="leftBrace">
            <a:avLst>
              <a:gd name="adj1" fmla="val 8333"/>
              <a:gd name="adj2" fmla="val 54096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45919463-5AAE-0971-01C1-C8AB666107D3}"/>
              </a:ext>
            </a:extLst>
          </p:cNvPr>
          <p:cNvSpPr/>
          <p:nvPr/>
        </p:nvSpPr>
        <p:spPr>
          <a:xfrm>
            <a:off x="275495" y="4423889"/>
            <a:ext cx="1198127" cy="336555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0AAE3849-5FC1-0CAA-ADBF-35AB908B8CFA}"/>
              </a:ext>
            </a:extLst>
          </p:cNvPr>
          <p:cNvSpPr/>
          <p:nvPr/>
        </p:nvSpPr>
        <p:spPr>
          <a:xfrm>
            <a:off x="1554334" y="4423889"/>
            <a:ext cx="1198127" cy="336555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56" name="Rectangle 1155">
            <a:extLst>
              <a:ext uri="{FF2B5EF4-FFF2-40B4-BE49-F238E27FC236}">
                <a16:creationId xmlns:a16="http://schemas.microsoft.com/office/drawing/2014/main" id="{84C156F1-ED48-8A71-ADD1-E6A5D8ED9B24}"/>
              </a:ext>
            </a:extLst>
          </p:cNvPr>
          <p:cNvSpPr/>
          <p:nvPr/>
        </p:nvSpPr>
        <p:spPr>
          <a:xfrm>
            <a:off x="192467" y="4001885"/>
            <a:ext cx="2665928" cy="862138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16F541C7-005B-A864-58D8-E578D25C5EBD}"/>
              </a:ext>
            </a:extLst>
          </p:cNvPr>
          <p:cNvSpPr txBox="1"/>
          <p:nvPr/>
        </p:nvSpPr>
        <p:spPr>
          <a:xfrm>
            <a:off x="631894" y="5027129"/>
            <a:ext cx="1785042" cy="4154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Estimate Interactions</a:t>
            </a:r>
          </a:p>
          <a:p>
            <a:pPr algn="ctr"/>
            <a:r>
              <a:rPr lang="en-US" sz="105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ROR &amp; DDP 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76" name="Rectangle 1375">
            <a:extLst>
              <a:ext uri="{FF2B5EF4-FFF2-40B4-BE49-F238E27FC236}">
                <a16:creationId xmlns:a16="http://schemas.microsoft.com/office/drawing/2014/main" id="{C8E30FFE-4D49-B932-F7B6-647BF2CB1475}"/>
              </a:ext>
            </a:extLst>
          </p:cNvPr>
          <p:cNvSpPr/>
          <p:nvPr/>
        </p:nvSpPr>
        <p:spPr>
          <a:xfrm>
            <a:off x="227525" y="2077366"/>
            <a:ext cx="1081825" cy="1606005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84" name="Rectangle 1383">
            <a:extLst>
              <a:ext uri="{FF2B5EF4-FFF2-40B4-BE49-F238E27FC236}">
                <a16:creationId xmlns:a16="http://schemas.microsoft.com/office/drawing/2014/main" id="{6B8858F2-AF44-E489-3240-690DDC92D9E4}"/>
              </a:ext>
            </a:extLst>
          </p:cNvPr>
          <p:cNvSpPr/>
          <p:nvPr/>
        </p:nvSpPr>
        <p:spPr>
          <a:xfrm>
            <a:off x="1582135" y="2074782"/>
            <a:ext cx="1236629" cy="1748108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1402" name="Straight Arrow Connector 1401">
            <a:extLst>
              <a:ext uri="{FF2B5EF4-FFF2-40B4-BE49-F238E27FC236}">
                <a16:creationId xmlns:a16="http://schemas.microsoft.com/office/drawing/2014/main" id="{10C2F32F-74CD-8726-E08A-CA57BB78E03D}"/>
              </a:ext>
            </a:extLst>
          </p:cNvPr>
          <p:cNvCxnSpPr>
            <a:cxnSpLocks/>
            <a:stCxn id="1156" idx="2"/>
            <a:endCxn id="1158" idx="0"/>
          </p:cNvCxnSpPr>
          <p:nvPr/>
        </p:nvCxnSpPr>
        <p:spPr>
          <a:xfrm flipH="1">
            <a:off x="1524415" y="4864023"/>
            <a:ext cx="1016" cy="16310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39" name="Rectangle 1238">
            <a:extLst>
              <a:ext uri="{FF2B5EF4-FFF2-40B4-BE49-F238E27FC236}">
                <a16:creationId xmlns:a16="http://schemas.microsoft.com/office/drawing/2014/main" id="{ED27BB3A-1747-0C35-22E4-AAF864C301C1}"/>
              </a:ext>
            </a:extLst>
          </p:cNvPr>
          <p:cNvSpPr/>
          <p:nvPr/>
        </p:nvSpPr>
        <p:spPr>
          <a:xfrm>
            <a:off x="77933" y="37678"/>
            <a:ext cx="1091478" cy="2661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Stage 1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C069F9D4-F560-6EDD-4306-0AD9832E0C42}"/>
              </a:ext>
            </a:extLst>
          </p:cNvPr>
          <p:cNvSpPr txBox="1"/>
          <p:nvPr/>
        </p:nvSpPr>
        <p:spPr>
          <a:xfrm>
            <a:off x="231704" y="317068"/>
            <a:ext cx="2496104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28600" indent="-228600" algn="ctr">
              <a:buAutoNum type="arabicPeriod"/>
            </a:pPr>
            <a:r>
              <a:rPr lang="en-US" sz="1100" dirty="0">
                <a:latin typeface="Segoe UI Variable Small Semibol" pitchFamily="2" charset="0"/>
              </a:rPr>
              <a:t>Does the monetization–success relationship vary across game genres?</a:t>
            </a:r>
            <a:endParaRPr lang="fi-FI" sz="1100" dirty="0">
              <a:latin typeface="Segoe UI Variable Small Semibol" pitchFamily="2" charset="0"/>
            </a:endParaRPr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647342EA-78E0-00ED-E79B-B7867D9B4A9F}"/>
              </a:ext>
            </a:extLst>
          </p:cNvPr>
          <p:cNvSpPr/>
          <p:nvPr/>
        </p:nvSpPr>
        <p:spPr>
          <a:xfrm>
            <a:off x="3082348" y="295603"/>
            <a:ext cx="1984790" cy="64319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A00667E1-FE1B-64AF-17A8-BCE2B3E417B8}"/>
              </a:ext>
            </a:extLst>
          </p:cNvPr>
          <p:cNvSpPr txBox="1"/>
          <p:nvPr/>
        </p:nvSpPr>
        <p:spPr>
          <a:xfrm>
            <a:off x="3082348" y="298470"/>
            <a:ext cx="1984790" cy="5796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endParaRPr lang="fi-FI" sz="1200" dirty="0">
              <a:latin typeface="Whitney-Semibold" panose="02000603040000020004" pitchFamily="2" charset="0"/>
            </a:endParaRPr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D0C4DFBE-8ADC-46B0-C8B9-021BFAE25A83}"/>
              </a:ext>
            </a:extLst>
          </p:cNvPr>
          <p:cNvSpPr/>
          <p:nvPr/>
        </p:nvSpPr>
        <p:spPr>
          <a:xfrm>
            <a:off x="3084902" y="37678"/>
            <a:ext cx="1091478" cy="2661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Stage 2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A3F42D62-5C7B-1286-76D7-A761FB8B8791}"/>
              </a:ext>
            </a:extLst>
          </p:cNvPr>
          <p:cNvSpPr txBox="1"/>
          <p:nvPr/>
        </p:nvSpPr>
        <p:spPr>
          <a:xfrm>
            <a:off x="3065477" y="297290"/>
            <a:ext cx="1984790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Segoe UI Variable Small Semibol" pitchFamily="2" charset="0"/>
              </a:rPr>
              <a:t>2. Do these genre-conditional relationships recur across markets?</a:t>
            </a:r>
            <a:endParaRPr lang="fi-FI" sz="1100" dirty="0">
              <a:latin typeface="Segoe UI Variable Small Semibol" pitchFamily="2" charset="0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4B110C8D-EDB7-FBF6-E57C-1935A1CD7429}"/>
              </a:ext>
            </a:extLst>
          </p:cNvPr>
          <p:cNvSpPr/>
          <p:nvPr/>
        </p:nvSpPr>
        <p:spPr>
          <a:xfrm>
            <a:off x="3234330" y="2057570"/>
            <a:ext cx="1680826" cy="2205347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1C24AF34-35AC-2627-C817-C081BA9AE8BE}"/>
              </a:ext>
            </a:extLst>
          </p:cNvPr>
          <p:cNvSpPr/>
          <p:nvPr/>
        </p:nvSpPr>
        <p:spPr>
          <a:xfrm>
            <a:off x="3238625" y="2058057"/>
            <a:ext cx="1680826" cy="4588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6C5AC5F1-ADBC-2060-761C-179EE9EFD7BE}"/>
              </a:ext>
            </a:extLst>
          </p:cNvPr>
          <p:cNvSpPr txBox="1"/>
          <p:nvPr/>
        </p:nvSpPr>
        <p:spPr>
          <a:xfrm>
            <a:off x="3242915" y="2092401"/>
            <a:ext cx="1676536" cy="415498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Estimates within each county 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FBA1C388-942D-1C0E-F8F8-088667F99B64}"/>
              </a:ext>
            </a:extLst>
          </p:cNvPr>
          <p:cNvSpPr txBox="1"/>
          <p:nvPr/>
        </p:nvSpPr>
        <p:spPr>
          <a:xfrm>
            <a:off x="3592916" y="3955910"/>
            <a:ext cx="10906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….  42 Countries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5A99637B-D100-47A6-8F8C-A171E07D1705}"/>
              </a:ext>
            </a:extLst>
          </p:cNvPr>
          <p:cNvSpPr/>
          <p:nvPr/>
        </p:nvSpPr>
        <p:spPr>
          <a:xfrm>
            <a:off x="3473923" y="2664502"/>
            <a:ext cx="1356153" cy="27860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1061" name="Picture 1060">
            <a:extLst>
              <a:ext uri="{FF2B5EF4-FFF2-40B4-BE49-F238E27FC236}">
                <a16:creationId xmlns:a16="http://schemas.microsoft.com/office/drawing/2014/main" id="{AE2FC9EF-CDA6-0C9B-B760-B3FADB06A7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92916" y="2701272"/>
            <a:ext cx="224809" cy="179086"/>
          </a:xfrm>
          <a:prstGeom prst="rect">
            <a:avLst/>
          </a:prstGeom>
        </p:spPr>
      </p:pic>
      <p:sp>
        <p:nvSpPr>
          <p:cNvPr id="1062" name="TextBox 1061">
            <a:extLst>
              <a:ext uri="{FF2B5EF4-FFF2-40B4-BE49-F238E27FC236}">
                <a16:creationId xmlns:a16="http://schemas.microsoft.com/office/drawing/2014/main" id="{7D759560-42C3-C144-E62B-0EAE78989D24}"/>
              </a:ext>
            </a:extLst>
          </p:cNvPr>
          <p:cNvSpPr txBox="1"/>
          <p:nvPr/>
        </p:nvSpPr>
        <p:spPr>
          <a:xfrm>
            <a:off x="3825232" y="2694554"/>
            <a:ext cx="10048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United States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2C42347B-5C3C-463E-888B-7ADA066BC945}"/>
              </a:ext>
            </a:extLst>
          </p:cNvPr>
          <p:cNvSpPr/>
          <p:nvPr/>
        </p:nvSpPr>
        <p:spPr>
          <a:xfrm>
            <a:off x="3473923" y="2979636"/>
            <a:ext cx="1356153" cy="27860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A56773F9-7DEF-7AEF-CDDE-D1A078120095}"/>
              </a:ext>
            </a:extLst>
          </p:cNvPr>
          <p:cNvSpPr txBox="1"/>
          <p:nvPr/>
        </p:nvSpPr>
        <p:spPr>
          <a:xfrm>
            <a:off x="3825232" y="3009688"/>
            <a:ext cx="10048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Finland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1300D9A6-4B0C-3C0C-5D96-EE4960AF6D5E}"/>
              </a:ext>
            </a:extLst>
          </p:cNvPr>
          <p:cNvSpPr/>
          <p:nvPr/>
        </p:nvSpPr>
        <p:spPr>
          <a:xfrm>
            <a:off x="3473923" y="3299129"/>
            <a:ext cx="1356153" cy="27860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D22149BF-A254-42EE-650D-C3D21A53B519}"/>
              </a:ext>
            </a:extLst>
          </p:cNvPr>
          <p:cNvSpPr txBox="1"/>
          <p:nvPr/>
        </p:nvSpPr>
        <p:spPr>
          <a:xfrm>
            <a:off x="3825232" y="3329181"/>
            <a:ext cx="10048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Vietnam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59A98F26-B6F2-CE07-02A6-2E8FDE87908C}"/>
              </a:ext>
            </a:extLst>
          </p:cNvPr>
          <p:cNvSpPr/>
          <p:nvPr/>
        </p:nvSpPr>
        <p:spPr>
          <a:xfrm>
            <a:off x="3473923" y="3615739"/>
            <a:ext cx="1356153" cy="27860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DC67E43A-0474-335D-B90E-B49D120CF50A}"/>
              </a:ext>
            </a:extLst>
          </p:cNvPr>
          <p:cNvSpPr txBox="1"/>
          <p:nvPr/>
        </p:nvSpPr>
        <p:spPr>
          <a:xfrm>
            <a:off x="3825232" y="3645791"/>
            <a:ext cx="10048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Pakistan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073" name="Picture 1072">
            <a:extLst>
              <a:ext uri="{FF2B5EF4-FFF2-40B4-BE49-F238E27FC236}">
                <a16:creationId xmlns:a16="http://schemas.microsoft.com/office/drawing/2014/main" id="{BBDA65F0-F135-2C36-AA4B-F19EC5230E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05794" y="3046429"/>
            <a:ext cx="224809" cy="156224"/>
          </a:xfrm>
          <a:prstGeom prst="rect">
            <a:avLst/>
          </a:prstGeom>
        </p:spPr>
      </p:pic>
      <p:pic>
        <p:nvPicPr>
          <p:cNvPr id="1074" name="Picture 1073">
            <a:extLst>
              <a:ext uri="{FF2B5EF4-FFF2-40B4-BE49-F238E27FC236}">
                <a16:creationId xmlns:a16="http://schemas.microsoft.com/office/drawing/2014/main" id="{D320E457-76C8-AB75-AD9A-38F05AD20C7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18190" y="3342189"/>
            <a:ext cx="217189" cy="182896"/>
          </a:xfrm>
          <a:prstGeom prst="rect">
            <a:avLst/>
          </a:prstGeom>
        </p:spPr>
      </p:pic>
      <p:pic>
        <p:nvPicPr>
          <p:cNvPr id="1075" name="Picture 1074">
            <a:extLst>
              <a:ext uri="{FF2B5EF4-FFF2-40B4-BE49-F238E27FC236}">
                <a16:creationId xmlns:a16="http://schemas.microsoft.com/office/drawing/2014/main" id="{1334F700-D0F7-42D4-224B-A3524DF8F58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21544" y="3659871"/>
            <a:ext cx="236240" cy="182896"/>
          </a:xfrm>
          <a:prstGeom prst="rect">
            <a:avLst/>
          </a:prstGeom>
        </p:spPr>
      </p:pic>
      <p:cxnSp>
        <p:nvCxnSpPr>
          <p:cNvPr id="1078" name="Connector: Elbow 1077">
            <a:extLst>
              <a:ext uri="{FF2B5EF4-FFF2-40B4-BE49-F238E27FC236}">
                <a16:creationId xmlns:a16="http://schemas.microsoft.com/office/drawing/2014/main" id="{1E4FA903-7D99-6B5C-6A00-07E39046DC18}"/>
              </a:ext>
            </a:extLst>
          </p:cNvPr>
          <p:cNvCxnSpPr>
            <a:cxnSpLocks/>
            <a:stCxn id="1060" idx="1"/>
            <a:endCxn id="1059" idx="1"/>
          </p:cNvCxnSpPr>
          <p:nvPr/>
        </p:nvCxnSpPr>
        <p:spPr>
          <a:xfrm rot="10800000" flipH="1" flipV="1">
            <a:off x="3473922" y="2803806"/>
            <a:ext cx="118993" cy="1267520"/>
          </a:xfrm>
          <a:prstGeom prst="bentConnector3">
            <a:avLst>
              <a:gd name="adj1" fmla="val -94703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87" name="Picture 1086">
            <a:extLst>
              <a:ext uri="{FF2B5EF4-FFF2-40B4-BE49-F238E27FC236}">
                <a16:creationId xmlns:a16="http://schemas.microsoft.com/office/drawing/2014/main" id="{F7A8254D-A94C-7AEE-53E8-482C272C716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24804" y="5028701"/>
            <a:ext cx="1694645" cy="1624531"/>
          </a:xfrm>
          <a:prstGeom prst="rect">
            <a:avLst/>
          </a:prstGeom>
        </p:spPr>
      </p:pic>
      <p:cxnSp>
        <p:nvCxnSpPr>
          <p:cNvPr id="1280" name="Straight Arrow Connector 1279">
            <a:extLst>
              <a:ext uri="{FF2B5EF4-FFF2-40B4-BE49-F238E27FC236}">
                <a16:creationId xmlns:a16="http://schemas.microsoft.com/office/drawing/2014/main" id="{91293043-5E11-BF6E-19C4-E608090050C3}"/>
              </a:ext>
            </a:extLst>
          </p:cNvPr>
          <p:cNvCxnSpPr>
            <a:cxnSpLocks/>
            <a:stCxn id="1055" idx="2"/>
            <a:endCxn id="1295" idx="0"/>
          </p:cNvCxnSpPr>
          <p:nvPr/>
        </p:nvCxnSpPr>
        <p:spPr>
          <a:xfrm>
            <a:off x="4074743" y="4262917"/>
            <a:ext cx="0" cy="21034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5" name="TextBox 1294">
            <a:extLst>
              <a:ext uri="{FF2B5EF4-FFF2-40B4-BE49-F238E27FC236}">
                <a16:creationId xmlns:a16="http://schemas.microsoft.com/office/drawing/2014/main" id="{58517728-A018-B4F2-929A-2B231480C26F}"/>
              </a:ext>
            </a:extLst>
          </p:cNvPr>
          <p:cNvSpPr txBox="1"/>
          <p:nvPr/>
        </p:nvSpPr>
        <p:spPr>
          <a:xfrm>
            <a:off x="3330467" y="4473263"/>
            <a:ext cx="1488552" cy="4154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Interaction profiles per country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1301" name="Straight Arrow Connector 1300">
            <a:extLst>
              <a:ext uri="{FF2B5EF4-FFF2-40B4-BE49-F238E27FC236}">
                <a16:creationId xmlns:a16="http://schemas.microsoft.com/office/drawing/2014/main" id="{15255AC0-2B5D-53C6-3320-EDD78EA378AE}"/>
              </a:ext>
            </a:extLst>
          </p:cNvPr>
          <p:cNvCxnSpPr>
            <a:cxnSpLocks/>
            <a:stCxn id="1295" idx="2"/>
            <a:endCxn id="1087" idx="0"/>
          </p:cNvCxnSpPr>
          <p:nvPr/>
        </p:nvCxnSpPr>
        <p:spPr>
          <a:xfrm flipH="1">
            <a:off x="4072127" y="4888761"/>
            <a:ext cx="2616" cy="13994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6" name="Rectangle 1305">
            <a:extLst>
              <a:ext uri="{FF2B5EF4-FFF2-40B4-BE49-F238E27FC236}">
                <a16:creationId xmlns:a16="http://schemas.microsoft.com/office/drawing/2014/main" id="{246C8400-61D0-3443-7E89-B22BFC98B587}"/>
              </a:ext>
            </a:extLst>
          </p:cNvPr>
          <p:cNvSpPr/>
          <p:nvPr/>
        </p:nvSpPr>
        <p:spPr>
          <a:xfrm>
            <a:off x="5196667" y="295602"/>
            <a:ext cx="2032669" cy="643198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07" name="TextBox 1306">
            <a:extLst>
              <a:ext uri="{FF2B5EF4-FFF2-40B4-BE49-F238E27FC236}">
                <a16:creationId xmlns:a16="http://schemas.microsoft.com/office/drawing/2014/main" id="{212D9C5B-1862-79EE-3FC8-693BF0388F25}"/>
              </a:ext>
            </a:extLst>
          </p:cNvPr>
          <p:cNvSpPr txBox="1"/>
          <p:nvPr/>
        </p:nvSpPr>
        <p:spPr>
          <a:xfrm>
            <a:off x="5196667" y="295603"/>
            <a:ext cx="2032669" cy="5825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endParaRPr lang="fi-FI" sz="1200" dirty="0">
              <a:latin typeface="Whitney-Semibold" panose="02000603040000020004" pitchFamily="2" charset="0"/>
            </a:endParaRPr>
          </a:p>
        </p:txBody>
      </p: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DA2F63D1-990B-4CB9-E4AE-3C40D02CFA5E}"/>
              </a:ext>
            </a:extLst>
          </p:cNvPr>
          <p:cNvSpPr/>
          <p:nvPr/>
        </p:nvSpPr>
        <p:spPr>
          <a:xfrm>
            <a:off x="5202065" y="29440"/>
            <a:ext cx="1091478" cy="2661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Stage 3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1310" name="TextBox 1309">
            <a:extLst>
              <a:ext uri="{FF2B5EF4-FFF2-40B4-BE49-F238E27FC236}">
                <a16:creationId xmlns:a16="http://schemas.microsoft.com/office/drawing/2014/main" id="{B0281C99-B418-2F46-9EA3-56CD5E5D5505}"/>
              </a:ext>
            </a:extLst>
          </p:cNvPr>
          <p:cNvSpPr txBox="1"/>
          <p:nvPr/>
        </p:nvSpPr>
        <p:spPr>
          <a:xfrm>
            <a:off x="5232833" y="299927"/>
            <a:ext cx="1979632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Segoe UI Variable Small Semibol" pitchFamily="2" charset="0"/>
              </a:rPr>
              <a:t>3. Do recurring country-specific relationships remain stable over time?</a:t>
            </a:r>
            <a:endParaRPr lang="fi-FI" sz="1100" dirty="0">
              <a:latin typeface="Segoe UI Variable Small Semibol" pitchFamily="2" charset="0"/>
            </a:endParaRPr>
          </a:p>
        </p:txBody>
      </p:sp>
      <p:sp>
        <p:nvSpPr>
          <p:cNvPr id="1311" name="Rectangle 1310">
            <a:extLst>
              <a:ext uri="{FF2B5EF4-FFF2-40B4-BE49-F238E27FC236}">
                <a16:creationId xmlns:a16="http://schemas.microsoft.com/office/drawing/2014/main" id="{D6FBAEEB-293C-1BB6-0679-CB054BCBCEC3}"/>
              </a:ext>
            </a:extLst>
          </p:cNvPr>
          <p:cNvSpPr/>
          <p:nvPr/>
        </p:nvSpPr>
        <p:spPr>
          <a:xfrm>
            <a:off x="5372530" y="2045213"/>
            <a:ext cx="1680826" cy="2205347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12" name="Rectangle 1311">
            <a:extLst>
              <a:ext uri="{FF2B5EF4-FFF2-40B4-BE49-F238E27FC236}">
                <a16:creationId xmlns:a16="http://schemas.microsoft.com/office/drawing/2014/main" id="{3D75DBF4-2163-7B0B-1FB4-81BF96EB5719}"/>
              </a:ext>
            </a:extLst>
          </p:cNvPr>
          <p:cNvSpPr/>
          <p:nvPr/>
        </p:nvSpPr>
        <p:spPr>
          <a:xfrm>
            <a:off x="5376825" y="2045700"/>
            <a:ext cx="1680826" cy="4588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13" name="TextBox 1312">
            <a:extLst>
              <a:ext uri="{FF2B5EF4-FFF2-40B4-BE49-F238E27FC236}">
                <a16:creationId xmlns:a16="http://schemas.microsoft.com/office/drawing/2014/main" id="{B8556A09-E372-FFB8-DBD4-DE158FE5B238}"/>
              </a:ext>
            </a:extLst>
          </p:cNvPr>
          <p:cNvSpPr txBox="1"/>
          <p:nvPr/>
        </p:nvSpPr>
        <p:spPr>
          <a:xfrm>
            <a:off x="5381115" y="2080044"/>
            <a:ext cx="1676536" cy="415498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</a:rPr>
              <a:t>Estimate Within Each Country–Month</a:t>
            </a:r>
          </a:p>
        </p:txBody>
      </p:sp>
      <p:sp>
        <p:nvSpPr>
          <p:cNvPr id="1314" name="TextBox 1313">
            <a:extLst>
              <a:ext uri="{FF2B5EF4-FFF2-40B4-BE49-F238E27FC236}">
                <a16:creationId xmlns:a16="http://schemas.microsoft.com/office/drawing/2014/main" id="{E847AE4D-9570-CE41-34CC-E200324EE182}"/>
              </a:ext>
            </a:extLst>
          </p:cNvPr>
          <p:cNvSpPr txBox="1"/>
          <p:nvPr/>
        </p:nvSpPr>
        <p:spPr>
          <a:xfrm>
            <a:off x="5731116" y="3943553"/>
            <a:ext cx="10906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….  42 Countries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18" name="Rectangle 1317">
            <a:extLst>
              <a:ext uri="{FF2B5EF4-FFF2-40B4-BE49-F238E27FC236}">
                <a16:creationId xmlns:a16="http://schemas.microsoft.com/office/drawing/2014/main" id="{F94D3D96-ADDA-BBFF-513E-4E02D9525EA3}"/>
              </a:ext>
            </a:extLst>
          </p:cNvPr>
          <p:cNvSpPr/>
          <p:nvPr/>
        </p:nvSpPr>
        <p:spPr>
          <a:xfrm>
            <a:off x="5612123" y="2652145"/>
            <a:ext cx="1356153" cy="27860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1319" name="Picture 1318">
            <a:extLst>
              <a:ext uri="{FF2B5EF4-FFF2-40B4-BE49-F238E27FC236}">
                <a16:creationId xmlns:a16="http://schemas.microsoft.com/office/drawing/2014/main" id="{3550A2C4-CB71-5D85-F864-064F740B87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31116" y="2688915"/>
            <a:ext cx="224809" cy="179086"/>
          </a:xfrm>
          <a:prstGeom prst="rect">
            <a:avLst/>
          </a:prstGeom>
        </p:spPr>
      </p:pic>
      <p:sp>
        <p:nvSpPr>
          <p:cNvPr id="1320" name="TextBox 1319">
            <a:extLst>
              <a:ext uri="{FF2B5EF4-FFF2-40B4-BE49-F238E27FC236}">
                <a16:creationId xmlns:a16="http://schemas.microsoft.com/office/drawing/2014/main" id="{15F8F274-FE01-8886-62FA-B78CAFAF2650}"/>
              </a:ext>
            </a:extLst>
          </p:cNvPr>
          <p:cNvSpPr txBox="1"/>
          <p:nvPr/>
        </p:nvSpPr>
        <p:spPr>
          <a:xfrm>
            <a:off x="5963432" y="2682197"/>
            <a:ext cx="10048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United States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21" name="Rectangle 1320">
            <a:extLst>
              <a:ext uri="{FF2B5EF4-FFF2-40B4-BE49-F238E27FC236}">
                <a16:creationId xmlns:a16="http://schemas.microsoft.com/office/drawing/2014/main" id="{1E2FD3E5-50C3-545D-2EA6-87E456500C72}"/>
              </a:ext>
            </a:extLst>
          </p:cNvPr>
          <p:cNvSpPr/>
          <p:nvPr/>
        </p:nvSpPr>
        <p:spPr>
          <a:xfrm>
            <a:off x="5612123" y="2967279"/>
            <a:ext cx="1356153" cy="27860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22" name="TextBox 1321">
            <a:extLst>
              <a:ext uri="{FF2B5EF4-FFF2-40B4-BE49-F238E27FC236}">
                <a16:creationId xmlns:a16="http://schemas.microsoft.com/office/drawing/2014/main" id="{9E717DAC-237A-3782-8D8F-F927ED82EBE7}"/>
              </a:ext>
            </a:extLst>
          </p:cNvPr>
          <p:cNvSpPr txBox="1"/>
          <p:nvPr/>
        </p:nvSpPr>
        <p:spPr>
          <a:xfrm>
            <a:off x="5963432" y="2997331"/>
            <a:ext cx="10048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Finland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23" name="Rectangle 1322">
            <a:extLst>
              <a:ext uri="{FF2B5EF4-FFF2-40B4-BE49-F238E27FC236}">
                <a16:creationId xmlns:a16="http://schemas.microsoft.com/office/drawing/2014/main" id="{52F176C3-2167-1576-B154-6354405F398C}"/>
              </a:ext>
            </a:extLst>
          </p:cNvPr>
          <p:cNvSpPr/>
          <p:nvPr/>
        </p:nvSpPr>
        <p:spPr>
          <a:xfrm>
            <a:off x="5612123" y="3286772"/>
            <a:ext cx="1356153" cy="27860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24" name="TextBox 1323">
            <a:extLst>
              <a:ext uri="{FF2B5EF4-FFF2-40B4-BE49-F238E27FC236}">
                <a16:creationId xmlns:a16="http://schemas.microsoft.com/office/drawing/2014/main" id="{AC1A9C5D-839A-8623-6D33-91ED8201BF28}"/>
              </a:ext>
            </a:extLst>
          </p:cNvPr>
          <p:cNvSpPr txBox="1"/>
          <p:nvPr/>
        </p:nvSpPr>
        <p:spPr>
          <a:xfrm>
            <a:off x="5963432" y="3316824"/>
            <a:ext cx="10048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Vietnam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07869002-69C2-75B0-5B6F-67F40969C1B8}"/>
              </a:ext>
            </a:extLst>
          </p:cNvPr>
          <p:cNvSpPr/>
          <p:nvPr/>
        </p:nvSpPr>
        <p:spPr>
          <a:xfrm>
            <a:off x="5612123" y="3603382"/>
            <a:ext cx="1356153" cy="27860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26" name="TextBox 1325">
            <a:extLst>
              <a:ext uri="{FF2B5EF4-FFF2-40B4-BE49-F238E27FC236}">
                <a16:creationId xmlns:a16="http://schemas.microsoft.com/office/drawing/2014/main" id="{B0E786AC-9722-5A7E-8743-86DF1A209BF1}"/>
              </a:ext>
            </a:extLst>
          </p:cNvPr>
          <p:cNvSpPr txBox="1"/>
          <p:nvPr/>
        </p:nvSpPr>
        <p:spPr>
          <a:xfrm>
            <a:off x="5963432" y="3633434"/>
            <a:ext cx="10048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Pakistan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328" name="Picture 1327">
            <a:extLst>
              <a:ext uri="{FF2B5EF4-FFF2-40B4-BE49-F238E27FC236}">
                <a16:creationId xmlns:a16="http://schemas.microsoft.com/office/drawing/2014/main" id="{00C4323F-BD87-5802-A76F-2F2619BD91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43994" y="3034072"/>
            <a:ext cx="224809" cy="156224"/>
          </a:xfrm>
          <a:prstGeom prst="rect">
            <a:avLst/>
          </a:prstGeom>
        </p:spPr>
      </p:pic>
      <p:pic>
        <p:nvPicPr>
          <p:cNvPr id="1329" name="Picture 1328">
            <a:extLst>
              <a:ext uri="{FF2B5EF4-FFF2-40B4-BE49-F238E27FC236}">
                <a16:creationId xmlns:a16="http://schemas.microsoft.com/office/drawing/2014/main" id="{49A2F340-8376-2EBC-F5DA-967CE754124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56390" y="3329832"/>
            <a:ext cx="217189" cy="182896"/>
          </a:xfrm>
          <a:prstGeom prst="rect">
            <a:avLst/>
          </a:prstGeom>
        </p:spPr>
      </p:pic>
      <p:pic>
        <p:nvPicPr>
          <p:cNvPr id="1331" name="Picture 1330">
            <a:extLst>
              <a:ext uri="{FF2B5EF4-FFF2-40B4-BE49-F238E27FC236}">
                <a16:creationId xmlns:a16="http://schemas.microsoft.com/office/drawing/2014/main" id="{BB321D6D-8A1E-DC21-3225-FDAC110A2F0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59744" y="3647514"/>
            <a:ext cx="236240" cy="182896"/>
          </a:xfrm>
          <a:prstGeom prst="rect">
            <a:avLst/>
          </a:prstGeom>
        </p:spPr>
      </p:pic>
      <p:cxnSp>
        <p:nvCxnSpPr>
          <p:cNvPr id="1332" name="Connector: Elbow 1331">
            <a:extLst>
              <a:ext uri="{FF2B5EF4-FFF2-40B4-BE49-F238E27FC236}">
                <a16:creationId xmlns:a16="http://schemas.microsoft.com/office/drawing/2014/main" id="{5EDEC4AD-3BF6-72D9-88BA-26F91793B42E}"/>
              </a:ext>
            </a:extLst>
          </p:cNvPr>
          <p:cNvCxnSpPr>
            <a:cxnSpLocks/>
            <a:stCxn id="1318" idx="1"/>
            <a:endCxn id="1314" idx="1"/>
          </p:cNvCxnSpPr>
          <p:nvPr/>
        </p:nvCxnSpPr>
        <p:spPr>
          <a:xfrm rot="10800000" flipH="1" flipV="1">
            <a:off x="5612122" y="2791449"/>
            <a:ext cx="118993" cy="1267520"/>
          </a:xfrm>
          <a:prstGeom prst="bentConnector3">
            <a:avLst>
              <a:gd name="adj1" fmla="val -94703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4" name="Straight Arrow Connector 1333">
            <a:extLst>
              <a:ext uri="{FF2B5EF4-FFF2-40B4-BE49-F238E27FC236}">
                <a16:creationId xmlns:a16="http://schemas.microsoft.com/office/drawing/2014/main" id="{D2AB3AB5-2CFD-F9CB-E74D-2818F34D0157}"/>
              </a:ext>
            </a:extLst>
          </p:cNvPr>
          <p:cNvCxnSpPr>
            <a:cxnSpLocks/>
            <a:stCxn id="1311" idx="2"/>
            <a:endCxn id="1335" idx="0"/>
          </p:cNvCxnSpPr>
          <p:nvPr/>
        </p:nvCxnSpPr>
        <p:spPr>
          <a:xfrm>
            <a:off x="6212943" y="4250560"/>
            <a:ext cx="0" cy="21034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5" name="TextBox 1334">
            <a:extLst>
              <a:ext uri="{FF2B5EF4-FFF2-40B4-BE49-F238E27FC236}">
                <a16:creationId xmlns:a16="http://schemas.microsoft.com/office/drawing/2014/main" id="{CBBF4AE0-2042-2E6B-9957-BFC9233C4AAE}"/>
              </a:ext>
            </a:extLst>
          </p:cNvPr>
          <p:cNvSpPr txBox="1"/>
          <p:nvPr/>
        </p:nvSpPr>
        <p:spPr>
          <a:xfrm>
            <a:off x="5468667" y="4460906"/>
            <a:ext cx="1488552" cy="4154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Interaction profiles per country-month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1336" name="Straight Arrow Connector 1335">
            <a:extLst>
              <a:ext uri="{FF2B5EF4-FFF2-40B4-BE49-F238E27FC236}">
                <a16:creationId xmlns:a16="http://schemas.microsoft.com/office/drawing/2014/main" id="{DC894C41-9780-BB01-336A-75B6B5D88AFC}"/>
              </a:ext>
            </a:extLst>
          </p:cNvPr>
          <p:cNvCxnSpPr>
            <a:cxnSpLocks/>
            <a:stCxn id="1335" idx="2"/>
          </p:cNvCxnSpPr>
          <p:nvPr/>
        </p:nvCxnSpPr>
        <p:spPr>
          <a:xfrm>
            <a:off x="6212943" y="4876404"/>
            <a:ext cx="0" cy="21695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38" name="Picture 1337">
            <a:extLst>
              <a:ext uri="{FF2B5EF4-FFF2-40B4-BE49-F238E27FC236}">
                <a16:creationId xmlns:a16="http://schemas.microsoft.com/office/drawing/2014/main" id="{2665D008-6278-E270-2949-F95779FEA5E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58064" y="5105712"/>
            <a:ext cx="1805354" cy="1365179"/>
          </a:xfrm>
          <a:prstGeom prst="rect">
            <a:avLst/>
          </a:prstGeom>
        </p:spPr>
      </p:pic>
      <p:sp>
        <p:nvSpPr>
          <p:cNvPr id="1340" name="Rectangle 1339">
            <a:extLst>
              <a:ext uri="{FF2B5EF4-FFF2-40B4-BE49-F238E27FC236}">
                <a16:creationId xmlns:a16="http://schemas.microsoft.com/office/drawing/2014/main" id="{8B1AB7DA-1837-5818-4D7C-E8E5D84370AB}"/>
              </a:ext>
            </a:extLst>
          </p:cNvPr>
          <p:cNvSpPr/>
          <p:nvPr/>
        </p:nvSpPr>
        <p:spPr>
          <a:xfrm>
            <a:off x="7379589" y="244796"/>
            <a:ext cx="2526015" cy="649396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41" name="TextBox 1340">
            <a:extLst>
              <a:ext uri="{FF2B5EF4-FFF2-40B4-BE49-F238E27FC236}">
                <a16:creationId xmlns:a16="http://schemas.microsoft.com/office/drawing/2014/main" id="{24AC257D-4F4C-667B-6524-ED2F48C9A35A}"/>
              </a:ext>
            </a:extLst>
          </p:cNvPr>
          <p:cNvSpPr txBox="1"/>
          <p:nvPr/>
        </p:nvSpPr>
        <p:spPr>
          <a:xfrm>
            <a:off x="7388623" y="253359"/>
            <a:ext cx="2510982" cy="6380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endParaRPr lang="fi-FI" sz="1200" dirty="0">
              <a:latin typeface="Whitney-Semibold" panose="02000603040000020004" pitchFamily="2" charset="0"/>
            </a:endParaRPr>
          </a:p>
        </p:txBody>
      </p:sp>
      <p:sp>
        <p:nvSpPr>
          <p:cNvPr id="1343" name="Rectangle 1342">
            <a:extLst>
              <a:ext uri="{FF2B5EF4-FFF2-40B4-BE49-F238E27FC236}">
                <a16:creationId xmlns:a16="http://schemas.microsoft.com/office/drawing/2014/main" id="{ADA74978-7DB6-DD1D-03DD-3F420882F95F}"/>
              </a:ext>
            </a:extLst>
          </p:cNvPr>
          <p:cNvSpPr/>
          <p:nvPr/>
        </p:nvSpPr>
        <p:spPr>
          <a:xfrm>
            <a:off x="7396988" y="48299"/>
            <a:ext cx="1091478" cy="2661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Stage 4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1408" name="TextBox 1407">
            <a:extLst>
              <a:ext uri="{FF2B5EF4-FFF2-40B4-BE49-F238E27FC236}">
                <a16:creationId xmlns:a16="http://schemas.microsoft.com/office/drawing/2014/main" id="{FE03E233-BE5B-376E-263E-986376046201}"/>
              </a:ext>
            </a:extLst>
          </p:cNvPr>
          <p:cNvSpPr txBox="1"/>
          <p:nvPr/>
        </p:nvSpPr>
        <p:spPr>
          <a:xfrm>
            <a:off x="7468106" y="325889"/>
            <a:ext cx="2336270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Segoe UI Variable Small Semibol" pitchFamily="2" charset="0"/>
              </a:rPr>
              <a:t>4. What gameplay characteristics characterize the underlying genre contexts </a:t>
            </a:r>
            <a:endParaRPr lang="fi-FI" sz="1100" dirty="0">
              <a:latin typeface="Segoe UI Variable Small Semibol" pitchFamily="2" charset="0"/>
            </a:endParaRPr>
          </a:p>
        </p:txBody>
      </p:sp>
      <p:sp>
        <p:nvSpPr>
          <p:cNvPr id="1430" name="Rectangle 1429">
            <a:extLst>
              <a:ext uri="{FF2B5EF4-FFF2-40B4-BE49-F238E27FC236}">
                <a16:creationId xmlns:a16="http://schemas.microsoft.com/office/drawing/2014/main" id="{F5FB790C-264A-1CB0-8A46-798E802E1B7E}"/>
              </a:ext>
            </a:extLst>
          </p:cNvPr>
          <p:cNvSpPr/>
          <p:nvPr/>
        </p:nvSpPr>
        <p:spPr>
          <a:xfrm>
            <a:off x="7465448" y="1991187"/>
            <a:ext cx="2378299" cy="2769257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31" name="Rectangle 1430">
            <a:extLst>
              <a:ext uri="{FF2B5EF4-FFF2-40B4-BE49-F238E27FC236}">
                <a16:creationId xmlns:a16="http://schemas.microsoft.com/office/drawing/2014/main" id="{B10FDAB9-A958-0061-DF0A-FD6825DF7AF7}"/>
              </a:ext>
            </a:extLst>
          </p:cNvPr>
          <p:cNvSpPr/>
          <p:nvPr/>
        </p:nvSpPr>
        <p:spPr>
          <a:xfrm>
            <a:off x="7465448" y="2002283"/>
            <a:ext cx="2378299" cy="4105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32" name="TextBox 1431">
            <a:extLst>
              <a:ext uri="{FF2B5EF4-FFF2-40B4-BE49-F238E27FC236}">
                <a16:creationId xmlns:a16="http://schemas.microsoft.com/office/drawing/2014/main" id="{8BCC3940-F669-2C0A-EAD2-AB90B33B9957}"/>
              </a:ext>
            </a:extLst>
          </p:cNvPr>
          <p:cNvSpPr txBox="1"/>
          <p:nvPr/>
        </p:nvSpPr>
        <p:spPr>
          <a:xfrm>
            <a:off x="7465448" y="1997338"/>
            <a:ext cx="1194299" cy="415498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</a:rPr>
              <a:t>Ads Supported Profiles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1433" name="Straight Connector 1432">
            <a:extLst>
              <a:ext uri="{FF2B5EF4-FFF2-40B4-BE49-F238E27FC236}">
                <a16:creationId xmlns:a16="http://schemas.microsoft.com/office/drawing/2014/main" id="{7672DE82-CC78-5B76-4B52-37A0172EB4BD}"/>
              </a:ext>
            </a:extLst>
          </p:cNvPr>
          <p:cNvCxnSpPr>
            <a:cxnSpLocks/>
          </p:cNvCxnSpPr>
          <p:nvPr/>
        </p:nvCxnSpPr>
        <p:spPr>
          <a:xfrm>
            <a:off x="8688837" y="2507899"/>
            <a:ext cx="17087" cy="20669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4" name="Straight Connector 1433">
            <a:extLst>
              <a:ext uri="{FF2B5EF4-FFF2-40B4-BE49-F238E27FC236}">
                <a16:creationId xmlns:a16="http://schemas.microsoft.com/office/drawing/2014/main" id="{79F482BF-85D5-209F-E2B9-AB94000C20AC}"/>
              </a:ext>
            </a:extLst>
          </p:cNvPr>
          <p:cNvCxnSpPr>
            <a:cxnSpLocks/>
          </p:cNvCxnSpPr>
          <p:nvPr/>
        </p:nvCxnSpPr>
        <p:spPr>
          <a:xfrm>
            <a:off x="7745923" y="3525085"/>
            <a:ext cx="19388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7" name="TextBox 1436">
            <a:extLst>
              <a:ext uri="{FF2B5EF4-FFF2-40B4-BE49-F238E27FC236}">
                <a16:creationId xmlns:a16="http://schemas.microsoft.com/office/drawing/2014/main" id="{8861B26F-5E16-2D08-2E9D-8465E291DFA7}"/>
              </a:ext>
            </a:extLst>
          </p:cNvPr>
          <p:cNvSpPr txBox="1"/>
          <p:nvPr/>
        </p:nvSpPr>
        <p:spPr>
          <a:xfrm>
            <a:off x="8664040" y="1990717"/>
            <a:ext cx="1178013" cy="415498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</a:rPr>
              <a:t>IAP Supported Profiles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38" name="TextBox 1437">
            <a:extLst>
              <a:ext uri="{FF2B5EF4-FFF2-40B4-BE49-F238E27FC236}">
                <a16:creationId xmlns:a16="http://schemas.microsoft.com/office/drawing/2014/main" id="{DC4372C6-F86F-EAB0-9026-8A8105F6F366}"/>
              </a:ext>
            </a:extLst>
          </p:cNvPr>
          <p:cNvSpPr txBox="1"/>
          <p:nvPr/>
        </p:nvSpPr>
        <p:spPr>
          <a:xfrm rot="16200000">
            <a:off x="7044242" y="2837715"/>
            <a:ext cx="1073249" cy="230836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Strong Synergic 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39" name="TextBox 1438">
            <a:extLst>
              <a:ext uri="{FF2B5EF4-FFF2-40B4-BE49-F238E27FC236}">
                <a16:creationId xmlns:a16="http://schemas.microsoft.com/office/drawing/2014/main" id="{D845D9C2-6106-09D7-7CB5-19FADCEF0962}"/>
              </a:ext>
            </a:extLst>
          </p:cNvPr>
          <p:cNvSpPr txBox="1"/>
          <p:nvPr/>
        </p:nvSpPr>
        <p:spPr>
          <a:xfrm rot="16200000">
            <a:off x="6946016" y="4010173"/>
            <a:ext cx="1269703" cy="230839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Strong Antagonistic 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40" name="Oval 1439">
            <a:extLst>
              <a:ext uri="{FF2B5EF4-FFF2-40B4-BE49-F238E27FC236}">
                <a16:creationId xmlns:a16="http://schemas.microsoft.com/office/drawing/2014/main" id="{F69B492E-3164-A750-380A-53D15EEF2518}"/>
              </a:ext>
            </a:extLst>
          </p:cNvPr>
          <p:cNvSpPr/>
          <p:nvPr/>
        </p:nvSpPr>
        <p:spPr>
          <a:xfrm>
            <a:off x="7726820" y="2953781"/>
            <a:ext cx="600257" cy="535977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41" name="TextBox 1440">
            <a:extLst>
              <a:ext uri="{FF2B5EF4-FFF2-40B4-BE49-F238E27FC236}">
                <a16:creationId xmlns:a16="http://schemas.microsoft.com/office/drawing/2014/main" id="{0107DFE5-C7CB-9D48-FCFA-1035035DD663}"/>
              </a:ext>
            </a:extLst>
          </p:cNvPr>
          <p:cNvSpPr txBox="1"/>
          <p:nvPr/>
        </p:nvSpPr>
        <p:spPr>
          <a:xfrm>
            <a:off x="7726820" y="3237741"/>
            <a:ext cx="608843" cy="215444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Casual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42" name="TextBox 1441">
            <a:extLst>
              <a:ext uri="{FF2B5EF4-FFF2-40B4-BE49-F238E27FC236}">
                <a16:creationId xmlns:a16="http://schemas.microsoft.com/office/drawing/2014/main" id="{2F511C96-9121-119A-EB53-D142DFAB99E8}"/>
              </a:ext>
            </a:extLst>
          </p:cNvPr>
          <p:cNvSpPr txBox="1"/>
          <p:nvPr/>
        </p:nvSpPr>
        <p:spPr>
          <a:xfrm>
            <a:off x="8059490" y="2516912"/>
            <a:ext cx="608843" cy="215444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Puzzle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43" name="Oval 1442">
            <a:extLst>
              <a:ext uri="{FF2B5EF4-FFF2-40B4-BE49-F238E27FC236}">
                <a16:creationId xmlns:a16="http://schemas.microsoft.com/office/drawing/2014/main" id="{DDDED670-76EE-1AA7-19C4-2D7E251D0040}"/>
              </a:ext>
            </a:extLst>
          </p:cNvPr>
          <p:cNvSpPr/>
          <p:nvPr/>
        </p:nvSpPr>
        <p:spPr>
          <a:xfrm>
            <a:off x="7822178" y="3034769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44" name="Oval 1443">
            <a:extLst>
              <a:ext uri="{FF2B5EF4-FFF2-40B4-BE49-F238E27FC236}">
                <a16:creationId xmlns:a16="http://schemas.microsoft.com/office/drawing/2014/main" id="{08132CBB-6794-6EDC-639E-6EFB681F27EE}"/>
              </a:ext>
            </a:extLst>
          </p:cNvPr>
          <p:cNvSpPr/>
          <p:nvPr/>
        </p:nvSpPr>
        <p:spPr>
          <a:xfrm>
            <a:off x="7974578" y="3187169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45" name="Oval 1444">
            <a:extLst>
              <a:ext uri="{FF2B5EF4-FFF2-40B4-BE49-F238E27FC236}">
                <a16:creationId xmlns:a16="http://schemas.microsoft.com/office/drawing/2014/main" id="{12730C3B-652F-36FB-944B-F6D04EDC1E50}"/>
              </a:ext>
            </a:extLst>
          </p:cNvPr>
          <p:cNvSpPr/>
          <p:nvPr/>
        </p:nvSpPr>
        <p:spPr>
          <a:xfrm>
            <a:off x="7998188" y="3056231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46" name="Oval 1445">
            <a:extLst>
              <a:ext uri="{FF2B5EF4-FFF2-40B4-BE49-F238E27FC236}">
                <a16:creationId xmlns:a16="http://schemas.microsoft.com/office/drawing/2014/main" id="{D3B808EB-5101-04CC-CB96-EC277543897D}"/>
              </a:ext>
            </a:extLst>
          </p:cNvPr>
          <p:cNvSpPr/>
          <p:nvPr/>
        </p:nvSpPr>
        <p:spPr>
          <a:xfrm>
            <a:off x="8139857" y="3112040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47" name="Oval 1446">
            <a:extLst>
              <a:ext uri="{FF2B5EF4-FFF2-40B4-BE49-F238E27FC236}">
                <a16:creationId xmlns:a16="http://schemas.microsoft.com/office/drawing/2014/main" id="{72C5215D-8A5A-5274-1CD0-DB5BBF99B3DC}"/>
              </a:ext>
            </a:extLst>
          </p:cNvPr>
          <p:cNvSpPr/>
          <p:nvPr/>
        </p:nvSpPr>
        <p:spPr>
          <a:xfrm>
            <a:off x="8191377" y="2732127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48" name="Oval 1447">
            <a:extLst>
              <a:ext uri="{FF2B5EF4-FFF2-40B4-BE49-F238E27FC236}">
                <a16:creationId xmlns:a16="http://schemas.microsoft.com/office/drawing/2014/main" id="{40A14BAA-CBC9-C85F-D5ED-56DFFF1CF4E2}"/>
              </a:ext>
            </a:extLst>
          </p:cNvPr>
          <p:cNvSpPr/>
          <p:nvPr/>
        </p:nvSpPr>
        <p:spPr>
          <a:xfrm>
            <a:off x="8365238" y="2778872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49" name="Oval 1448">
            <a:extLst>
              <a:ext uri="{FF2B5EF4-FFF2-40B4-BE49-F238E27FC236}">
                <a16:creationId xmlns:a16="http://schemas.microsoft.com/office/drawing/2014/main" id="{9671795F-7FB4-308E-6E90-E8DFA1DB8C1A}"/>
              </a:ext>
            </a:extLst>
          </p:cNvPr>
          <p:cNvSpPr/>
          <p:nvPr/>
        </p:nvSpPr>
        <p:spPr>
          <a:xfrm>
            <a:off x="8519788" y="2704239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50" name="Oval 1449">
            <a:extLst>
              <a:ext uri="{FF2B5EF4-FFF2-40B4-BE49-F238E27FC236}">
                <a16:creationId xmlns:a16="http://schemas.microsoft.com/office/drawing/2014/main" id="{F6D72679-1B20-0A66-53FF-9360E3E274A7}"/>
              </a:ext>
            </a:extLst>
          </p:cNvPr>
          <p:cNvSpPr/>
          <p:nvPr/>
        </p:nvSpPr>
        <p:spPr>
          <a:xfrm>
            <a:off x="8122992" y="2503631"/>
            <a:ext cx="512706" cy="427121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51" name="Oval 1450">
            <a:extLst>
              <a:ext uri="{FF2B5EF4-FFF2-40B4-BE49-F238E27FC236}">
                <a16:creationId xmlns:a16="http://schemas.microsoft.com/office/drawing/2014/main" id="{164C720A-6360-9F6C-B8CB-6990184F5637}"/>
              </a:ext>
            </a:extLst>
          </p:cNvPr>
          <p:cNvSpPr/>
          <p:nvPr/>
        </p:nvSpPr>
        <p:spPr>
          <a:xfrm>
            <a:off x="9210669" y="2724321"/>
            <a:ext cx="572977" cy="505868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52" name="Oval 1451">
            <a:extLst>
              <a:ext uri="{FF2B5EF4-FFF2-40B4-BE49-F238E27FC236}">
                <a16:creationId xmlns:a16="http://schemas.microsoft.com/office/drawing/2014/main" id="{8C2E6204-49A8-C13A-2E69-49880C447B29}"/>
              </a:ext>
            </a:extLst>
          </p:cNvPr>
          <p:cNvSpPr/>
          <p:nvPr/>
        </p:nvSpPr>
        <p:spPr>
          <a:xfrm>
            <a:off x="8819620" y="2943109"/>
            <a:ext cx="458175" cy="527857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53" name="TextBox 1452">
            <a:extLst>
              <a:ext uri="{FF2B5EF4-FFF2-40B4-BE49-F238E27FC236}">
                <a16:creationId xmlns:a16="http://schemas.microsoft.com/office/drawing/2014/main" id="{B870BA03-3CA4-D5B5-20CB-7259115E4C47}"/>
              </a:ext>
            </a:extLst>
          </p:cNvPr>
          <p:cNvSpPr txBox="1"/>
          <p:nvPr/>
        </p:nvSpPr>
        <p:spPr>
          <a:xfrm>
            <a:off x="8713823" y="2988462"/>
            <a:ext cx="608843" cy="215444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RPG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54" name="TextBox 1453">
            <a:extLst>
              <a:ext uri="{FF2B5EF4-FFF2-40B4-BE49-F238E27FC236}">
                <a16:creationId xmlns:a16="http://schemas.microsoft.com/office/drawing/2014/main" id="{C6A22899-0AD3-AED5-2D60-D810E874C3F8}"/>
              </a:ext>
            </a:extLst>
          </p:cNvPr>
          <p:cNvSpPr txBox="1"/>
          <p:nvPr/>
        </p:nvSpPr>
        <p:spPr>
          <a:xfrm>
            <a:off x="9148421" y="2821191"/>
            <a:ext cx="756318" cy="215444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Strategy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55" name="Oval 1454">
            <a:extLst>
              <a:ext uri="{FF2B5EF4-FFF2-40B4-BE49-F238E27FC236}">
                <a16:creationId xmlns:a16="http://schemas.microsoft.com/office/drawing/2014/main" id="{D81006B7-261A-727C-B019-ECC8A907D787}"/>
              </a:ext>
            </a:extLst>
          </p:cNvPr>
          <p:cNvSpPr/>
          <p:nvPr/>
        </p:nvSpPr>
        <p:spPr>
          <a:xfrm>
            <a:off x="9119543" y="3242078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56" name="Oval 1455">
            <a:extLst>
              <a:ext uri="{FF2B5EF4-FFF2-40B4-BE49-F238E27FC236}">
                <a16:creationId xmlns:a16="http://schemas.microsoft.com/office/drawing/2014/main" id="{D14BE0F3-544A-BF02-EEF8-6E28E1251449}"/>
              </a:ext>
            </a:extLst>
          </p:cNvPr>
          <p:cNvSpPr/>
          <p:nvPr/>
        </p:nvSpPr>
        <p:spPr>
          <a:xfrm>
            <a:off x="8995047" y="3288822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57" name="Oval 1456">
            <a:extLst>
              <a:ext uri="{FF2B5EF4-FFF2-40B4-BE49-F238E27FC236}">
                <a16:creationId xmlns:a16="http://schemas.microsoft.com/office/drawing/2014/main" id="{190B30DD-55C6-67A7-4506-A61578DAAF92}"/>
              </a:ext>
            </a:extLst>
          </p:cNvPr>
          <p:cNvSpPr/>
          <p:nvPr/>
        </p:nvSpPr>
        <p:spPr>
          <a:xfrm>
            <a:off x="8873455" y="3215226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58" name="Oval 1457">
            <a:extLst>
              <a:ext uri="{FF2B5EF4-FFF2-40B4-BE49-F238E27FC236}">
                <a16:creationId xmlns:a16="http://schemas.microsoft.com/office/drawing/2014/main" id="{58CC336F-2DD3-B0F7-36C6-7E36E67E2EC4}"/>
              </a:ext>
            </a:extLst>
          </p:cNvPr>
          <p:cNvSpPr/>
          <p:nvPr/>
        </p:nvSpPr>
        <p:spPr>
          <a:xfrm>
            <a:off x="9324437" y="3068895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59" name="Oval 1458">
            <a:extLst>
              <a:ext uri="{FF2B5EF4-FFF2-40B4-BE49-F238E27FC236}">
                <a16:creationId xmlns:a16="http://schemas.microsoft.com/office/drawing/2014/main" id="{01C0CBAB-6F98-8481-C9AF-1DFAA36171B3}"/>
              </a:ext>
            </a:extLst>
          </p:cNvPr>
          <p:cNvSpPr/>
          <p:nvPr/>
        </p:nvSpPr>
        <p:spPr>
          <a:xfrm>
            <a:off x="9444636" y="3088787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60" name="Oval 1459">
            <a:extLst>
              <a:ext uri="{FF2B5EF4-FFF2-40B4-BE49-F238E27FC236}">
                <a16:creationId xmlns:a16="http://schemas.microsoft.com/office/drawing/2014/main" id="{1B7778F1-3CC8-A9B7-27B0-B044A7851192}"/>
              </a:ext>
            </a:extLst>
          </p:cNvPr>
          <p:cNvSpPr/>
          <p:nvPr/>
        </p:nvSpPr>
        <p:spPr>
          <a:xfrm>
            <a:off x="9558403" y="3042042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61" name="Oval 1460">
            <a:extLst>
              <a:ext uri="{FF2B5EF4-FFF2-40B4-BE49-F238E27FC236}">
                <a16:creationId xmlns:a16="http://schemas.microsoft.com/office/drawing/2014/main" id="{AC0E2A74-9351-ED42-A8FE-34100001D238}"/>
              </a:ext>
            </a:extLst>
          </p:cNvPr>
          <p:cNvSpPr/>
          <p:nvPr/>
        </p:nvSpPr>
        <p:spPr>
          <a:xfrm>
            <a:off x="8240341" y="4613835"/>
            <a:ext cx="81566" cy="93489"/>
          </a:xfrm>
          <a:prstGeom prst="ellipse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62" name="Oval 1461">
            <a:extLst>
              <a:ext uri="{FF2B5EF4-FFF2-40B4-BE49-F238E27FC236}">
                <a16:creationId xmlns:a16="http://schemas.microsoft.com/office/drawing/2014/main" id="{F8EC8DE1-733D-F7F7-ADC2-3E77EB7C24FE}"/>
              </a:ext>
            </a:extLst>
          </p:cNvPr>
          <p:cNvSpPr/>
          <p:nvPr/>
        </p:nvSpPr>
        <p:spPr>
          <a:xfrm>
            <a:off x="7965648" y="3802344"/>
            <a:ext cx="686798" cy="488599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800">
              <a:latin typeface="Segoe UI Variable Small Semibol" pitchFamily="2" charset="0"/>
            </a:endParaRPr>
          </a:p>
        </p:txBody>
      </p:sp>
      <p:sp>
        <p:nvSpPr>
          <p:cNvPr id="1463" name="Oval 1462">
            <a:extLst>
              <a:ext uri="{FF2B5EF4-FFF2-40B4-BE49-F238E27FC236}">
                <a16:creationId xmlns:a16="http://schemas.microsoft.com/office/drawing/2014/main" id="{B4D22E6D-137D-EB14-E96E-634CA28BFF5B}"/>
              </a:ext>
            </a:extLst>
          </p:cNvPr>
          <p:cNvSpPr/>
          <p:nvPr/>
        </p:nvSpPr>
        <p:spPr>
          <a:xfrm>
            <a:off x="7754492" y="3571512"/>
            <a:ext cx="385365" cy="372041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64" name="Oval 1463">
            <a:extLst>
              <a:ext uri="{FF2B5EF4-FFF2-40B4-BE49-F238E27FC236}">
                <a16:creationId xmlns:a16="http://schemas.microsoft.com/office/drawing/2014/main" id="{D1A2CB93-3476-A27F-9C3F-6E8E758D7228}"/>
              </a:ext>
            </a:extLst>
          </p:cNvPr>
          <p:cNvSpPr/>
          <p:nvPr/>
        </p:nvSpPr>
        <p:spPr>
          <a:xfrm>
            <a:off x="7745923" y="4135530"/>
            <a:ext cx="522318" cy="486789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65" name="TextBox 1464">
            <a:extLst>
              <a:ext uri="{FF2B5EF4-FFF2-40B4-BE49-F238E27FC236}">
                <a16:creationId xmlns:a16="http://schemas.microsoft.com/office/drawing/2014/main" id="{E776133F-9DB2-0073-56E2-98E98DCE2953}"/>
              </a:ext>
            </a:extLst>
          </p:cNvPr>
          <p:cNvSpPr txBox="1"/>
          <p:nvPr/>
        </p:nvSpPr>
        <p:spPr>
          <a:xfrm>
            <a:off x="7667966" y="3571512"/>
            <a:ext cx="608843" cy="215444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RPG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66" name="TextBox 1465">
            <a:extLst>
              <a:ext uri="{FF2B5EF4-FFF2-40B4-BE49-F238E27FC236}">
                <a16:creationId xmlns:a16="http://schemas.microsoft.com/office/drawing/2014/main" id="{C5F1F255-F461-576D-21D5-178F2DE81E6A}"/>
              </a:ext>
            </a:extLst>
          </p:cNvPr>
          <p:cNvSpPr txBox="1"/>
          <p:nvPr/>
        </p:nvSpPr>
        <p:spPr>
          <a:xfrm>
            <a:off x="7651499" y="4174353"/>
            <a:ext cx="725510" cy="215444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Strategy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67" name="TextBox 1466">
            <a:extLst>
              <a:ext uri="{FF2B5EF4-FFF2-40B4-BE49-F238E27FC236}">
                <a16:creationId xmlns:a16="http://schemas.microsoft.com/office/drawing/2014/main" id="{73D8D1E1-1005-1968-F5E0-DC1020750E7A}"/>
              </a:ext>
            </a:extLst>
          </p:cNvPr>
          <p:cNvSpPr txBox="1"/>
          <p:nvPr/>
        </p:nvSpPr>
        <p:spPr>
          <a:xfrm>
            <a:off x="7904212" y="3863173"/>
            <a:ext cx="781208" cy="230832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Simulation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68" name="Oval 1467">
            <a:extLst>
              <a:ext uri="{FF2B5EF4-FFF2-40B4-BE49-F238E27FC236}">
                <a16:creationId xmlns:a16="http://schemas.microsoft.com/office/drawing/2014/main" id="{DFFD94A2-DF4D-E112-EF58-A301E45A6953}"/>
              </a:ext>
            </a:extLst>
          </p:cNvPr>
          <p:cNvSpPr/>
          <p:nvPr/>
        </p:nvSpPr>
        <p:spPr>
          <a:xfrm>
            <a:off x="7799631" y="3769684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69" name="Oval 1468">
            <a:extLst>
              <a:ext uri="{FF2B5EF4-FFF2-40B4-BE49-F238E27FC236}">
                <a16:creationId xmlns:a16="http://schemas.microsoft.com/office/drawing/2014/main" id="{91E6D4D5-A8ED-D4BF-CF83-36C81036B9BD}"/>
              </a:ext>
            </a:extLst>
          </p:cNvPr>
          <p:cNvSpPr/>
          <p:nvPr/>
        </p:nvSpPr>
        <p:spPr>
          <a:xfrm>
            <a:off x="7903052" y="3862421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70" name="Oval 1469">
            <a:extLst>
              <a:ext uri="{FF2B5EF4-FFF2-40B4-BE49-F238E27FC236}">
                <a16:creationId xmlns:a16="http://schemas.microsoft.com/office/drawing/2014/main" id="{3D1A1A29-A7C4-9E19-83F6-F0D6E12C7856}"/>
              </a:ext>
            </a:extLst>
          </p:cNvPr>
          <p:cNvSpPr/>
          <p:nvPr/>
        </p:nvSpPr>
        <p:spPr>
          <a:xfrm>
            <a:off x="8007082" y="3769684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71" name="Oval 1470">
            <a:extLst>
              <a:ext uri="{FF2B5EF4-FFF2-40B4-BE49-F238E27FC236}">
                <a16:creationId xmlns:a16="http://schemas.microsoft.com/office/drawing/2014/main" id="{C8A095D5-A7DD-BD9B-DC58-CF5702AFD258}"/>
              </a:ext>
            </a:extLst>
          </p:cNvPr>
          <p:cNvSpPr/>
          <p:nvPr/>
        </p:nvSpPr>
        <p:spPr>
          <a:xfrm>
            <a:off x="8212432" y="4023828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72" name="Oval 1471">
            <a:extLst>
              <a:ext uri="{FF2B5EF4-FFF2-40B4-BE49-F238E27FC236}">
                <a16:creationId xmlns:a16="http://schemas.microsoft.com/office/drawing/2014/main" id="{35166A74-9A0B-4DDA-6F60-0EA284F5B164}"/>
              </a:ext>
            </a:extLst>
          </p:cNvPr>
          <p:cNvSpPr/>
          <p:nvPr/>
        </p:nvSpPr>
        <p:spPr>
          <a:xfrm>
            <a:off x="8321907" y="4064611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73" name="Oval 1472">
            <a:extLst>
              <a:ext uri="{FF2B5EF4-FFF2-40B4-BE49-F238E27FC236}">
                <a16:creationId xmlns:a16="http://schemas.microsoft.com/office/drawing/2014/main" id="{DCB0A77D-3082-4120-C9CB-39435E1FD80A}"/>
              </a:ext>
            </a:extLst>
          </p:cNvPr>
          <p:cNvSpPr/>
          <p:nvPr/>
        </p:nvSpPr>
        <p:spPr>
          <a:xfrm>
            <a:off x="8439960" y="4034560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74" name="Oval 1473">
            <a:extLst>
              <a:ext uri="{FF2B5EF4-FFF2-40B4-BE49-F238E27FC236}">
                <a16:creationId xmlns:a16="http://schemas.microsoft.com/office/drawing/2014/main" id="{83E1AE8C-A3BE-472A-2218-C92D40948BF4}"/>
              </a:ext>
            </a:extLst>
          </p:cNvPr>
          <p:cNvSpPr/>
          <p:nvPr/>
        </p:nvSpPr>
        <p:spPr>
          <a:xfrm>
            <a:off x="7852589" y="4395998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75" name="Oval 1474">
            <a:extLst>
              <a:ext uri="{FF2B5EF4-FFF2-40B4-BE49-F238E27FC236}">
                <a16:creationId xmlns:a16="http://schemas.microsoft.com/office/drawing/2014/main" id="{55D6E244-5185-38E6-EEBB-E57C79884D77}"/>
              </a:ext>
            </a:extLst>
          </p:cNvPr>
          <p:cNvSpPr/>
          <p:nvPr/>
        </p:nvSpPr>
        <p:spPr>
          <a:xfrm>
            <a:off x="7928396" y="4520346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76" name="Oval 1475">
            <a:extLst>
              <a:ext uri="{FF2B5EF4-FFF2-40B4-BE49-F238E27FC236}">
                <a16:creationId xmlns:a16="http://schemas.microsoft.com/office/drawing/2014/main" id="{8F128890-B22E-A598-539E-148AE3B84346}"/>
              </a:ext>
            </a:extLst>
          </p:cNvPr>
          <p:cNvSpPr/>
          <p:nvPr/>
        </p:nvSpPr>
        <p:spPr>
          <a:xfrm>
            <a:off x="8014995" y="4395998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78" name="TextBox 1477">
            <a:extLst>
              <a:ext uri="{FF2B5EF4-FFF2-40B4-BE49-F238E27FC236}">
                <a16:creationId xmlns:a16="http://schemas.microsoft.com/office/drawing/2014/main" id="{4BE58022-2063-902C-89F9-3317E64AFCAC}"/>
              </a:ext>
            </a:extLst>
          </p:cNvPr>
          <p:cNvSpPr txBox="1"/>
          <p:nvPr/>
        </p:nvSpPr>
        <p:spPr>
          <a:xfrm>
            <a:off x="8272943" y="4573472"/>
            <a:ext cx="165151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Each dot represents game in that profile</a:t>
            </a:r>
            <a:endParaRPr lang="fi-FI" sz="6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79" name="Oval 1478">
            <a:extLst>
              <a:ext uri="{FF2B5EF4-FFF2-40B4-BE49-F238E27FC236}">
                <a16:creationId xmlns:a16="http://schemas.microsoft.com/office/drawing/2014/main" id="{B7BD336A-A01E-4297-AA7A-144461C9FC74}"/>
              </a:ext>
            </a:extLst>
          </p:cNvPr>
          <p:cNvSpPr/>
          <p:nvPr/>
        </p:nvSpPr>
        <p:spPr>
          <a:xfrm>
            <a:off x="8738854" y="3854675"/>
            <a:ext cx="479644" cy="541324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80" name="TextBox 1479">
            <a:extLst>
              <a:ext uri="{FF2B5EF4-FFF2-40B4-BE49-F238E27FC236}">
                <a16:creationId xmlns:a16="http://schemas.microsoft.com/office/drawing/2014/main" id="{740F24D4-54D0-5A05-8109-E55826297451}"/>
              </a:ext>
            </a:extLst>
          </p:cNvPr>
          <p:cNvSpPr txBox="1"/>
          <p:nvPr/>
        </p:nvSpPr>
        <p:spPr>
          <a:xfrm>
            <a:off x="8662720" y="3986701"/>
            <a:ext cx="608843" cy="215444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Casual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81" name="TextBox 1480">
            <a:extLst>
              <a:ext uri="{FF2B5EF4-FFF2-40B4-BE49-F238E27FC236}">
                <a16:creationId xmlns:a16="http://schemas.microsoft.com/office/drawing/2014/main" id="{71FE228B-A366-9E48-DE2C-94FEEA9DE293}"/>
              </a:ext>
            </a:extLst>
          </p:cNvPr>
          <p:cNvSpPr txBox="1"/>
          <p:nvPr/>
        </p:nvSpPr>
        <p:spPr>
          <a:xfrm>
            <a:off x="9186780" y="3908270"/>
            <a:ext cx="608843" cy="215444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Puzzle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82" name="Oval 1481">
            <a:extLst>
              <a:ext uri="{FF2B5EF4-FFF2-40B4-BE49-F238E27FC236}">
                <a16:creationId xmlns:a16="http://schemas.microsoft.com/office/drawing/2014/main" id="{7C927600-FF42-E57E-E03F-D65231758829}"/>
              </a:ext>
            </a:extLst>
          </p:cNvPr>
          <p:cNvSpPr/>
          <p:nvPr/>
        </p:nvSpPr>
        <p:spPr>
          <a:xfrm rot="806182">
            <a:off x="8937961" y="3916467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83" name="Oval 1482">
            <a:extLst>
              <a:ext uri="{FF2B5EF4-FFF2-40B4-BE49-F238E27FC236}">
                <a16:creationId xmlns:a16="http://schemas.microsoft.com/office/drawing/2014/main" id="{D3520ADB-E5D4-B723-4EC7-6612BB8D7FAB}"/>
              </a:ext>
            </a:extLst>
          </p:cNvPr>
          <p:cNvSpPr/>
          <p:nvPr/>
        </p:nvSpPr>
        <p:spPr>
          <a:xfrm>
            <a:off x="8967142" y="4216172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84" name="Oval 1483">
            <a:extLst>
              <a:ext uri="{FF2B5EF4-FFF2-40B4-BE49-F238E27FC236}">
                <a16:creationId xmlns:a16="http://schemas.microsoft.com/office/drawing/2014/main" id="{B3061CC7-7EF1-FCB6-B359-83CBD3BA9337}"/>
              </a:ext>
            </a:extLst>
          </p:cNvPr>
          <p:cNvSpPr/>
          <p:nvPr/>
        </p:nvSpPr>
        <p:spPr>
          <a:xfrm>
            <a:off x="9603253" y="3776144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85" name="Oval 1484">
            <a:extLst>
              <a:ext uri="{FF2B5EF4-FFF2-40B4-BE49-F238E27FC236}">
                <a16:creationId xmlns:a16="http://schemas.microsoft.com/office/drawing/2014/main" id="{8D609EE5-8602-076C-B587-592A21874CD4}"/>
              </a:ext>
            </a:extLst>
          </p:cNvPr>
          <p:cNvSpPr/>
          <p:nvPr/>
        </p:nvSpPr>
        <p:spPr>
          <a:xfrm>
            <a:off x="9455091" y="3761598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86" name="Oval 1485">
            <a:extLst>
              <a:ext uri="{FF2B5EF4-FFF2-40B4-BE49-F238E27FC236}">
                <a16:creationId xmlns:a16="http://schemas.microsoft.com/office/drawing/2014/main" id="{DD299C8A-D567-DD8F-8FDA-7DA25AB5BDD3}"/>
              </a:ext>
            </a:extLst>
          </p:cNvPr>
          <p:cNvSpPr/>
          <p:nvPr/>
        </p:nvSpPr>
        <p:spPr>
          <a:xfrm>
            <a:off x="9296255" y="3822889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87" name="Oval 1486">
            <a:extLst>
              <a:ext uri="{FF2B5EF4-FFF2-40B4-BE49-F238E27FC236}">
                <a16:creationId xmlns:a16="http://schemas.microsoft.com/office/drawing/2014/main" id="{87E87761-C999-AAE7-AC91-3A950A8A2166}"/>
              </a:ext>
            </a:extLst>
          </p:cNvPr>
          <p:cNvSpPr/>
          <p:nvPr/>
        </p:nvSpPr>
        <p:spPr>
          <a:xfrm>
            <a:off x="9186780" y="3644346"/>
            <a:ext cx="607814" cy="516022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492" name="Rectangle 1491">
            <a:extLst>
              <a:ext uri="{FF2B5EF4-FFF2-40B4-BE49-F238E27FC236}">
                <a16:creationId xmlns:a16="http://schemas.microsoft.com/office/drawing/2014/main" id="{53B7B828-D48B-4419-9152-B3A2353B33FC}"/>
              </a:ext>
            </a:extLst>
          </p:cNvPr>
          <p:cNvSpPr/>
          <p:nvPr/>
        </p:nvSpPr>
        <p:spPr>
          <a:xfrm rot="10800000">
            <a:off x="7469741" y="4882292"/>
            <a:ext cx="2366544" cy="983330"/>
          </a:xfrm>
          <a:prstGeom prst="rect">
            <a:avLst/>
          </a:prstGeom>
          <a:solidFill>
            <a:srgbClr val="CBCBCB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93" name="TextBox 1492">
            <a:extLst>
              <a:ext uri="{FF2B5EF4-FFF2-40B4-BE49-F238E27FC236}">
                <a16:creationId xmlns:a16="http://schemas.microsoft.com/office/drawing/2014/main" id="{FB684C75-2242-9AAB-145A-FC43D4AD4C13}"/>
              </a:ext>
            </a:extLst>
          </p:cNvPr>
          <p:cNvSpPr txBox="1"/>
          <p:nvPr/>
        </p:nvSpPr>
        <p:spPr>
          <a:xfrm>
            <a:off x="7533748" y="4883156"/>
            <a:ext cx="168805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Extract Gameplay Info: 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94" name="TextBox 1493">
            <a:extLst>
              <a:ext uri="{FF2B5EF4-FFF2-40B4-BE49-F238E27FC236}">
                <a16:creationId xmlns:a16="http://schemas.microsoft.com/office/drawing/2014/main" id="{2EBD6CAC-07CE-1CC2-2E8D-935ECF446043}"/>
              </a:ext>
            </a:extLst>
          </p:cNvPr>
          <p:cNvSpPr txBox="1"/>
          <p:nvPr/>
        </p:nvSpPr>
        <p:spPr>
          <a:xfrm>
            <a:off x="7436549" y="5072869"/>
            <a:ext cx="2446396" cy="784830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r>
              <a:rPr lang="en-US" sz="900" dirty="0">
                <a:latin typeface="Segoe UI Variable Small Semibol" pitchFamily="2" charset="0"/>
              </a:rPr>
              <a:t>i. Organization of Play (</a:t>
            </a:r>
            <a:r>
              <a:rPr lang="fi-FI" sz="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What</a:t>
            </a:r>
            <a:r>
              <a:rPr lang="fi-FI" sz="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the </a:t>
            </a:r>
            <a:r>
              <a:rPr lang="fi-FI" sz="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player</a:t>
            </a:r>
            <a:r>
              <a:rPr lang="fi-FI" sz="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i-FI" sz="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does</a:t>
            </a:r>
            <a:r>
              <a:rPr lang="fi-FI" sz="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  <a:endParaRPr lang="en-US" sz="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fi-FI" sz="900" dirty="0">
                <a:latin typeface="Segoe UI Variable Small Semibol" pitchFamily="2" charset="0"/>
              </a:rPr>
              <a:t>ii. Progression &amp; Persistence</a:t>
            </a:r>
          </a:p>
          <a:p>
            <a:r>
              <a:rPr lang="fi-FI" sz="900" dirty="0">
                <a:latin typeface="Segoe UI Variable Small Semibol" pitchFamily="2" charset="0"/>
              </a:rPr>
              <a:t> (</a:t>
            </a:r>
            <a:r>
              <a:rPr lang="en-US" sz="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What develops or carries forward))</a:t>
            </a:r>
          </a:p>
          <a:p>
            <a:r>
              <a:rPr lang="fi-FI" sz="900" dirty="0">
                <a:latin typeface="Segoe UI Variable Small Semibol" pitchFamily="2" charset="0"/>
              </a:rPr>
              <a:t>iii. </a:t>
            </a:r>
            <a:r>
              <a:rPr lang="fi-FI" sz="900" dirty="0" err="1">
                <a:latin typeface="Segoe UI Variable Small Semibol" pitchFamily="2" charset="0"/>
              </a:rPr>
              <a:t>Overall</a:t>
            </a:r>
            <a:r>
              <a:rPr lang="fi-FI" sz="900" dirty="0">
                <a:latin typeface="Segoe UI Variable Small Semibol" pitchFamily="2" charset="0"/>
              </a:rPr>
              <a:t> </a:t>
            </a:r>
            <a:r>
              <a:rPr lang="fi-FI" sz="900" dirty="0" err="1">
                <a:latin typeface="Segoe UI Variable Small Semibol" pitchFamily="2" charset="0"/>
              </a:rPr>
              <a:t>Form</a:t>
            </a:r>
            <a:r>
              <a:rPr lang="fi-FI" sz="900" dirty="0">
                <a:latin typeface="Segoe UI Variable Small Semibol" pitchFamily="2" charset="0"/>
              </a:rPr>
              <a:t> of Play  </a:t>
            </a:r>
          </a:p>
          <a:p>
            <a:r>
              <a:rPr lang="fi-FI" sz="900" dirty="0">
                <a:latin typeface="Segoe UI Variable Small Semibol" pitchFamily="2" charset="0"/>
              </a:rPr>
              <a:t>(</a:t>
            </a:r>
            <a:r>
              <a:rPr lang="en-US" sz="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How these elements operate together)</a:t>
            </a:r>
            <a:endParaRPr lang="fi-FI" sz="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495" name="Picture 1494">
            <a:extLst>
              <a:ext uri="{FF2B5EF4-FFF2-40B4-BE49-F238E27FC236}">
                <a16:creationId xmlns:a16="http://schemas.microsoft.com/office/drawing/2014/main" id="{1C69BAB8-AFE8-E24A-7AA7-B1DFB72AE215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1516" r="2518"/>
          <a:stretch/>
        </p:blipFill>
        <p:spPr>
          <a:xfrm>
            <a:off x="7985244" y="5983295"/>
            <a:ext cx="1328836" cy="597867"/>
          </a:xfrm>
          <a:prstGeom prst="rect">
            <a:avLst/>
          </a:prstGeom>
        </p:spPr>
      </p:pic>
      <p:cxnSp>
        <p:nvCxnSpPr>
          <p:cNvPr id="1496" name="Straight Arrow Connector 1495">
            <a:extLst>
              <a:ext uri="{FF2B5EF4-FFF2-40B4-BE49-F238E27FC236}">
                <a16:creationId xmlns:a16="http://schemas.microsoft.com/office/drawing/2014/main" id="{C34F77FC-2391-0681-3F22-24C2A1C8F96F}"/>
              </a:ext>
            </a:extLst>
          </p:cNvPr>
          <p:cNvCxnSpPr>
            <a:cxnSpLocks/>
            <a:stCxn id="1430" idx="2"/>
            <a:endCxn id="1492" idx="2"/>
          </p:cNvCxnSpPr>
          <p:nvPr/>
        </p:nvCxnSpPr>
        <p:spPr>
          <a:xfrm flipH="1">
            <a:off x="8653013" y="4760444"/>
            <a:ext cx="1585" cy="12184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4" name="Straight Arrow Connector 1503">
            <a:extLst>
              <a:ext uri="{FF2B5EF4-FFF2-40B4-BE49-F238E27FC236}">
                <a16:creationId xmlns:a16="http://schemas.microsoft.com/office/drawing/2014/main" id="{757DAE39-1D0A-4AE0-8863-26AF36700559}"/>
              </a:ext>
            </a:extLst>
          </p:cNvPr>
          <p:cNvCxnSpPr>
            <a:cxnSpLocks/>
            <a:stCxn id="1492" idx="0"/>
            <a:endCxn id="1495" idx="0"/>
          </p:cNvCxnSpPr>
          <p:nvPr/>
        </p:nvCxnSpPr>
        <p:spPr>
          <a:xfrm flipH="1">
            <a:off x="8649662" y="5865622"/>
            <a:ext cx="3351" cy="117673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13" name="Rectangle 1512">
            <a:extLst>
              <a:ext uri="{FF2B5EF4-FFF2-40B4-BE49-F238E27FC236}">
                <a16:creationId xmlns:a16="http://schemas.microsoft.com/office/drawing/2014/main" id="{C0877A98-BBF0-D675-B80C-D23FAC2CB985}"/>
              </a:ext>
            </a:extLst>
          </p:cNvPr>
          <p:cNvSpPr/>
          <p:nvPr/>
        </p:nvSpPr>
        <p:spPr>
          <a:xfrm>
            <a:off x="10027445" y="239428"/>
            <a:ext cx="2095868" cy="650051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15" name="Rectangle 1514">
            <a:extLst>
              <a:ext uri="{FF2B5EF4-FFF2-40B4-BE49-F238E27FC236}">
                <a16:creationId xmlns:a16="http://schemas.microsoft.com/office/drawing/2014/main" id="{62426D11-A015-B300-6E34-DC4C6DF41C2A}"/>
              </a:ext>
            </a:extLst>
          </p:cNvPr>
          <p:cNvSpPr/>
          <p:nvPr/>
        </p:nvSpPr>
        <p:spPr>
          <a:xfrm>
            <a:off x="10023633" y="9443"/>
            <a:ext cx="800130" cy="2661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Stage 5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1516" name="TextBox 1515">
            <a:extLst>
              <a:ext uri="{FF2B5EF4-FFF2-40B4-BE49-F238E27FC236}">
                <a16:creationId xmlns:a16="http://schemas.microsoft.com/office/drawing/2014/main" id="{82D19347-4CC2-A5AD-E4DB-47F9E6149E7B}"/>
              </a:ext>
            </a:extLst>
          </p:cNvPr>
          <p:cNvSpPr txBox="1"/>
          <p:nvPr/>
        </p:nvSpPr>
        <p:spPr>
          <a:xfrm>
            <a:off x="10047207" y="313709"/>
            <a:ext cx="2108780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tabLst>
                <a:tab pos="342900" algn="l"/>
              </a:tabLst>
            </a:pPr>
            <a:r>
              <a:rPr lang="en-US" sz="1100" dirty="0">
                <a:latin typeface="Segoe UI Variable Small Semibol" pitchFamily="2" charset="0"/>
              </a:rPr>
              <a:t>5. What national characteristics are associated with cross-market variations?</a:t>
            </a:r>
            <a:endParaRPr lang="fi-FI" sz="1100" dirty="0">
              <a:latin typeface="Segoe UI Variable Small Semibol" pitchFamily="2" charset="0"/>
            </a:endParaRPr>
          </a:p>
        </p:txBody>
      </p:sp>
      <p:sp>
        <p:nvSpPr>
          <p:cNvPr id="1518" name="Rectangle 1517">
            <a:extLst>
              <a:ext uri="{FF2B5EF4-FFF2-40B4-BE49-F238E27FC236}">
                <a16:creationId xmlns:a16="http://schemas.microsoft.com/office/drawing/2014/main" id="{EC0BD3BC-35B4-CB32-413A-FDEAD4DA3988}"/>
              </a:ext>
            </a:extLst>
          </p:cNvPr>
          <p:cNvSpPr/>
          <p:nvPr/>
        </p:nvSpPr>
        <p:spPr>
          <a:xfrm>
            <a:off x="10352715" y="5683783"/>
            <a:ext cx="1516916" cy="413797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19" name="Rectangle 1518">
            <a:extLst>
              <a:ext uri="{FF2B5EF4-FFF2-40B4-BE49-F238E27FC236}">
                <a16:creationId xmlns:a16="http://schemas.microsoft.com/office/drawing/2014/main" id="{B1F4635C-E881-E4B0-AAEC-69CA1CE19481}"/>
              </a:ext>
            </a:extLst>
          </p:cNvPr>
          <p:cNvSpPr/>
          <p:nvPr/>
        </p:nvSpPr>
        <p:spPr>
          <a:xfrm>
            <a:off x="10249008" y="2000468"/>
            <a:ext cx="1661840" cy="1308247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20" name="Rectangle 1519">
            <a:extLst>
              <a:ext uri="{FF2B5EF4-FFF2-40B4-BE49-F238E27FC236}">
                <a16:creationId xmlns:a16="http://schemas.microsoft.com/office/drawing/2014/main" id="{F70CA772-3161-69BE-034D-3864DF5E9D0B}"/>
              </a:ext>
            </a:extLst>
          </p:cNvPr>
          <p:cNvSpPr/>
          <p:nvPr/>
        </p:nvSpPr>
        <p:spPr>
          <a:xfrm>
            <a:off x="10244716" y="2000468"/>
            <a:ext cx="1666132" cy="2882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21" name="TextBox 1520">
            <a:extLst>
              <a:ext uri="{FF2B5EF4-FFF2-40B4-BE49-F238E27FC236}">
                <a16:creationId xmlns:a16="http://schemas.microsoft.com/office/drawing/2014/main" id="{C522BBFA-161A-0D21-5FA4-606829FF27A0}"/>
              </a:ext>
            </a:extLst>
          </p:cNvPr>
          <p:cNvSpPr txBox="1"/>
          <p:nvPr/>
        </p:nvSpPr>
        <p:spPr>
          <a:xfrm>
            <a:off x="10240425" y="2017639"/>
            <a:ext cx="1661837" cy="253916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Country Interaction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22" name="Rectangle 1521">
            <a:extLst>
              <a:ext uri="{FF2B5EF4-FFF2-40B4-BE49-F238E27FC236}">
                <a16:creationId xmlns:a16="http://schemas.microsoft.com/office/drawing/2014/main" id="{64FAAE24-2B3A-BBC6-B31F-04653764B83C}"/>
              </a:ext>
            </a:extLst>
          </p:cNvPr>
          <p:cNvSpPr/>
          <p:nvPr/>
        </p:nvSpPr>
        <p:spPr>
          <a:xfrm>
            <a:off x="10270475" y="3409821"/>
            <a:ext cx="1657546" cy="702171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23" name="Rectangle 1522">
            <a:extLst>
              <a:ext uri="{FF2B5EF4-FFF2-40B4-BE49-F238E27FC236}">
                <a16:creationId xmlns:a16="http://schemas.microsoft.com/office/drawing/2014/main" id="{49B14AB6-C5B2-1EA2-6DF8-17942A9A009C}"/>
              </a:ext>
            </a:extLst>
          </p:cNvPr>
          <p:cNvSpPr/>
          <p:nvPr/>
        </p:nvSpPr>
        <p:spPr>
          <a:xfrm>
            <a:off x="10261890" y="3409822"/>
            <a:ext cx="1661837" cy="2852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24" name="TextBox 1523">
            <a:extLst>
              <a:ext uri="{FF2B5EF4-FFF2-40B4-BE49-F238E27FC236}">
                <a16:creationId xmlns:a16="http://schemas.microsoft.com/office/drawing/2014/main" id="{EBE7CD34-B10B-911A-8A9E-D8AF24AC90C9}"/>
              </a:ext>
            </a:extLst>
          </p:cNvPr>
          <p:cNvSpPr txBox="1"/>
          <p:nvPr/>
        </p:nvSpPr>
        <p:spPr>
          <a:xfrm>
            <a:off x="10249009" y="3409821"/>
            <a:ext cx="1657546" cy="253916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</a:rPr>
              <a:t>National Indicators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525" name="Picture 1524">
            <a:extLst>
              <a:ext uri="{FF2B5EF4-FFF2-40B4-BE49-F238E27FC236}">
                <a16:creationId xmlns:a16="http://schemas.microsoft.com/office/drawing/2014/main" id="{3F46BAA6-CBD3-A9FB-8225-960FA466C7E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21810" y="3748008"/>
            <a:ext cx="1488801" cy="328954"/>
          </a:xfrm>
          <a:prstGeom prst="rect">
            <a:avLst/>
          </a:prstGeom>
        </p:spPr>
      </p:pic>
      <p:sp>
        <p:nvSpPr>
          <p:cNvPr id="1526" name="TextBox 1525">
            <a:extLst>
              <a:ext uri="{FF2B5EF4-FFF2-40B4-BE49-F238E27FC236}">
                <a16:creationId xmlns:a16="http://schemas.microsoft.com/office/drawing/2014/main" id="{F0BE589E-B8BB-5B1E-FAE2-044629563B19}"/>
              </a:ext>
            </a:extLst>
          </p:cNvPr>
          <p:cNvSpPr txBox="1"/>
          <p:nvPr/>
        </p:nvSpPr>
        <p:spPr>
          <a:xfrm>
            <a:off x="10335705" y="5683783"/>
            <a:ext cx="15379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</a:rPr>
              <a:t>Benjamini–Hochberg FDR correction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27" name="TextBox 1526">
            <a:extLst>
              <a:ext uri="{FF2B5EF4-FFF2-40B4-BE49-F238E27FC236}">
                <a16:creationId xmlns:a16="http://schemas.microsoft.com/office/drawing/2014/main" id="{42F3FDD1-D10D-8262-26FE-EAF04E08F236}"/>
              </a:ext>
            </a:extLst>
          </p:cNvPr>
          <p:cNvSpPr txBox="1"/>
          <p:nvPr/>
        </p:nvSpPr>
        <p:spPr>
          <a:xfrm>
            <a:off x="10351786" y="6267103"/>
            <a:ext cx="14918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1050" dirty="0">
                <a:latin typeface="Segoe UI Variable Small Semibol" pitchFamily="2" charset="0"/>
              </a:rPr>
              <a:t>Significance: q&lt;0.05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28" name="Rectangle 1527">
            <a:extLst>
              <a:ext uri="{FF2B5EF4-FFF2-40B4-BE49-F238E27FC236}">
                <a16:creationId xmlns:a16="http://schemas.microsoft.com/office/drawing/2014/main" id="{EDE47608-1FE2-112A-65A3-3F89769C6B97}"/>
              </a:ext>
            </a:extLst>
          </p:cNvPr>
          <p:cNvSpPr/>
          <p:nvPr/>
        </p:nvSpPr>
        <p:spPr>
          <a:xfrm>
            <a:off x="10332889" y="6239069"/>
            <a:ext cx="1536742" cy="273360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29" name="Rectangle 1528">
            <a:extLst>
              <a:ext uri="{FF2B5EF4-FFF2-40B4-BE49-F238E27FC236}">
                <a16:creationId xmlns:a16="http://schemas.microsoft.com/office/drawing/2014/main" id="{ED46EC73-5E52-EA80-9E14-A11EA31B2069}"/>
              </a:ext>
            </a:extLst>
          </p:cNvPr>
          <p:cNvSpPr/>
          <p:nvPr/>
        </p:nvSpPr>
        <p:spPr>
          <a:xfrm>
            <a:off x="10291463" y="4230293"/>
            <a:ext cx="1618444" cy="4806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30" name="TextBox 1529">
            <a:extLst>
              <a:ext uri="{FF2B5EF4-FFF2-40B4-BE49-F238E27FC236}">
                <a16:creationId xmlns:a16="http://schemas.microsoft.com/office/drawing/2014/main" id="{F6253C89-2D3F-0A95-6AA9-7BC4E6B3CA5C}"/>
              </a:ext>
            </a:extLst>
          </p:cNvPr>
          <p:cNvSpPr txBox="1"/>
          <p:nvPr/>
        </p:nvSpPr>
        <p:spPr>
          <a:xfrm>
            <a:off x="10370308" y="4269406"/>
            <a:ext cx="1403797" cy="415498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</a:rPr>
              <a:t>Spearman’s rank correlation (ρ)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31" name="Rectangle 1530">
            <a:extLst>
              <a:ext uri="{FF2B5EF4-FFF2-40B4-BE49-F238E27FC236}">
                <a16:creationId xmlns:a16="http://schemas.microsoft.com/office/drawing/2014/main" id="{9B229807-26FA-1B26-A6D9-6F6EEE802635}"/>
              </a:ext>
            </a:extLst>
          </p:cNvPr>
          <p:cNvSpPr/>
          <p:nvPr/>
        </p:nvSpPr>
        <p:spPr>
          <a:xfrm>
            <a:off x="10291462" y="4223997"/>
            <a:ext cx="1618445" cy="2335649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1532" name="Picture 1531">
            <a:extLst>
              <a:ext uri="{FF2B5EF4-FFF2-40B4-BE49-F238E27FC236}">
                <a16:creationId xmlns:a16="http://schemas.microsoft.com/office/drawing/2014/main" id="{69924235-BDDC-73C6-06C3-9277BE5CF59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33305" y="2275916"/>
            <a:ext cx="1648959" cy="1018896"/>
          </a:xfrm>
          <a:prstGeom prst="rect">
            <a:avLst/>
          </a:prstGeom>
        </p:spPr>
      </p:pic>
      <p:cxnSp>
        <p:nvCxnSpPr>
          <p:cNvPr id="1533" name="Straight Arrow Connector 1532">
            <a:extLst>
              <a:ext uri="{FF2B5EF4-FFF2-40B4-BE49-F238E27FC236}">
                <a16:creationId xmlns:a16="http://schemas.microsoft.com/office/drawing/2014/main" id="{45269F22-945F-83DE-4CE3-43D7579E408E}"/>
              </a:ext>
            </a:extLst>
          </p:cNvPr>
          <p:cNvCxnSpPr>
            <a:cxnSpLocks/>
            <a:stCxn id="1522" idx="2"/>
            <a:endCxn id="1531" idx="0"/>
          </p:cNvCxnSpPr>
          <p:nvPr/>
        </p:nvCxnSpPr>
        <p:spPr>
          <a:xfrm>
            <a:off x="11099248" y="4111992"/>
            <a:ext cx="1437" cy="112005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6" name="Straight Arrow Connector 1535">
            <a:extLst>
              <a:ext uri="{FF2B5EF4-FFF2-40B4-BE49-F238E27FC236}">
                <a16:creationId xmlns:a16="http://schemas.microsoft.com/office/drawing/2014/main" id="{2CF5DB0E-B96B-F391-AB1F-705B49821239}"/>
              </a:ext>
            </a:extLst>
          </p:cNvPr>
          <p:cNvCxnSpPr>
            <a:cxnSpLocks/>
            <a:stCxn id="1526" idx="2"/>
            <a:endCxn id="1528" idx="0"/>
          </p:cNvCxnSpPr>
          <p:nvPr/>
        </p:nvCxnSpPr>
        <p:spPr>
          <a:xfrm flipH="1">
            <a:off x="11101260" y="6099281"/>
            <a:ext cx="3432" cy="13978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0" name="Straight Arrow Connector 1549">
            <a:extLst>
              <a:ext uri="{FF2B5EF4-FFF2-40B4-BE49-F238E27FC236}">
                <a16:creationId xmlns:a16="http://schemas.microsoft.com/office/drawing/2014/main" id="{4AA325C9-9F1A-EFBA-032C-FE882D08A426}"/>
              </a:ext>
            </a:extLst>
          </p:cNvPr>
          <p:cNvCxnSpPr>
            <a:cxnSpLocks/>
            <a:stCxn id="1519" idx="2"/>
            <a:endCxn id="1524" idx="0"/>
          </p:cNvCxnSpPr>
          <p:nvPr/>
        </p:nvCxnSpPr>
        <p:spPr>
          <a:xfrm flipH="1">
            <a:off x="11077782" y="3308715"/>
            <a:ext cx="2146" cy="10110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65" name="Arrow: Down 1564">
            <a:extLst>
              <a:ext uri="{FF2B5EF4-FFF2-40B4-BE49-F238E27FC236}">
                <a16:creationId xmlns:a16="http://schemas.microsoft.com/office/drawing/2014/main" id="{856EA6F6-3DA8-0860-F4EF-ADA02FAC9326}"/>
              </a:ext>
            </a:extLst>
          </p:cNvPr>
          <p:cNvSpPr/>
          <p:nvPr/>
        </p:nvSpPr>
        <p:spPr>
          <a:xfrm rot="16200000">
            <a:off x="2921513" y="3823435"/>
            <a:ext cx="192252" cy="248991"/>
          </a:xfrm>
          <a:prstGeom prst="down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67" name="Arrow: Down 1566">
            <a:extLst>
              <a:ext uri="{FF2B5EF4-FFF2-40B4-BE49-F238E27FC236}">
                <a16:creationId xmlns:a16="http://schemas.microsoft.com/office/drawing/2014/main" id="{C4C645FC-A3F8-BEB8-059A-4708E017639B}"/>
              </a:ext>
            </a:extLst>
          </p:cNvPr>
          <p:cNvSpPr/>
          <p:nvPr/>
        </p:nvSpPr>
        <p:spPr>
          <a:xfrm rot="16200000">
            <a:off x="5082068" y="3791883"/>
            <a:ext cx="192252" cy="248991"/>
          </a:xfrm>
          <a:prstGeom prst="down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68" name="Arrow: Down 1567">
            <a:extLst>
              <a:ext uri="{FF2B5EF4-FFF2-40B4-BE49-F238E27FC236}">
                <a16:creationId xmlns:a16="http://schemas.microsoft.com/office/drawing/2014/main" id="{EA5D56A1-4A98-BDB3-6509-68F94965FDB6}"/>
              </a:ext>
            </a:extLst>
          </p:cNvPr>
          <p:cNvSpPr/>
          <p:nvPr/>
        </p:nvSpPr>
        <p:spPr>
          <a:xfrm rot="16200000">
            <a:off x="7209801" y="3787590"/>
            <a:ext cx="192252" cy="248991"/>
          </a:xfrm>
          <a:prstGeom prst="down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69" name="Arrow: Down 1568">
            <a:extLst>
              <a:ext uri="{FF2B5EF4-FFF2-40B4-BE49-F238E27FC236}">
                <a16:creationId xmlns:a16="http://schemas.microsoft.com/office/drawing/2014/main" id="{3F79DDF3-3ABA-92DD-12B0-65183BE9642C}"/>
              </a:ext>
            </a:extLst>
          </p:cNvPr>
          <p:cNvSpPr/>
          <p:nvPr/>
        </p:nvSpPr>
        <p:spPr>
          <a:xfrm rot="16200000">
            <a:off x="9918521" y="3733890"/>
            <a:ext cx="192252" cy="248991"/>
          </a:xfrm>
          <a:prstGeom prst="down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78" name="TextBox 1577">
            <a:extLst>
              <a:ext uri="{FF2B5EF4-FFF2-40B4-BE49-F238E27FC236}">
                <a16:creationId xmlns:a16="http://schemas.microsoft.com/office/drawing/2014/main" id="{10713F6C-4B84-AB36-6BB5-18001EC92A74}"/>
              </a:ext>
            </a:extLst>
          </p:cNvPr>
          <p:cNvSpPr txBox="1"/>
          <p:nvPr/>
        </p:nvSpPr>
        <p:spPr>
          <a:xfrm>
            <a:off x="192467" y="5557539"/>
            <a:ext cx="737263" cy="253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95 % CI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1581" name="Connector: Elbow 1580">
            <a:extLst>
              <a:ext uri="{FF2B5EF4-FFF2-40B4-BE49-F238E27FC236}">
                <a16:creationId xmlns:a16="http://schemas.microsoft.com/office/drawing/2014/main" id="{39D96DD5-0264-3B76-C0A5-7240FAD01304}"/>
              </a:ext>
            </a:extLst>
          </p:cNvPr>
          <p:cNvCxnSpPr>
            <a:cxnSpLocks/>
            <a:stCxn id="1158" idx="2"/>
            <a:endCxn id="1578" idx="3"/>
          </p:cNvCxnSpPr>
          <p:nvPr/>
        </p:nvCxnSpPr>
        <p:spPr>
          <a:xfrm rot="5400000">
            <a:off x="1106138" y="5266220"/>
            <a:ext cx="241870" cy="594685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8" name="Connector: Elbow 1587">
            <a:extLst>
              <a:ext uri="{FF2B5EF4-FFF2-40B4-BE49-F238E27FC236}">
                <a16:creationId xmlns:a16="http://schemas.microsoft.com/office/drawing/2014/main" id="{E10BBCBF-FEDA-90B7-D378-92AB6B60FAA1}"/>
              </a:ext>
            </a:extLst>
          </p:cNvPr>
          <p:cNvCxnSpPr>
            <a:cxnSpLocks/>
            <a:stCxn id="1578" idx="2"/>
            <a:endCxn id="3" idx="1"/>
          </p:cNvCxnSpPr>
          <p:nvPr/>
        </p:nvCxnSpPr>
        <p:spPr>
          <a:xfrm rot="16200000" flipH="1">
            <a:off x="792551" y="5580003"/>
            <a:ext cx="339933" cy="802836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B58225C-5050-2339-C031-5C15AB3007F7}"/>
              </a:ext>
            </a:extLst>
          </p:cNvPr>
          <p:cNvSpPr txBox="1"/>
          <p:nvPr/>
        </p:nvSpPr>
        <p:spPr>
          <a:xfrm>
            <a:off x="96629" y="900658"/>
            <a:ext cx="2841269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Segoe UI Variable Small Semibol" pitchFamily="2" charset="0"/>
              </a:rPr>
              <a:t>Genres carry their own expectations of mechanics, progression, and pacing, so genre is where one monetization practice meets different structures of play.</a:t>
            </a:r>
          </a:p>
          <a:p>
            <a:pPr algn="ctr"/>
            <a:r>
              <a:rPr lang="fr-FR" sz="1050" b="1" dirty="0">
                <a:latin typeface="Segoe UI Variable Small Semibol" pitchFamily="2" charset="0"/>
              </a:rPr>
              <a:t>y ~ r | c</a:t>
            </a:r>
            <a:endParaRPr lang="fr-FR" sz="1050" dirty="0">
              <a:latin typeface="Segoe UI Variable Small Semibol" pitchFamily="2" charset="0"/>
            </a:endParaRPr>
          </a:p>
          <a:p>
            <a:pPr algn="ctr"/>
            <a:r>
              <a:rPr lang="fr-FR" sz="800" dirty="0" err="1">
                <a:latin typeface="Segoe UI Variable Small Semibol" pitchFamily="2" charset="0"/>
              </a:rPr>
              <a:t>monetization</a:t>
            </a:r>
            <a:r>
              <a:rPr lang="fr-FR" sz="800" dirty="0">
                <a:latin typeface="Segoe UI Variable Small Semibol" pitchFamily="2" charset="0"/>
              </a:rPr>
              <a:t> × genre profiles, </a:t>
            </a:r>
            <a:r>
              <a:rPr lang="fr-FR" sz="800" dirty="0" err="1">
                <a:latin typeface="Segoe UI Variable Small Semibol" pitchFamily="2" charset="0"/>
              </a:rPr>
              <a:t>pooled</a:t>
            </a:r>
            <a:r>
              <a:rPr lang="fr-FR" sz="800" dirty="0">
                <a:latin typeface="Segoe UI Variable Small Semibol" pitchFamily="2" charset="0"/>
              </a:rPr>
              <a:t>;</a:t>
            </a:r>
          </a:p>
          <a:p>
            <a:endParaRPr lang="fi-FI" sz="800" dirty="0">
              <a:latin typeface="Segoe UI Variable Small Semibol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B31520-BE84-0433-6050-A768620ED917}"/>
              </a:ext>
            </a:extLst>
          </p:cNvPr>
          <p:cNvSpPr txBox="1"/>
          <p:nvPr/>
        </p:nvSpPr>
        <p:spPr>
          <a:xfrm>
            <a:off x="3048283" y="876560"/>
            <a:ext cx="2041654" cy="1238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Segoe UI Variable Small Semibol" pitchFamily="2" charset="0"/>
              </a:rPr>
              <a:t>Games ship the same design to different populations, so the national market is where one practice meets different conditions of access, payment, and reception.</a:t>
            </a:r>
          </a:p>
          <a:p>
            <a:endParaRPr lang="en-US" sz="800" dirty="0">
              <a:latin typeface="Segoe UI Variable Small Semibol" pitchFamily="2" charset="0"/>
            </a:endParaRPr>
          </a:p>
          <a:p>
            <a:pPr algn="ctr"/>
            <a:r>
              <a:rPr lang="en-US" sz="1050" b="1" dirty="0">
                <a:latin typeface="Segoe UI Variable Small Semibol" pitchFamily="2" charset="0"/>
              </a:rPr>
              <a:t>y ~ r | c, C</a:t>
            </a:r>
            <a:endParaRPr lang="en-US" sz="1050" dirty="0">
              <a:latin typeface="Segoe UI Variable Small Semibol" pitchFamily="2" charset="0"/>
            </a:endParaRPr>
          </a:p>
          <a:p>
            <a:r>
              <a:rPr lang="en-US" sz="800" dirty="0">
                <a:latin typeface="Segoe UI Variable Small Semibol" pitchFamily="2" charset="0"/>
              </a:rPr>
              <a:t>Re-estimated within each of markets;</a:t>
            </a:r>
          </a:p>
          <a:p>
            <a:endParaRPr lang="fi-FI" sz="800" dirty="0">
              <a:latin typeface="Segoe UI Variable Small Semibol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68EC04-E9E8-BD29-9B20-1F7AD21BD77B}"/>
              </a:ext>
            </a:extLst>
          </p:cNvPr>
          <p:cNvSpPr txBox="1"/>
          <p:nvPr/>
        </p:nvSpPr>
        <p:spPr>
          <a:xfrm>
            <a:off x="5196667" y="876560"/>
            <a:ext cx="2015798" cy="11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Segoe UI Variable Small Semibol" pitchFamily="2" charset="0"/>
              </a:rPr>
              <a:t>Titles age, games update, catalogues turn over. Without a temporal test, recurrence could be a snapshot of one market state.</a:t>
            </a:r>
          </a:p>
          <a:p>
            <a:endParaRPr lang="en-US" sz="800" dirty="0">
              <a:latin typeface="Segoe UI Variable Small Semibol" pitchFamily="2" charset="0"/>
            </a:endParaRPr>
          </a:p>
          <a:p>
            <a:pPr algn="ctr"/>
            <a:r>
              <a:rPr lang="en-US" sz="1050" b="1" dirty="0">
                <a:latin typeface="Segoe UI Variable Small Semibol" pitchFamily="2" charset="0"/>
              </a:rPr>
              <a:t>y ~ r | c, C, T</a:t>
            </a:r>
            <a:endParaRPr lang="en-US" sz="1050" dirty="0">
              <a:latin typeface="Segoe UI Variable Small Semibol" pitchFamily="2" charset="0"/>
            </a:endParaRPr>
          </a:p>
          <a:p>
            <a:r>
              <a:rPr lang="en-US" sz="800" dirty="0">
                <a:latin typeface="Segoe UI Variable Small Semibol" pitchFamily="2" charset="0"/>
              </a:rPr>
              <a:t>Re-estimated within country–month strata across monthly periods.</a:t>
            </a:r>
            <a:endParaRPr lang="fi-FI" sz="800" dirty="0">
              <a:latin typeface="Segoe UI Variable Small Semibol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9528AE-6BCA-638B-1F57-132357B79164}"/>
              </a:ext>
            </a:extLst>
          </p:cNvPr>
          <p:cNvSpPr txBox="1"/>
          <p:nvPr/>
        </p:nvSpPr>
        <p:spPr>
          <a:xfrm>
            <a:off x="7513228" y="900658"/>
            <a:ext cx="2293038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Segoe UI Variable Small Semibol" pitchFamily="2" charset="0"/>
              </a:rPr>
              <a:t>Genre establishes that forms of play matter; reading the games themselves specifies which properties of play the recurring profiles are composed of.</a:t>
            </a:r>
          </a:p>
          <a:p>
            <a:endParaRPr lang="en-US" sz="800" dirty="0">
              <a:latin typeface="Segoe UI Variable Small Semibol" pitchFamily="2" charset="0"/>
            </a:endParaRPr>
          </a:p>
          <a:p>
            <a:pPr algn="ctr"/>
            <a:r>
              <a:rPr lang="fi-FI" sz="1050" dirty="0" err="1">
                <a:latin typeface="Segoe UI Variable Small Semibol" pitchFamily="2" charset="0"/>
              </a:rPr>
              <a:t>profiles</a:t>
            </a:r>
            <a:r>
              <a:rPr lang="fi-FI" sz="1050" dirty="0">
                <a:latin typeface="Segoe UI Variable Small Semibol" pitchFamily="2" charset="0"/>
              </a:rPr>
              <a:t> → </a:t>
            </a:r>
            <a:r>
              <a:rPr lang="fi-FI" sz="1050" dirty="0" err="1">
                <a:latin typeface="Segoe UI Variable Small Semibol" pitchFamily="2" charset="0"/>
              </a:rPr>
              <a:t>forms</a:t>
            </a:r>
            <a:r>
              <a:rPr lang="fi-FI" sz="1050" dirty="0">
                <a:latin typeface="Segoe UI Variable Small Semibol" pitchFamily="2" charset="0"/>
              </a:rPr>
              <a:t> of play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4AE993-DE31-2987-C644-C69C92F5B813}"/>
              </a:ext>
            </a:extLst>
          </p:cNvPr>
          <p:cNvSpPr txBox="1"/>
          <p:nvPr/>
        </p:nvSpPr>
        <p:spPr>
          <a:xfrm>
            <a:off x="10086677" y="924633"/>
            <a:ext cx="206931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Segoe UI Variable Small Semibol" pitchFamily="2" charset="0"/>
              </a:rPr>
              <a:t>Markets differ in demographic, economic, developmental, and digital conditions, which may explain cross-market variation in monetization.</a:t>
            </a:r>
          </a:p>
          <a:p>
            <a:endParaRPr lang="en-US" sz="800" dirty="0">
              <a:latin typeface="Segoe UI Variable Small Semibol" pitchFamily="2" charset="0"/>
            </a:endParaRPr>
          </a:p>
          <a:p>
            <a:r>
              <a:rPr lang="fi-FI" sz="1050" dirty="0">
                <a:latin typeface="Segoe UI Variable Small Semibol" pitchFamily="2" charset="0"/>
              </a:rPr>
              <a:t>DDP₍</a:t>
            </a:r>
            <a:r>
              <a:rPr lang="fi-FI" sz="800" dirty="0">
                <a:latin typeface="Segoe UI Variable Small Semibol" pitchFamily="2" charset="0"/>
              </a:rPr>
              <a:t>C</a:t>
            </a:r>
            <a:r>
              <a:rPr lang="fi-FI" sz="1050" dirty="0">
                <a:latin typeface="Segoe UI Variable Small Semibol" pitchFamily="2" charset="0"/>
              </a:rPr>
              <a:t>₎ ~</a:t>
            </a:r>
          </a:p>
          <a:p>
            <a:r>
              <a:rPr lang="fi-FI" sz="1050" dirty="0">
                <a:latin typeface="Segoe UI Variable Small Semibol" pitchFamily="2" charset="0"/>
              </a:rPr>
              <a:t> Age, PPP, HDI, NET, DP</a:t>
            </a:r>
          </a:p>
        </p:txBody>
      </p:sp>
    </p:spTree>
    <p:extLst>
      <p:ext uri="{BB962C8B-B14F-4D97-AF65-F5344CB8AC3E}">
        <p14:creationId xmlns:p14="http://schemas.microsoft.com/office/powerpoint/2010/main" val="3434685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TextBox 1639">
            <a:extLst>
              <a:ext uri="{FF2B5EF4-FFF2-40B4-BE49-F238E27FC236}">
                <a16:creationId xmlns:a16="http://schemas.microsoft.com/office/drawing/2014/main" id="{85516F6F-4F59-DFDF-B21A-48E09094FECF}"/>
              </a:ext>
            </a:extLst>
          </p:cNvPr>
          <p:cNvSpPr txBox="1"/>
          <p:nvPr/>
        </p:nvSpPr>
        <p:spPr>
          <a:xfrm>
            <a:off x="1909653" y="2030127"/>
            <a:ext cx="9178345" cy="49375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Segoe UI Variable Small Semibol" pitchFamily="2" charset="0"/>
              </a:rPr>
              <a:t>Final Synthesis:  </a:t>
            </a:r>
            <a:r>
              <a:rPr lang="en-US" sz="1100" dirty="0">
                <a:latin typeface="Segoe UI Variable Small Semibol" pitchFamily="2" charset="0"/>
              </a:rPr>
              <a:t>Contextual Scope of Monetization–Success Relationships</a:t>
            </a:r>
          </a:p>
          <a:p>
            <a:pPr algn="ctr"/>
            <a:r>
              <a:rPr lang="en-US" sz="1100" dirty="0">
                <a:latin typeface="Segoe UI Variable Small Semibol" pitchFamily="2" charset="0"/>
              </a:rPr>
              <a:t>Forms of Play × National Markets × Time × National Conditions</a:t>
            </a:r>
          </a:p>
        </p:txBody>
      </p:sp>
      <p:sp>
        <p:nvSpPr>
          <p:cNvPr id="1048" name="Rectangle: Rounded Corners 1047">
            <a:extLst>
              <a:ext uri="{FF2B5EF4-FFF2-40B4-BE49-F238E27FC236}">
                <a16:creationId xmlns:a16="http://schemas.microsoft.com/office/drawing/2014/main" id="{5D81155D-1F76-0876-0FFF-FF804E4E31A3}"/>
              </a:ext>
            </a:extLst>
          </p:cNvPr>
          <p:cNvSpPr/>
          <p:nvPr/>
        </p:nvSpPr>
        <p:spPr>
          <a:xfrm>
            <a:off x="3508334" y="1439552"/>
            <a:ext cx="1363232" cy="4639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50" dirty="0">
                <a:latin typeface="Segoe UI Variable Small Semibol" pitchFamily="2" charset="0"/>
              </a:rPr>
              <a:t>Output 2: Cross Market Estimates</a:t>
            </a:r>
            <a:endParaRPr lang="fi-FI" sz="1050" dirty="0">
              <a:latin typeface="Segoe UI Variable Small Semibol" pitchFamily="2" charset="0"/>
            </a:endParaRPr>
          </a:p>
        </p:txBody>
      </p:sp>
      <p:sp>
        <p:nvSpPr>
          <p:cNvPr id="1305" name="Rectangle: Rounded Corners 1304">
            <a:extLst>
              <a:ext uri="{FF2B5EF4-FFF2-40B4-BE49-F238E27FC236}">
                <a16:creationId xmlns:a16="http://schemas.microsoft.com/office/drawing/2014/main" id="{DA84ADDB-18C6-1911-C611-ABCBDE26C122}"/>
              </a:ext>
            </a:extLst>
          </p:cNvPr>
          <p:cNvSpPr/>
          <p:nvPr/>
        </p:nvSpPr>
        <p:spPr>
          <a:xfrm>
            <a:off x="5333802" y="1453562"/>
            <a:ext cx="1726202" cy="46735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50" dirty="0">
                <a:latin typeface="Segoe UI Variable Small Semibol" pitchFamily="2" charset="0"/>
              </a:rPr>
              <a:t>Output 3: Time Specific Market Estimates</a:t>
            </a:r>
            <a:endParaRPr lang="fi-FI" sz="1050" dirty="0">
              <a:latin typeface="Segoe UI Variable Small Semibol" pitchFamily="2" charset="0"/>
            </a:endParaRPr>
          </a:p>
        </p:txBody>
      </p:sp>
      <p:sp>
        <p:nvSpPr>
          <p:cNvPr id="1512" name="Rectangle: Rounded Corners 1511">
            <a:extLst>
              <a:ext uri="{FF2B5EF4-FFF2-40B4-BE49-F238E27FC236}">
                <a16:creationId xmlns:a16="http://schemas.microsoft.com/office/drawing/2014/main" id="{8232FC50-36B9-111D-6DF6-C34D145D7A26}"/>
              </a:ext>
            </a:extLst>
          </p:cNvPr>
          <p:cNvSpPr/>
          <p:nvPr/>
        </p:nvSpPr>
        <p:spPr>
          <a:xfrm>
            <a:off x="9780042" y="1429187"/>
            <a:ext cx="2058408" cy="4658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50" dirty="0">
                <a:latin typeface="Segoe UI Variable Small Semibol" pitchFamily="2" charset="0"/>
              </a:rPr>
              <a:t>Output 5: </a:t>
            </a:r>
            <a:r>
              <a:rPr lang="fi-FI" sz="1050" dirty="0">
                <a:latin typeface="Segoe UI Variable Small Semibol" pitchFamily="2" charset="0"/>
              </a:rPr>
              <a:t>National Contextual </a:t>
            </a:r>
            <a:r>
              <a:rPr lang="fi-FI" sz="1050" dirty="0" err="1">
                <a:latin typeface="Segoe UI Variable Small Semibol" pitchFamily="2" charset="0"/>
              </a:rPr>
              <a:t>Variation</a:t>
            </a:r>
            <a:endParaRPr lang="fi-FI" sz="1050" dirty="0">
              <a:latin typeface="Segoe UI Variable Small Semibol" pitchFamily="2" charset="0"/>
            </a:endParaRPr>
          </a:p>
        </p:txBody>
      </p:sp>
      <p:sp>
        <p:nvSpPr>
          <p:cNvPr id="1548" name="Rectangle: Rounded Corners 1547">
            <a:extLst>
              <a:ext uri="{FF2B5EF4-FFF2-40B4-BE49-F238E27FC236}">
                <a16:creationId xmlns:a16="http://schemas.microsoft.com/office/drawing/2014/main" id="{9A7DE691-2EA9-C2CB-4DA3-1AE6725391A4}"/>
              </a:ext>
            </a:extLst>
          </p:cNvPr>
          <p:cNvSpPr/>
          <p:nvPr/>
        </p:nvSpPr>
        <p:spPr>
          <a:xfrm>
            <a:off x="1084029" y="1430966"/>
            <a:ext cx="1855990" cy="4639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50" dirty="0">
                <a:latin typeface="Segoe UI Variable Small Semibol" pitchFamily="2" charset="0"/>
              </a:rPr>
              <a:t>Output 1: Genre Conditional Relationships </a:t>
            </a:r>
            <a:endParaRPr lang="fi-FI" sz="1050" dirty="0">
              <a:latin typeface="Segoe UI Variable Small Semibol" pitchFamily="2" charset="0"/>
            </a:endParaRPr>
          </a:p>
        </p:txBody>
      </p:sp>
      <p:sp>
        <p:nvSpPr>
          <p:cNvPr id="1572" name="Arrow: Down 1571">
            <a:extLst>
              <a:ext uri="{FF2B5EF4-FFF2-40B4-BE49-F238E27FC236}">
                <a16:creationId xmlns:a16="http://schemas.microsoft.com/office/drawing/2014/main" id="{8CDD9A73-FD78-02A8-4FF5-1EF8DFF1494A}"/>
              </a:ext>
            </a:extLst>
          </p:cNvPr>
          <p:cNvSpPr/>
          <p:nvPr/>
        </p:nvSpPr>
        <p:spPr>
          <a:xfrm rot="16200000">
            <a:off x="3110359" y="1558243"/>
            <a:ext cx="192252" cy="248991"/>
          </a:xfrm>
          <a:prstGeom prst="downArrow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73" name="Arrow: Down 1572">
            <a:extLst>
              <a:ext uri="{FF2B5EF4-FFF2-40B4-BE49-F238E27FC236}">
                <a16:creationId xmlns:a16="http://schemas.microsoft.com/office/drawing/2014/main" id="{AAFCE1C1-1C58-7EE3-597C-A2187E7883BE}"/>
              </a:ext>
            </a:extLst>
          </p:cNvPr>
          <p:cNvSpPr/>
          <p:nvPr/>
        </p:nvSpPr>
        <p:spPr>
          <a:xfrm rot="16200000">
            <a:off x="4974084" y="1545905"/>
            <a:ext cx="192252" cy="248991"/>
          </a:xfrm>
          <a:prstGeom prst="downArrow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74" name="Arrow: Down 1573">
            <a:extLst>
              <a:ext uri="{FF2B5EF4-FFF2-40B4-BE49-F238E27FC236}">
                <a16:creationId xmlns:a16="http://schemas.microsoft.com/office/drawing/2014/main" id="{EA7BCA37-7A2B-3A49-41D1-BB00A8128A9B}"/>
              </a:ext>
            </a:extLst>
          </p:cNvPr>
          <p:cNvSpPr/>
          <p:nvPr/>
        </p:nvSpPr>
        <p:spPr>
          <a:xfrm rot="16200000">
            <a:off x="7254216" y="1537320"/>
            <a:ext cx="192252" cy="248991"/>
          </a:xfrm>
          <a:prstGeom prst="downArrow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75" name="Arrow: Down 1574">
            <a:extLst>
              <a:ext uri="{FF2B5EF4-FFF2-40B4-BE49-F238E27FC236}">
                <a16:creationId xmlns:a16="http://schemas.microsoft.com/office/drawing/2014/main" id="{EF41158A-799A-3AC8-77C4-B8476252C113}"/>
              </a:ext>
            </a:extLst>
          </p:cNvPr>
          <p:cNvSpPr/>
          <p:nvPr/>
        </p:nvSpPr>
        <p:spPr>
          <a:xfrm rot="16200000">
            <a:off x="9429272" y="1559868"/>
            <a:ext cx="192252" cy="248991"/>
          </a:xfrm>
          <a:prstGeom prst="downArrow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1597" name="Straight Arrow Connector 1596">
            <a:extLst>
              <a:ext uri="{FF2B5EF4-FFF2-40B4-BE49-F238E27FC236}">
                <a16:creationId xmlns:a16="http://schemas.microsoft.com/office/drawing/2014/main" id="{BEE58D4F-E148-8D37-3723-DBDC628AE2C1}"/>
              </a:ext>
            </a:extLst>
          </p:cNvPr>
          <p:cNvCxnSpPr>
            <a:cxnSpLocks/>
            <a:stCxn id="1548" idx="2"/>
          </p:cNvCxnSpPr>
          <p:nvPr/>
        </p:nvCxnSpPr>
        <p:spPr>
          <a:xfrm>
            <a:off x="2012024" y="1894906"/>
            <a:ext cx="0" cy="19961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2" name="Straight Arrow Connector 1601">
            <a:extLst>
              <a:ext uri="{FF2B5EF4-FFF2-40B4-BE49-F238E27FC236}">
                <a16:creationId xmlns:a16="http://schemas.microsoft.com/office/drawing/2014/main" id="{03D29015-851B-12D3-80D3-0C7B678E660B}"/>
              </a:ext>
            </a:extLst>
          </p:cNvPr>
          <p:cNvCxnSpPr>
            <a:cxnSpLocks/>
            <a:stCxn id="1048" idx="2"/>
          </p:cNvCxnSpPr>
          <p:nvPr/>
        </p:nvCxnSpPr>
        <p:spPr>
          <a:xfrm>
            <a:off x="4189950" y="1903492"/>
            <a:ext cx="2942" cy="1524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4" name="Straight Arrow Connector 1603">
            <a:extLst>
              <a:ext uri="{FF2B5EF4-FFF2-40B4-BE49-F238E27FC236}">
                <a16:creationId xmlns:a16="http://schemas.microsoft.com/office/drawing/2014/main" id="{23A2958E-EFEF-1F30-71AD-319B43550D91}"/>
              </a:ext>
            </a:extLst>
          </p:cNvPr>
          <p:cNvCxnSpPr>
            <a:cxnSpLocks/>
            <a:stCxn id="1305" idx="2"/>
          </p:cNvCxnSpPr>
          <p:nvPr/>
        </p:nvCxnSpPr>
        <p:spPr>
          <a:xfrm>
            <a:off x="6196903" y="1920915"/>
            <a:ext cx="0" cy="16098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7" name="Straight Arrow Connector 1606">
            <a:extLst>
              <a:ext uri="{FF2B5EF4-FFF2-40B4-BE49-F238E27FC236}">
                <a16:creationId xmlns:a16="http://schemas.microsoft.com/office/drawing/2014/main" id="{952C5B56-2307-36EF-9C1C-3914544F3A3C}"/>
              </a:ext>
            </a:extLst>
          </p:cNvPr>
          <p:cNvCxnSpPr>
            <a:cxnSpLocks/>
          </p:cNvCxnSpPr>
          <p:nvPr/>
        </p:nvCxnSpPr>
        <p:spPr>
          <a:xfrm>
            <a:off x="8530683" y="1830170"/>
            <a:ext cx="0" cy="242887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0" name="Straight Arrow Connector 1609">
            <a:extLst>
              <a:ext uri="{FF2B5EF4-FFF2-40B4-BE49-F238E27FC236}">
                <a16:creationId xmlns:a16="http://schemas.microsoft.com/office/drawing/2014/main" id="{522920BF-3A60-C9B6-10D8-CB1010C968A5}"/>
              </a:ext>
            </a:extLst>
          </p:cNvPr>
          <p:cNvCxnSpPr>
            <a:cxnSpLocks/>
            <a:stCxn id="1512" idx="2"/>
          </p:cNvCxnSpPr>
          <p:nvPr/>
        </p:nvCxnSpPr>
        <p:spPr>
          <a:xfrm>
            <a:off x="10809246" y="1895047"/>
            <a:ext cx="0" cy="160845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41" name="Rectangle: Rounded Corners 1640">
            <a:extLst>
              <a:ext uri="{FF2B5EF4-FFF2-40B4-BE49-F238E27FC236}">
                <a16:creationId xmlns:a16="http://schemas.microsoft.com/office/drawing/2014/main" id="{0CF0747F-2979-BAFA-C3CD-ECCB543BCCF0}"/>
              </a:ext>
            </a:extLst>
          </p:cNvPr>
          <p:cNvSpPr/>
          <p:nvPr/>
        </p:nvSpPr>
        <p:spPr>
          <a:xfrm>
            <a:off x="7833711" y="1469602"/>
            <a:ext cx="1408654" cy="45930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50" dirty="0">
                <a:latin typeface="Segoe UI Variable Small Semibol" pitchFamily="2" charset="0"/>
              </a:rPr>
              <a:t>Output 4: Genre to Inside Gameplay</a:t>
            </a:r>
            <a:endParaRPr lang="fi-FI" sz="1050" dirty="0">
              <a:latin typeface="Segoe UI Variable Small Semibol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EFDB9-330C-711B-A865-8C2D3EE2FDB6}"/>
              </a:ext>
            </a:extLst>
          </p:cNvPr>
          <p:cNvSpPr txBox="1"/>
          <p:nvPr/>
        </p:nvSpPr>
        <p:spPr>
          <a:xfrm>
            <a:off x="5139952" y="746906"/>
            <a:ext cx="2542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Segoe UI Variable Small Semibol" pitchFamily="2" charset="0"/>
              </a:rPr>
              <a:t>OUTPUT &amp; RESULTS</a:t>
            </a:r>
            <a:endParaRPr lang="fi-FI" sz="2000" dirty="0">
              <a:latin typeface="Segoe UI Variable Small Semibo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199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Rectangle 1473">
            <a:extLst>
              <a:ext uri="{FF2B5EF4-FFF2-40B4-BE49-F238E27FC236}">
                <a16:creationId xmlns:a16="http://schemas.microsoft.com/office/drawing/2014/main" id="{FF5BFD3F-B180-9B8E-3104-944F48241890}"/>
              </a:ext>
            </a:extLst>
          </p:cNvPr>
          <p:cNvSpPr/>
          <p:nvPr/>
        </p:nvSpPr>
        <p:spPr>
          <a:xfrm>
            <a:off x="339484" y="1482580"/>
            <a:ext cx="2915350" cy="339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57" name="Rectangle 1156">
            <a:extLst>
              <a:ext uri="{FF2B5EF4-FFF2-40B4-BE49-F238E27FC236}">
                <a16:creationId xmlns:a16="http://schemas.microsoft.com/office/drawing/2014/main" id="{6013EF4D-8793-3E1F-F85E-4FFCC2EA34A4}"/>
              </a:ext>
            </a:extLst>
          </p:cNvPr>
          <p:cNvSpPr/>
          <p:nvPr/>
        </p:nvSpPr>
        <p:spPr>
          <a:xfrm>
            <a:off x="3563699" y="676503"/>
            <a:ext cx="1838684" cy="339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16" name="Rectangle 1415">
            <a:extLst>
              <a:ext uri="{FF2B5EF4-FFF2-40B4-BE49-F238E27FC236}">
                <a16:creationId xmlns:a16="http://schemas.microsoft.com/office/drawing/2014/main" id="{EAA141EC-88CD-903C-4E23-B543A6BFC02B}"/>
              </a:ext>
            </a:extLst>
          </p:cNvPr>
          <p:cNvSpPr/>
          <p:nvPr/>
        </p:nvSpPr>
        <p:spPr>
          <a:xfrm>
            <a:off x="353182" y="521619"/>
            <a:ext cx="2879416" cy="339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53" name="Rectangle 1352">
            <a:extLst>
              <a:ext uri="{FF2B5EF4-FFF2-40B4-BE49-F238E27FC236}">
                <a16:creationId xmlns:a16="http://schemas.microsoft.com/office/drawing/2014/main" id="{6EC4FEE8-1015-7D34-79C7-CA182062D38A}"/>
              </a:ext>
            </a:extLst>
          </p:cNvPr>
          <p:cNvSpPr/>
          <p:nvPr/>
        </p:nvSpPr>
        <p:spPr>
          <a:xfrm>
            <a:off x="4647206" y="3261122"/>
            <a:ext cx="3833238" cy="3752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sz="1050" dirty="0">
              <a:latin typeface="Segoe UI Variable Small Semibol" pitchFamily="2" charset="0"/>
            </a:endParaRPr>
          </a:p>
        </p:txBody>
      </p:sp>
      <p:pic>
        <p:nvPicPr>
          <p:cNvPr id="1079" name="Picture 1078">
            <a:extLst>
              <a:ext uri="{FF2B5EF4-FFF2-40B4-BE49-F238E27FC236}">
                <a16:creationId xmlns:a16="http://schemas.microsoft.com/office/drawing/2014/main" id="{AC22F1BD-CEB9-F66A-5C55-18D1E330E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4669" y="3838126"/>
            <a:ext cx="2384529" cy="164010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462C7F-02D0-DEAD-EDD6-AC5CE8F986D9}"/>
              </a:ext>
            </a:extLst>
          </p:cNvPr>
          <p:cNvSpPr/>
          <p:nvPr/>
        </p:nvSpPr>
        <p:spPr>
          <a:xfrm>
            <a:off x="225080" y="145409"/>
            <a:ext cx="10904118" cy="239976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9048BB-D5FA-A165-E36D-4118D8523B3C}"/>
              </a:ext>
            </a:extLst>
          </p:cNvPr>
          <p:cNvSpPr txBox="1"/>
          <p:nvPr/>
        </p:nvSpPr>
        <p:spPr>
          <a:xfrm>
            <a:off x="238488" y="143270"/>
            <a:ext cx="10890527" cy="3077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Does the monetization–success relationship vary across game genres?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E3B9F9-15A4-A4E2-E84C-53FCCCB89A8E}"/>
              </a:ext>
            </a:extLst>
          </p:cNvPr>
          <p:cNvSpPr/>
          <p:nvPr/>
        </p:nvSpPr>
        <p:spPr>
          <a:xfrm>
            <a:off x="418268" y="982529"/>
            <a:ext cx="1273157" cy="332106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5B784-1382-F7F5-2093-1502219DABE8}"/>
              </a:ext>
            </a:extLst>
          </p:cNvPr>
          <p:cNvSpPr txBox="1"/>
          <p:nvPr/>
        </p:nvSpPr>
        <p:spPr>
          <a:xfrm>
            <a:off x="765987" y="1026335"/>
            <a:ext cx="9627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Ad Availability 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BA0A1A-4A67-BCE9-D4AE-1B6E707C9433}"/>
              </a:ext>
            </a:extLst>
          </p:cNvPr>
          <p:cNvSpPr txBox="1"/>
          <p:nvPr/>
        </p:nvSpPr>
        <p:spPr>
          <a:xfrm>
            <a:off x="2127931" y="1039501"/>
            <a:ext cx="112690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IAP </a:t>
            </a:r>
            <a:r>
              <a:rPr lang="en-US" sz="800" dirty="0">
                <a:latin typeface="Segoe UI Variable Small Semibol" pitchFamily="2" charset="0"/>
                <a:ea typeface="Noto Sans SemiBold" panose="020B0502040504020204" pitchFamily="34" charset="0"/>
                <a:cs typeface="Noto Sans SemiBold" panose="020B0502040504020204" pitchFamily="34" charset="0"/>
              </a:rPr>
              <a:t>Availability</a:t>
            </a:r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7BA2A4-1231-7124-C08B-A2A85AD22023}"/>
              </a:ext>
            </a:extLst>
          </p:cNvPr>
          <p:cNvSpPr txBox="1"/>
          <p:nvPr/>
        </p:nvSpPr>
        <p:spPr>
          <a:xfrm>
            <a:off x="353182" y="517188"/>
            <a:ext cx="2879415" cy="369332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Monetization</a:t>
            </a:r>
          </a:p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(Focal Feature) 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DEA29D-9E23-0250-BC74-8E12E96B3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17" y="1036453"/>
            <a:ext cx="304044" cy="2438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2E8BC1-6297-E7D2-6697-5F4430392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7818" y="983889"/>
            <a:ext cx="289887" cy="29640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4E542D7-F233-977E-BDAA-CE1B190DF0C4}"/>
              </a:ext>
            </a:extLst>
          </p:cNvPr>
          <p:cNvSpPr txBox="1"/>
          <p:nvPr/>
        </p:nvSpPr>
        <p:spPr>
          <a:xfrm>
            <a:off x="4188137" y="1269464"/>
            <a:ext cx="112690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High Installs 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C166B1-FBA7-F749-537B-8E1709BC2AE8}"/>
              </a:ext>
            </a:extLst>
          </p:cNvPr>
          <p:cNvSpPr txBox="1"/>
          <p:nvPr/>
        </p:nvSpPr>
        <p:spPr>
          <a:xfrm>
            <a:off x="4170965" y="1786978"/>
            <a:ext cx="112690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High Ratings 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DAA743-CC96-4803-DEE5-151DA413FE0A}"/>
              </a:ext>
            </a:extLst>
          </p:cNvPr>
          <p:cNvSpPr txBox="1"/>
          <p:nvPr/>
        </p:nvSpPr>
        <p:spPr>
          <a:xfrm>
            <a:off x="3563698" y="676096"/>
            <a:ext cx="1838685" cy="369332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Marketplace Success</a:t>
            </a:r>
          </a:p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(Outcome) 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4BC78A1-3889-1CF4-3601-F9A4861E47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9943" y="1260864"/>
            <a:ext cx="250329" cy="21502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C77FB9F-2AC6-266A-7BE1-A1BC51FDD3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8339" y="1807359"/>
            <a:ext cx="263765" cy="2084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C1E49B-5906-1369-1BE7-16232737DD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0505" y="534964"/>
            <a:ext cx="2003688" cy="12968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E7F39A-0D67-34A7-8F3B-F333C503E0B5}"/>
              </a:ext>
            </a:extLst>
          </p:cNvPr>
          <p:cNvSpPr txBox="1"/>
          <p:nvPr/>
        </p:nvSpPr>
        <p:spPr>
          <a:xfrm>
            <a:off x="255247" y="2845027"/>
            <a:ext cx="4163652" cy="5232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              Do these genre-conditional relationships recur across national markets?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FA8C17-C76C-3A65-346A-7C2B3F3F74C5}"/>
              </a:ext>
            </a:extLst>
          </p:cNvPr>
          <p:cNvSpPr/>
          <p:nvPr/>
        </p:nvSpPr>
        <p:spPr>
          <a:xfrm>
            <a:off x="261793" y="2842546"/>
            <a:ext cx="4183268" cy="364411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82B7E8-3798-6A6A-C1ED-16D067D283A5}"/>
              </a:ext>
            </a:extLst>
          </p:cNvPr>
          <p:cNvSpPr/>
          <p:nvPr/>
        </p:nvSpPr>
        <p:spPr>
          <a:xfrm>
            <a:off x="407401" y="3471747"/>
            <a:ext cx="1680826" cy="2413087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3D4CCC-88ED-ED68-876C-1DEFBD1D0ACD}"/>
              </a:ext>
            </a:extLst>
          </p:cNvPr>
          <p:cNvSpPr/>
          <p:nvPr/>
        </p:nvSpPr>
        <p:spPr>
          <a:xfrm>
            <a:off x="411696" y="3472234"/>
            <a:ext cx="1680826" cy="4588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B613EB-6632-2C2A-67D3-CB84082363DA}"/>
              </a:ext>
            </a:extLst>
          </p:cNvPr>
          <p:cNvSpPr txBox="1"/>
          <p:nvPr/>
        </p:nvSpPr>
        <p:spPr>
          <a:xfrm>
            <a:off x="415986" y="3506578"/>
            <a:ext cx="1676536" cy="415498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Estimates within each county 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40E5C0-0ABB-48F7-D309-6CEB684BF990}"/>
              </a:ext>
            </a:extLst>
          </p:cNvPr>
          <p:cNvSpPr txBox="1"/>
          <p:nvPr/>
        </p:nvSpPr>
        <p:spPr>
          <a:xfrm>
            <a:off x="954896" y="5289483"/>
            <a:ext cx="104756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…. </a:t>
            </a:r>
          </a:p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42</a:t>
            </a:r>
          </a:p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Countries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DB9790-7F9B-73A3-FF51-2A7965271E30}"/>
              </a:ext>
            </a:extLst>
          </p:cNvPr>
          <p:cNvSpPr/>
          <p:nvPr/>
        </p:nvSpPr>
        <p:spPr>
          <a:xfrm>
            <a:off x="646994" y="4078679"/>
            <a:ext cx="1356153" cy="27860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64749D9-1C3A-DD87-D94D-5C0D5F0AFB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987" y="4115449"/>
            <a:ext cx="224809" cy="179086"/>
          </a:xfrm>
          <a:prstGeom prst="rect">
            <a:avLst/>
          </a:prstGeom>
        </p:spPr>
      </p:pic>
      <p:sp>
        <p:nvSpPr>
          <p:cNvPr id="1120" name="TextBox 1119">
            <a:extLst>
              <a:ext uri="{FF2B5EF4-FFF2-40B4-BE49-F238E27FC236}">
                <a16:creationId xmlns:a16="http://schemas.microsoft.com/office/drawing/2014/main" id="{775CF645-A3F4-ABFF-9939-C92AB7C7B6A6}"/>
              </a:ext>
            </a:extLst>
          </p:cNvPr>
          <p:cNvSpPr txBox="1"/>
          <p:nvPr/>
        </p:nvSpPr>
        <p:spPr>
          <a:xfrm>
            <a:off x="998303" y="4108731"/>
            <a:ext cx="10048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United States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A401DE4D-D00C-32A9-7E32-61C765D82377}"/>
              </a:ext>
            </a:extLst>
          </p:cNvPr>
          <p:cNvSpPr/>
          <p:nvPr/>
        </p:nvSpPr>
        <p:spPr>
          <a:xfrm>
            <a:off x="646994" y="4393813"/>
            <a:ext cx="1356153" cy="27860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E7CD0A5F-5EDF-A6D6-1127-0C6320792CF2}"/>
              </a:ext>
            </a:extLst>
          </p:cNvPr>
          <p:cNvSpPr txBox="1"/>
          <p:nvPr/>
        </p:nvSpPr>
        <p:spPr>
          <a:xfrm>
            <a:off x="998303" y="4423865"/>
            <a:ext cx="10048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Finland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2BF85C2D-78C6-2364-691C-A866582066C3}"/>
              </a:ext>
            </a:extLst>
          </p:cNvPr>
          <p:cNvSpPr/>
          <p:nvPr/>
        </p:nvSpPr>
        <p:spPr>
          <a:xfrm>
            <a:off x="646994" y="4713306"/>
            <a:ext cx="1356153" cy="27860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F43A805B-71B2-4A38-4073-61492EFEB972}"/>
              </a:ext>
            </a:extLst>
          </p:cNvPr>
          <p:cNvSpPr txBox="1"/>
          <p:nvPr/>
        </p:nvSpPr>
        <p:spPr>
          <a:xfrm>
            <a:off x="998303" y="4743358"/>
            <a:ext cx="10048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Vietnam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19367FC5-FB56-C20B-7B62-FAB3A3FFA1C9}"/>
              </a:ext>
            </a:extLst>
          </p:cNvPr>
          <p:cNvSpPr/>
          <p:nvPr/>
        </p:nvSpPr>
        <p:spPr>
          <a:xfrm>
            <a:off x="646994" y="5029916"/>
            <a:ext cx="1356153" cy="27860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1BDDA46F-6311-2D5D-3610-13A6D68C68F3}"/>
              </a:ext>
            </a:extLst>
          </p:cNvPr>
          <p:cNvSpPr txBox="1"/>
          <p:nvPr/>
        </p:nvSpPr>
        <p:spPr>
          <a:xfrm>
            <a:off x="998303" y="5059968"/>
            <a:ext cx="10048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Pakistan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138" name="Picture 1137">
            <a:extLst>
              <a:ext uri="{FF2B5EF4-FFF2-40B4-BE49-F238E27FC236}">
                <a16:creationId xmlns:a16="http://schemas.microsoft.com/office/drawing/2014/main" id="{3EDF2ACE-F2EB-6FA7-5752-B9433F8D75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865" y="4460606"/>
            <a:ext cx="224809" cy="156224"/>
          </a:xfrm>
          <a:prstGeom prst="rect">
            <a:avLst/>
          </a:prstGeom>
        </p:spPr>
      </p:pic>
      <p:pic>
        <p:nvPicPr>
          <p:cNvPr id="1139" name="Picture 1138">
            <a:extLst>
              <a:ext uri="{FF2B5EF4-FFF2-40B4-BE49-F238E27FC236}">
                <a16:creationId xmlns:a16="http://schemas.microsoft.com/office/drawing/2014/main" id="{A5DD8086-1E3E-17CA-E1AE-4A6E13EE09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1261" y="4756366"/>
            <a:ext cx="217189" cy="182896"/>
          </a:xfrm>
          <a:prstGeom prst="rect">
            <a:avLst/>
          </a:prstGeom>
        </p:spPr>
      </p:pic>
      <p:pic>
        <p:nvPicPr>
          <p:cNvPr id="1140" name="Picture 1139">
            <a:extLst>
              <a:ext uri="{FF2B5EF4-FFF2-40B4-BE49-F238E27FC236}">
                <a16:creationId xmlns:a16="http://schemas.microsoft.com/office/drawing/2014/main" id="{F94FEC05-2505-D2FB-A9E9-E4866BBEE45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4615" y="5074048"/>
            <a:ext cx="236240" cy="182896"/>
          </a:xfrm>
          <a:prstGeom prst="rect">
            <a:avLst/>
          </a:prstGeom>
        </p:spPr>
      </p:pic>
      <p:cxnSp>
        <p:nvCxnSpPr>
          <p:cNvPr id="1141" name="Connector: Elbow 1140">
            <a:extLst>
              <a:ext uri="{FF2B5EF4-FFF2-40B4-BE49-F238E27FC236}">
                <a16:creationId xmlns:a16="http://schemas.microsoft.com/office/drawing/2014/main" id="{B41BF918-895A-47BD-7876-F6C9E5F75517}"/>
              </a:ext>
            </a:extLst>
          </p:cNvPr>
          <p:cNvCxnSpPr>
            <a:cxnSpLocks/>
            <a:stCxn id="28" idx="1"/>
            <a:endCxn id="26" idx="1"/>
          </p:cNvCxnSpPr>
          <p:nvPr/>
        </p:nvCxnSpPr>
        <p:spPr>
          <a:xfrm rot="10800000" flipH="1" flipV="1">
            <a:off x="646994" y="4217983"/>
            <a:ext cx="307902" cy="1325416"/>
          </a:xfrm>
          <a:prstGeom prst="bentConnector3">
            <a:avLst>
              <a:gd name="adj1" fmla="val -32416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2" name="Connector: Elbow 1141">
            <a:extLst>
              <a:ext uri="{FF2B5EF4-FFF2-40B4-BE49-F238E27FC236}">
                <a16:creationId xmlns:a16="http://schemas.microsoft.com/office/drawing/2014/main" id="{1FAA0137-2853-3ED2-B040-7FBC910AD7AE}"/>
              </a:ext>
            </a:extLst>
          </p:cNvPr>
          <p:cNvCxnSpPr>
            <a:cxnSpLocks/>
            <a:stCxn id="1121" idx="1"/>
            <a:endCxn id="1123" idx="1"/>
          </p:cNvCxnSpPr>
          <p:nvPr/>
        </p:nvCxnSpPr>
        <p:spPr>
          <a:xfrm rot="10800000" flipV="1">
            <a:off x="646994" y="4533116"/>
            <a:ext cx="12700" cy="319493"/>
          </a:xfrm>
          <a:prstGeom prst="bentConnector3">
            <a:avLst>
              <a:gd name="adj1" fmla="val 921126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3" name="Connector: Elbow 1142">
            <a:extLst>
              <a:ext uri="{FF2B5EF4-FFF2-40B4-BE49-F238E27FC236}">
                <a16:creationId xmlns:a16="http://schemas.microsoft.com/office/drawing/2014/main" id="{875F48ED-3A07-8231-34ED-8531DC46CC3C}"/>
              </a:ext>
            </a:extLst>
          </p:cNvPr>
          <p:cNvCxnSpPr>
            <a:cxnSpLocks/>
            <a:stCxn id="1133" idx="1"/>
            <a:endCxn id="28" idx="1"/>
          </p:cNvCxnSpPr>
          <p:nvPr/>
        </p:nvCxnSpPr>
        <p:spPr>
          <a:xfrm rot="10800000">
            <a:off x="646994" y="4217984"/>
            <a:ext cx="12700" cy="951237"/>
          </a:xfrm>
          <a:prstGeom prst="bentConnector3">
            <a:avLst>
              <a:gd name="adj1" fmla="val 887323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44" name="Left Brace 1143">
            <a:extLst>
              <a:ext uri="{FF2B5EF4-FFF2-40B4-BE49-F238E27FC236}">
                <a16:creationId xmlns:a16="http://schemas.microsoft.com/office/drawing/2014/main" id="{1A6C0C50-C2CC-9062-C607-26799A4F821C}"/>
              </a:ext>
            </a:extLst>
          </p:cNvPr>
          <p:cNvSpPr/>
          <p:nvPr/>
        </p:nvSpPr>
        <p:spPr>
          <a:xfrm rot="10800000">
            <a:off x="2030263" y="4203532"/>
            <a:ext cx="245595" cy="929185"/>
          </a:xfrm>
          <a:prstGeom prst="leftBrace">
            <a:avLst>
              <a:gd name="adj1" fmla="val 8333"/>
              <a:gd name="adj2" fmla="val 54096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710FA7F2-59AB-7542-A82E-D6A4DE25B4CE}"/>
              </a:ext>
            </a:extLst>
          </p:cNvPr>
          <p:cNvSpPr txBox="1"/>
          <p:nvPr/>
        </p:nvSpPr>
        <p:spPr>
          <a:xfrm>
            <a:off x="2146939" y="5600687"/>
            <a:ext cx="22882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 </a:t>
            </a:r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4 profiles per country, DDP – installs, ratings and ROR – installs, ratings )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0EE64F8F-D931-B3F2-9B7C-59DA89E4979A}"/>
              </a:ext>
            </a:extLst>
          </p:cNvPr>
          <p:cNvSpPr txBox="1"/>
          <p:nvPr/>
        </p:nvSpPr>
        <p:spPr>
          <a:xfrm>
            <a:off x="4552388" y="2859996"/>
            <a:ext cx="6606860" cy="3077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                    Do recurring country-specific relationships remain stable over time?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3CACD84D-4190-F3B1-1ED3-F07220A64A8E}"/>
              </a:ext>
            </a:extLst>
          </p:cNvPr>
          <p:cNvSpPr/>
          <p:nvPr/>
        </p:nvSpPr>
        <p:spPr>
          <a:xfrm>
            <a:off x="4552388" y="2845027"/>
            <a:ext cx="6606860" cy="36416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67" name="Left Brace 1066">
            <a:extLst>
              <a:ext uri="{FF2B5EF4-FFF2-40B4-BE49-F238E27FC236}">
                <a16:creationId xmlns:a16="http://schemas.microsoft.com/office/drawing/2014/main" id="{D08D3CF3-F9C1-C430-64DC-13BB4A3EB011}"/>
              </a:ext>
            </a:extLst>
          </p:cNvPr>
          <p:cNvSpPr/>
          <p:nvPr/>
        </p:nvSpPr>
        <p:spPr>
          <a:xfrm rot="16200000">
            <a:off x="6586217" y="4471525"/>
            <a:ext cx="132157" cy="2400164"/>
          </a:xfrm>
          <a:prstGeom prst="leftBrace">
            <a:avLst>
              <a:gd name="adj1" fmla="val 8333"/>
              <a:gd name="adj2" fmla="val 54096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71" name="Left Brace 1070">
            <a:extLst>
              <a:ext uri="{FF2B5EF4-FFF2-40B4-BE49-F238E27FC236}">
                <a16:creationId xmlns:a16="http://schemas.microsoft.com/office/drawing/2014/main" id="{BD534DB9-2AE2-7FE6-AFBA-18AE6B83F2B9}"/>
              </a:ext>
            </a:extLst>
          </p:cNvPr>
          <p:cNvSpPr/>
          <p:nvPr/>
        </p:nvSpPr>
        <p:spPr>
          <a:xfrm rot="10800000">
            <a:off x="8541026" y="4020723"/>
            <a:ext cx="95167" cy="1169963"/>
          </a:xfrm>
          <a:prstGeom prst="leftBrace">
            <a:avLst>
              <a:gd name="adj1" fmla="val 8333"/>
              <a:gd name="adj2" fmla="val 54096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63D67E56-2CD3-F598-73E3-CE616CDF08B9}"/>
              </a:ext>
            </a:extLst>
          </p:cNvPr>
          <p:cNvSpPr txBox="1"/>
          <p:nvPr/>
        </p:nvSpPr>
        <p:spPr>
          <a:xfrm>
            <a:off x="8744669" y="3377091"/>
            <a:ext cx="245254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latin typeface="Segoe UI Variable Small Semibol" pitchFamily="2" charset="0"/>
              </a:rPr>
              <a:t>Country – Months</a:t>
            </a:r>
          </a:p>
          <a:p>
            <a:pPr algn="ctr"/>
            <a:r>
              <a:rPr lang="en-US" sz="1000" dirty="0">
                <a:latin typeface="Segoe UI Variable Small Semibol" pitchFamily="2" charset="0"/>
              </a:rPr>
              <a:t>Monetization–Genre Interaction Profiles</a:t>
            </a:r>
            <a:endParaRPr lang="fi-FI" sz="1000" dirty="0">
              <a:latin typeface="Segoe UI Variable Small Semibol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9F4FFF-5271-76E1-6861-BC0A24835A71}"/>
              </a:ext>
            </a:extLst>
          </p:cNvPr>
          <p:cNvSpPr/>
          <p:nvPr/>
        </p:nvSpPr>
        <p:spPr>
          <a:xfrm>
            <a:off x="1842730" y="982529"/>
            <a:ext cx="1301085" cy="332106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8558EEE3-65F0-2FEE-E028-C23C345EE1B3}"/>
              </a:ext>
            </a:extLst>
          </p:cNvPr>
          <p:cNvSpPr txBox="1"/>
          <p:nvPr/>
        </p:nvSpPr>
        <p:spPr>
          <a:xfrm>
            <a:off x="2321209" y="2221323"/>
            <a:ext cx="9161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….  10 Genres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45919463-5AAE-0971-01C1-C8AB666107D3}"/>
              </a:ext>
            </a:extLst>
          </p:cNvPr>
          <p:cNvSpPr/>
          <p:nvPr/>
        </p:nvSpPr>
        <p:spPr>
          <a:xfrm>
            <a:off x="3692302" y="1166268"/>
            <a:ext cx="1605566" cy="409912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0AAE3849-5FC1-0CAA-ADBF-35AB908B8CFA}"/>
              </a:ext>
            </a:extLst>
          </p:cNvPr>
          <p:cNvSpPr/>
          <p:nvPr/>
        </p:nvSpPr>
        <p:spPr>
          <a:xfrm>
            <a:off x="3715451" y="1709424"/>
            <a:ext cx="1605566" cy="409912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56" name="Rectangle 1155">
            <a:extLst>
              <a:ext uri="{FF2B5EF4-FFF2-40B4-BE49-F238E27FC236}">
                <a16:creationId xmlns:a16="http://schemas.microsoft.com/office/drawing/2014/main" id="{84C156F1-ED48-8A71-ADD1-E6A5D8ED9B24}"/>
              </a:ext>
            </a:extLst>
          </p:cNvPr>
          <p:cNvSpPr/>
          <p:nvPr/>
        </p:nvSpPr>
        <p:spPr>
          <a:xfrm>
            <a:off x="3566874" y="676503"/>
            <a:ext cx="1835509" cy="1578415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99" name="TextBox 1298">
            <a:extLst>
              <a:ext uri="{FF2B5EF4-FFF2-40B4-BE49-F238E27FC236}">
                <a16:creationId xmlns:a16="http://schemas.microsoft.com/office/drawing/2014/main" id="{37DCDF03-BDEC-46E2-F485-54D41C56DCCC}"/>
              </a:ext>
            </a:extLst>
          </p:cNvPr>
          <p:cNvSpPr txBox="1"/>
          <p:nvPr/>
        </p:nvSpPr>
        <p:spPr>
          <a:xfrm>
            <a:off x="2275858" y="5397634"/>
            <a:ext cx="20527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Interaction profile per country </a:t>
            </a:r>
          </a:p>
        </p:txBody>
      </p:sp>
      <p:sp>
        <p:nvSpPr>
          <p:cNvPr id="1292" name="Left Brace 1291">
            <a:extLst>
              <a:ext uri="{FF2B5EF4-FFF2-40B4-BE49-F238E27FC236}">
                <a16:creationId xmlns:a16="http://schemas.microsoft.com/office/drawing/2014/main" id="{0D8E6C5A-F472-272C-FC08-502417611F27}"/>
              </a:ext>
            </a:extLst>
          </p:cNvPr>
          <p:cNvSpPr/>
          <p:nvPr/>
        </p:nvSpPr>
        <p:spPr>
          <a:xfrm rot="16200000">
            <a:off x="3091556" y="4862655"/>
            <a:ext cx="99173" cy="1014638"/>
          </a:xfrm>
          <a:prstGeom prst="leftBrace">
            <a:avLst>
              <a:gd name="adj1" fmla="val 8333"/>
              <a:gd name="adj2" fmla="val 54096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315" name="TextBox 1314">
            <a:extLst>
              <a:ext uri="{FF2B5EF4-FFF2-40B4-BE49-F238E27FC236}">
                <a16:creationId xmlns:a16="http://schemas.microsoft.com/office/drawing/2014/main" id="{7BF37EA2-EFA5-2C5F-E5E0-CCA69B382E9E}"/>
              </a:ext>
            </a:extLst>
          </p:cNvPr>
          <p:cNvSpPr txBox="1"/>
          <p:nvPr/>
        </p:nvSpPr>
        <p:spPr>
          <a:xfrm>
            <a:off x="9585477" y="5506296"/>
            <a:ext cx="910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4 profiles per country - month</a:t>
            </a:r>
            <a:endParaRPr lang="fi-FI" sz="7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16" name="Left Brace 1315">
            <a:extLst>
              <a:ext uri="{FF2B5EF4-FFF2-40B4-BE49-F238E27FC236}">
                <a16:creationId xmlns:a16="http://schemas.microsoft.com/office/drawing/2014/main" id="{0D1A9C9D-09FE-1955-7383-77F4939CB80E}"/>
              </a:ext>
            </a:extLst>
          </p:cNvPr>
          <p:cNvSpPr/>
          <p:nvPr/>
        </p:nvSpPr>
        <p:spPr>
          <a:xfrm>
            <a:off x="10420511" y="5527761"/>
            <a:ext cx="124204" cy="309927"/>
          </a:xfrm>
          <a:prstGeom prst="leftBrace">
            <a:avLst>
              <a:gd name="adj1" fmla="val 8333"/>
              <a:gd name="adj2" fmla="val 52711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17" name="TextBox 1316">
            <a:extLst>
              <a:ext uri="{FF2B5EF4-FFF2-40B4-BE49-F238E27FC236}">
                <a16:creationId xmlns:a16="http://schemas.microsoft.com/office/drawing/2014/main" id="{2F5D38B9-0901-B559-DB68-2134F06B8F83}"/>
              </a:ext>
            </a:extLst>
          </p:cNvPr>
          <p:cNvSpPr txBox="1"/>
          <p:nvPr/>
        </p:nvSpPr>
        <p:spPr>
          <a:xfrm>
            <a:off x="10411925" y="5444634"/>
            <a:ext cx="8264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DDP – installs</a:t>
            </a:r>
          </a:p>
          <a:p>
            <a:pPr algn="ctr"/>
            <a:r>
              <a:rPr lang="en-US" sz="6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DDP – ratings </a:t>
            </a:r>
          </a:p>
          <a:p>
            <a:pPr algn="ctr"/>
            <a:r>
              <a:rPr lang="en-US" sz="6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ROR – installs</a:t>
            </a:r>
          </a:p>
          <a:p>
            <a:pPr algn="ctr"/>
            <a:r>
              <a:rPr lang="en-US" sz="6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ROR – ratings </a:t>
            </a:r>
            <a:endParaRPr lang="fi-FI" sz="6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27" name="TextBox 1326">
            <a:extLst>
              <a:ext uri="{FF2B5EF4-FFF2-40B4-BE49-F238E27FC236}">
                <a16:creationId xmlns:a16="http://schemas.microsoft.com/office/drawing/2014/main" id="{E8BE6AD4-D86E-7FAD-4D23-F5C2EC95FDFC}"/>
              </a:ext>
            </a:extLst>
          </p:cNvPr>
          <p:cNvSpPr txBox="1"/>
          <p:nvPr/>
        </p:nvSpPr>
        <p:spPr>
          <a:xfrm>
            <a:off x="6092859" y="5740560"/>
            <a:ext cx="11734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…. 42 Countries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330" name="Picture 1329">
            <a:extLst>
              <a:ext uri="{FF2B5EF4-FFF2-40B4-BE49-F238E27FC236}">
                <a16:creationId xmlns:a16="http://schemas.microsoft.com/office/drawing/2014/main" id="{7C48FB57-0C00-64C2-92FE-B3E7DC87AC7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788" r="3157" b="23152"/>
          <a:stretch/>
        </p:blipFill>
        <p:spPr>
          <a:xfrm>
            <a:off x="4673601" y="3519195"/>
            <a:ext cx="3747754" cy="2027841"/>
          </a:xfrm>
          <a:prstGeom prst="rect">
            <a:avLst/>
          </a:prstGeom>
        </p:spPr>
      </p:pic>
      <p:sp>
        <p:nvSpPr>
          <p:cNvPr id="1351" name="Rectangle 1350">
            <a:extLst>
              <a:ext uri="{FF2B5EF4-FFF2-40B4-BE49-F238E27FC236}">
                <a16:creationId xmlns:a16="http://schemas.microsoft.com/office/drawing/2014/main" id="{5FCA5F71-DF46-CB74-6A89-41B2E6765060}"/>
              </a:ext>
            </a:extLst>
          </p:cNvPr>
          <p:cNvSpPr/>
          <p:nvPr/>
        </p:nvSpPr>
        <p:spPr>
          <a:xfrm>
            <a:off x="4647205" y="3254645"/>
            <a:ext cx="3833238" cy="2716748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52" name="TextBox 1351">
            <a:extLst>
              <a:ext uri="{FF2B5EF4-FFF2-40B4-BE49-F238E27FC236}">
                <a16:creationId xmlns:a16="http://schemas.microsoft.com/office/drawing/2014/main" id="{7AB14265-7DB1-C3B5-25D9-C5F274905B8C}"/>
              </a:ext>
            </a:extLst>
          </p:cNvPr>
          <p:cNvSpPr txBox="1"/>
          <p:nvPr/>
        </p:nvSpPr>
        <p:spPr>
          <a:xfrm>
            <a:off x="5003038" y="3344789"/>
            <a:ext cx="2979421" cy="253916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</a:rPr>
              <a:t>Estimate Within Each Country–Month</a:t>
            </a:r>
          </a:p>
        </p:txBody>
      </p:sp>
      <p:pic>
        <p:nvPicPr>
          <p:cNvPr id="1374" name="Picture 1373">
            <a:extLst>
              <a:ext uri="{FF2B5EF4-FFF2-40B4-BE49-F238E27FC236}">
                <a16:creationId xmlns:a16="http://schemas.microsoft.com/office/drawing/2014/main" id="{30B61C76-1482-CA92-95BD-EEEEFEE8E67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37073" y="3595265"/>
            <a:ext cx="1828668" cy="1753009"/>
          </a:xfrm>
          <a:prstGeom prst="rect">
            <a:avLst/>
          </a:prstGeom>
        </p:spPr>
      </p:pic>
      <p:sp>
        <p:nvSpPr>
          <p:cNvPr id="1405" name="Rectangle 1404">
            <a:extLst>
              <a:ext uri="{FF2B5EF4-FFF2-40B4-BE49-F238E27FC236}">
                <a16:creationId xmlns:a16="http://schemas.microsoft.com/office/drawing/2014/main" id="{D54EF48E-F3D4-623C-B87D-3437BB1E7536}"/>
              </a:ext>
            </a:extLst>
          </p:cNvPr>
          <p:cNvSpPr/>
          <p:nvPr/>
        </p:nvSpPr>
        <p:spPr>
          <a:xfrm>
            <a:off x="85771" y="40239"/>
            <a:ext cx="781979" cy="3900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Stage 1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1415" name="Rectangle 1414">
            <a:extLst>
              <a:ext uri="{FF2B5EF4-FFF2-40B4-BE49-F238E27FC236}">
                <a16:creationId xmlns:a16="http://schemas.microsoft.com/office/drawing/2014/main" id="{79773C87-A45A-453B-187F-0AAB994587EC}"/>
              </a:ext>
            </a:extLst>
          </p:cNvPr>
          <p:cNvSpPr/>
          <p:nvPr/>
        </p:nvSpPr>
        <p:spPr>
          <a:xfrm>
            <a:off x="353182" y="521620"/>
            <a:ext cx="2879416" cy="897625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22" name="Rectangle 1421">
            <a:extLst>
              <a:ext uri="{FF2B5EF4-FFF2-40B4-BE49-F238E27FC236}">
                <a16:creationId xmlns:a16="http://schemas.microsoft.com/office/drawing/2014/main" id="{7C93BCE2-5B4F-3272-0DD8-4D6CB871CEE0}"/>
              </a:ext>
            </a:extLst>
          </p:cNvPr>
          <p:cNvSpPr/>
          <p:nvPr/>
        </p:nvSpPr>
        <p:spPr>
          <a:xfrm>
            <a:off x="140407" y="2725485"/>
            <a:ext cx="781979" cy="3900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Stage 2 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1423" name="Rectangle 1422">
            <a:extLst>
              <a:ext uri="{FF2B5EF4-FFF2-40B4-BE49-F238E27FC236}">
                <a16:creationId xmlns:a16="http://schemas.microsoft.com/office/drawing/2014/main" id="{3F29598C-2136-A8C1-75CB-678BED7D6E30}"/>
              </a:ext>
            </a:extLst>
          </p:cNvPr>
          <p:cNvSpPr/>
          <p:nvPr/>
        </p:nvSpPr>
        <p:spPr>
          <a:xfrm>
            <a:off x="4516436" y="2725485"/>
            <a:ext cx="781979" cy="3900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Stage 3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1428" name="Arrow: Down 1427">
            <a:extLst>
              <a:ext uri="{FF2B5EF4-FFF2-40B4-BE49-F238E27FC236}">
                <a16:creationId xmlns:a16="http://schemas.microsoft.com/office/drawing/2014/main" id="{1D88183A-615D-B23B-D018-2B4A751BDAB8}"/>
              </a:ext>
            </a:extLst>
          </p:cNvPr>
          <p:cNvSpPr/>
          <p:nvPr/>
        </p:nvSpPr>
        <p:spPr>
          <a:xfrm>
            <a:off x="3949852" y="2560490"/>
            <a:ext cx="192252" cy="248991"/>
          </a:xfrm>
          <a:prstGeom prst="down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41" name="Arrow: Down 1440">
            <a:extLst>
              <a:ext uri="{FF2B5EF4-FFF2-40B4-BE49-F238E27FC236}">
                <a16:creationId xmlns:a16="http://schemas.microsoft.com/office/drawing/2014/main" id="{90E62378-880C-8436-871F-C41EC5692A26}"/>
              </a:ext>
            </a:extLst>
          </p:cNvPr>
          <p:cNvSpPr/>
          <p:nvPr/>
        </p:nvSpPr>
        <p:spPr>
          <a:xfrm rot="16200000">
            <a:off x="4447269" y="6130652"/>
            <a:ext cx="192252" cy="248991"/>
          </a:xfrm>
          <a:prstGeom prst="down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45" name="TextBox 1444">
            <a:extLst>
              <a:ext uri="{FF2B5EF4-FFF2-40B4-BE49-F238E27FC236}">
                <a16:creationId xmlns:a16="http://schemas.microsoft.com/office/drawing/2014/main" id="{DC78E825-8882-0204-7155-EC67D0F803A1}"/>
              </a:ext>
            </a:extLst>
          </p:cNvPr>
          <p:cNvSpPr txBox="1"/>
          <p:nvPr/>
        </p:nvSpPr>
        <p:spPr>
          <a:xfrm>
            <a:off x="1881685" y="6057947"/>
            <a:ext cx="2524259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Output 2: Cross Market  </a:t>
            </a:r>
          </a:p>
          <a:p>
            <a:pPr algn="ctr"/>
            <a:r>
              <a:rPr lang="en-US" sz="1000" b="1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Estimates</a:t>
            </a:r>
          </a:p>
        </p:txBody>
      </p:sp>
      <p:sp>
        <p:nvSpPr>
          <p:cNvPr id="1446" name="TextBox 1445">
            <a:extLst>
              <a:ext uri="{FF2B5EF4-FFF2-40B4-BE49-F238E27FC236}">
                <a16:creationId xmlns:a16="http://schemas.microsoft.com/office/drawing/2014/main" id="{4922A303-05F4-88EF-DACB-B369A09F438B}"/>
              </a:ext>
            </a:extLst>
          </p:cNvPr>
          <p:cNvSpPr txBox="1"/>
          <p:nvPr/>
        </p:nvSpPr>
        <p:spPr>
          <a:xfrm>
            <a:off x="8600666" y="6032014"/>
            <a:ext cx="2524259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Output 3: Time Specific Market Estimates</a:t>
            </a:r>
          </a:p>
        </p:txBody>
      </p:sp>
      <p:sp>
        <p:nvSpPr>
          <p:cNvPr id="1447" name="TextBox 1446">
            <a:extLst>
              <a:ext uri="{FF2B5EF4-FFF2-40B4-BE49-F238E27FC236}">
                <a16:creationId xmlns:a16="http://schemas.microsoft.com/office/drawing/2014/main" id="{27EAA40D-9E6F-7467-36F8-02DB7FF35C39}"/>
              </a:ext>
            </a:extLst>
          </p:cNvPr>
          <p:cNvSpPr txBox="1"/>
          <p:nvPr/>
        </p:nvSpPr>
        <p:spPr>
          <a:xfrm>
            <a:off x="7982460" y="2083130"/>
            <a:ext cx="3095786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Output 1: </a:t>
            </a:r>
            <a:r>
              <a:rPr lang="en-US" sz="1000" dirty="0">
                <a:latin typeface="Segoe UI Variable Small Semibol" pitchFamily="2" charset="0"/>
              </a:rPr>
              <a:t>Genre Conditional Relationships</a:t>
            </a:r>
          </a:p>
          <a:p>
            <a:pPr algn="ctr"/>
            <a:r>
              <a:rPr lang="en-US" sz="1000" dirty="0">
                <a:latin typeface="Segoe UI Variable Small Semibol" pitchFamily="2" charset="0"/>
              </a:rPr>
              <a:t>( Success | Monetization , Genre ) Estimates </a:t>
            </a:r>
            <a:endParaRPr lang="fi-FI" sz="1000" dirty="0">
              <a:latin typeface="Segoe UI Variable Small Semibol" pitchFamily="2" charset="0"/>
            </a:endParaRPr>
          </a:p>
        </p:txBody>
      </p:sp>
      <p:cxnSp>
        <p:nvCxnSpPr>
          <p:cNvPr id="1450" name="Straight Arrow Connector 1449">
            <a:extLst>
              <a:ext uri="{FF2B5EF4-FFF2-40B4-BE49-F238E27FC236}">
                <a16:creationId xmlns:a16="http://schemas.microsoft.com/office/drawing/2014/main" id="{2A96044A-D597-5906-854E-F203F3CEB811}"/>
              </a:ext>
            </a:extLst>
          </p:cNvPr>
          <p:cNvCxnSpPr>
            <a:cxnSpLocks/>
            <a:endCxn id="1445" idx="0"/>
          </p:cNvCxnSpPr>
          <p:nvPr/>
        </p:nvCxnSpPr>
        <p:spPr>
          <a:xfrm>
            <a:off x="3143815" y="5884834"/>
            <a:ext cx="0" cy="17311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3" name="Straight Arrow Connector 1452">
            <a:extLst>
              <a:ext uri="{FF2B5EF4-FFF2-40B4-BE49-F238E27FC236}">
                <a16:creationId xmlns:a16="http://schemas.microsoft.com/office/drawing/2014/main" id="{39C223FC-7796-9158-8DDC-AFE285EA1406}"/>
              </a:ext>
            </a:extLst>
          </p:cNvPr>
          <p:cNvCxnSpPr>
            <a:cxnSpLocks/>
          </p:cNvCxnSpPr>
          <p:nvPr/>
        </p:nvCxnSpPr>
        <p:spPr>
          <a:xfrm>
            <a:off x="9905452" y="5819742"/>
            <a:ext cx="0" cy="17311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61" name="Left Brace 1460">
            <a:extLst>
              <a:ext uri="{FF2B5EF4-FFF2-40B4-BE49-F238E27FC236}">
                <a16:creationId xmlns:a16="http://schemas.microsoft.com/office/drawing/2014/main" id="{AC69EEE1-22D3-C78C-0A5E-3BC8C1AB765B}"/>
              </a:ext>
            </a:extLst>
          </p:cNvPr>
          <p:cNvSpPr/>
          <p:nvPr/>
        </p:nvSpPr>
        <p:spPr>
          <a:xfrm rot="10800000">
            <a:off x="3340621" y="813560"/>
            <a:ext cx="122099" cy="1315478"/>
          </a:xfrm>
          <a:prstGeom prst="leftBrace">
            <a:avLst>
              <a:gd name="adj1" fmla="val 8333"/>
              <a:gd name="adj2" fmla="val 54096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71" name="TextBox 1470">
            <a:extLst>
              <a:ext uri="{FF2B5EF4-FFF2-40B4-BE49-F238E27FC236}">
                <a16:creationId xmlns:a16="http://schemas.microsoft.com/office/drawing/2014/main" id="{877D3441-759D-A014-F042-CDA48B9840FA}"/>
              </a:ext>
            </a:extLst>
          </p:cNvPr>
          <p:cNvSpPr txBox="1"/>
          <p:nvPr/>
        </p:nvSpPr>
        <p:spPr>
          <a:xfrm>
            <a:off x="339484" y="1462436"/>
            <a:ext cx="2915350" cy="369332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Genre </a:t>
            </a:r>
          </a:p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(Contextual Modifier) 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72" name="Rectangle 1471">
            <a:extLst>
              <a:ext uri="{FF2B5EF4-FFF2-40B4-BE49-F238E27FC236}">
                <a16:creationId xmlns:a16="http://schemas.microsoft.com/office/drawing/2014/main" id="{93017EE0-E554-0D50-6881-EE1F5C71A0E7}"/>
              </a:ext>
            </a:extLst>
          </p:cNvPr>
          <p:cNvSpPr/>
          <p:nvPr/>
        </p:nvSpPr>
        <p:spPr>
          <a:xfrm>
            <a:off x="339484" y="1482326"/>
            <a:ext cx="2915349" cy="995541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75" name="Rectangle 1474">
            <a:extLst>
              <a:ext uri="{FF2B5EF4-FFF2-40B4-BE49-F238E27FC236}">
                <a16:creationId xmlns:a16="http://schemas.microsoft.com/office/drawing/2014/main" id="{9FD12474-ED91-952F-B160-9082CF523733}"/>
              </a:ext>
            </a:extLst>
          </p:cNvPr>
          <p:cNvSpPr/>
          <p:nvPr/>
        </p:nvSpPr>
        <p:spPr>
          <a:xfrm>
            <a:off x="391202" y="1920317"/>
            <a:ext cx="916124" cy="234262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76" name="TextBox 1475">
            <a:extLst>
              <a:ext uri="{FF2B5EF4-FFF2-40B4-BE49-F238E27FC236}">
                <a16:creationId xmlns:a16="http://schemas.microsoft.com/office/drawing/2014/main" id="{AEA569B9-9C27-ACFB-60EE-8F2E9DBBC1A6}"/>
              </a:ext>
            </a:extLst>
          </p:cNvPr>
          <p:cNvSpPr txBox="1"/>
          <p:nvPr/>
        </p:nvSpPr>
        <p:spPr>
          <a:xfrm>
            <a:off x="636139" y="1920317"/>
            <a:ext cx="6375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Action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477" name="Picture 1476">
            <a:extLst>
              <a:ext uri="{FF2B5EF4-FFF2-40B4-BE49-F238E27FC236}">
                <a16:creationId xmlns:a16="http://schemas.microsoft.com/office/drawing/2014/main" id="{03CCF118-3255-3775-E495-963A8860C61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6915" y="1944316"/>
            <a:ext cx="199478" cy="184882"/>
          </a:xfrm>
          <a:prstGeom prst="rect">
            <a:avLst/>
          </a:prstGeom>
        </p:spPr>
      </p:pic>
      <p:sp>
        <p:nvSpPr>
          <p:cNvPr id="1478" name="Rectangle 1477">
            <a:extLst>
              <a:ext uri="{FF2B5EF4-FFF2-40B4-BE49-F238E27FC236}">
                <a16:creationId xmlns:a16="http://schemas.microsoft.com/office/drawing/2014/main" id="{519D434E-D646-A37D-A8E9-0EF4144CC6B1}"/>
              </a:ext>
            </a:extLst>
          </p:cNvPr>
          <p:cNvSpPr/>
          <p:nvPr/>
        </p:nvSpPr>
        <p:spPr>
          <a:xfrm>
            <a:off x="1412839" y="1920317"/>
            <a:ext cx="908370" cy="239914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79" name="TextBox 1478">
            <a:extLst>
              <a:ext uri="{FF2B5EF4-FFF2-40B4-BE49-F238E27FC236}">
                <a16:creationId xmlns:a16="http://schemas.microsoft.com/office/drawing/2014/main" id="{C4208D78-5BFC-8E81-DAF3-165F4643EA85}"/>
              </a:ext>
            </a:extLst>
          </p:cNvPr>
          <p:cNvSpPr txBox="1"/>
          <p:nvPr/>
        </p:nvSpPr>
        <p:spPr>
          <a:xfrm>
            <a:off x="1584336" y="1920317"/>
            <a:ext cx="7527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Strategy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480" name="Picture 1479">
            <a:extLst>
              <a:ext uri="{FF2B5EF4-FFF2-40B4-BE49-F238E27FC236}">
                <a16:creationId xmlns:a16="http://schemas.microsoft.com/office/drawing/2014/main" id="{4DCB148B-F9A6-2A70-7E62-A3053895C05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49887" y="1931130"/>
            <a:ext cx="193708" cy="186161"/>
          </a:xfrm>
          <a:prstGeom prst="rect">
            <a:avLst/>
          </a:prstGeom>
        </p:spPr>
      </p:pic>
      <p:pic>
        <p:nvPicPr>
          <p:cNvPr id="1481" name="Picture 1480">
            <a:extLst>
              <a:ext uri="{FF2B5EF4-FFF2-40B4-BE49-F238E27FC236}">
                <a16:creationId xmlns:a16="http://schemas.microsoft.com/office/drawing/2014/main" id="{D6E157AE-2116-132E-5C60-75C84EC62A2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3724" y="2217349"/>
            <a:ext cx="203771" cy="193708"/>
          </a:xfrm>
          <a:prstGeom prst="rect">
            <a:avLst/>
          </a:prstGeom>
        </p:spPr>
      </p:pic>
      <p:sp>
        <p:nvSpPr>
          <p:cNvPr id="1482" name="Rectangle 1481">
            <a:extLst>
              <a:ext uri="{FF2B5EF4-FFF2-40B4-BE49-F238E27FC236}">
                <a16:creationId xmlns:a16="http://schemas.microsoft.com/office/drawing/2014/main" id="{81CFF17B-AF38-EE07-C754-1C66D5E5C529}"/>
              </a:ext>
            </a:extLst>
          </p:cNvPr>
          <p:cNvSpPr/>
          <p:nvPr/>
        </p:nvSpPr>
        <p:spPr>
          <a:xfrm>
            <a:off x="1409068" y="2187776"/>
            <a:ext cx="908370" cy="25779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83" name="Rectangle 1482">
            <a:extLst>
              <a:ext uri="{FF2B5EF4-FFF2-40B4-BE49-F238E27FC236}">
                <a16:creationId xmlns:a16="http://schemas.microsoft.com/office/drawing/2014/main" id="{1D6EB53B-3E06-6BBD-A399-BF5A15D22976}"/>
              </a:ext>
            </a:extLst>
          </p:cNvPr>
          <p:cNvSpPr/>
          <p:nvPr/>
        </p:nvSpPr>
        <p:spPr>
          <a:xfrm>
            <a:off x="398956" y="2195335"/>
            <a:ext cx="908370" cy="239914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84" name="TextBox 1483">
            <a:extLst>
              <a:ext uri="{FF2B5EF4-FFF2-40B4-BE49-F238E27FC236}">
                <a16:creationId xmlns:a16="http://schemas.microsoft.com/office/drawing/2014/main" id="{A3690E81-ED91-EB74-C6DB-E0967AA40D7E}"/>
              </a:ext>
            </a:extLst>
          </p:cNvPr>
          <p:cNvSpPr txBox="1"/>
          <p:nvPr/>
        </p:nvSpPr>
        <p:spPr>
          <a:xfrm>
            <a:off x="1642637" y="2214734"/>
            <a:ext cx="6375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Puzzle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85" name="TextBox 1484">
            <a:extLst>
              <a:ext uri="{FF2B5EF4-FFF2-40B4-BE49-F238E27FC236}">
                <a16:creationId xmlns:a16="http://schemas.microsoft.com/office/drawing/2014/main" id="{B3A2F5B1-C85B-7596-FFC0-CC2D4EB46B70}"/>
              </a:ext>
            </a:extLst>
          </p:cNvPr>
          <p:cNvSpPr txBox="1"/>
          <p:nvPr/>
        </p:nvSpPr>
        <p:spPr>
          <a:xfrm>
            <a:off x="570453" y="2195335"/>
            <a:ext cx="7527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Strategy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486" name="Picture 1485">
            <a:extLst>
              <a:ext uri="{FF2B5EF4-FFF2-40B4-BE49-F238E27FC236}">
                <a16:creationId xmlns:a16="http://schemas.microsoft.com/office/drawing/2014/main" id="{A4FB941E-92CA-5B20-9E0A-321ABE35D14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6004" y="2206148"/>
            <a:ext cx="193708" cy="186161"/>
          </a:xfrm>
          <a:prstGeom prst="rect">
            <a:avLst/>
          </a:prstGeom>
        </p:spPr>
      </p:pic>
      <p:sp>
        <p:nvSpPr>
          <p:cNvPr id="1487" name="Rectangle 1486">
            <a:extLst>
              <a:ext uri="{FF2B5EF4-FFF2-40B4-BE49-F238E27FC236}">
                <a16:creationId xmlns:a16="http://schemas.microsoft.com/office/drawing/2014/main" id="{B7FFF9C4-E3FA-4C6B-1A7F-0906ECEB7049}"/>
              </a:ext>
            </a:extLst>
          </p:cNvPr>
          <p:cNvSpPr/>
          <p:nvPr/>
        </p:nvSpPr>
        <p:spPr>
          <a:xfrm>
            <a:off x="2366532" y="1915321"/>
            <a:ext cx="814550" cy="248708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88" name="TextBox 1487">
            <a:extLst>
              <a:ext uri="{FF2B5EF4-FFF2-40B4-BE49-F238E27FC236}">
                <a16:creationId xmlns:a16="http://schemas.microsoft.com/office/drawing/2014/main" id="{AEB97BD1-CD6C-845D-81C4-2E7B919F6CAB}"/>
              </a:ext>
            </a:extLst>
          </p:cNvPr>
          <p:cNvSpPr txBox="1"/>
          <p:nvPr/>
        </p:nvSpPr>
        <p:spPr>
          <a:xfrm>
            <a:off x="2564672" y="1928200"/>
            <a:ext cx="6164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Racing</a:t>
            </a:r>
            <a:endParaRPr lang="fi-FI" sz="8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489" name="Picture 1488">
            <a:extLst>
              <a:ext uri="{FF2B5EF4-FFF2-40B4-BE49-F238E27FC236}">
                <a16:creationId xmlns:a16="http://schemas.microsoft.com/office/drawing/2014/main" id="{DC9392BD-C609-5406-3FC9-D1B7A015FBD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25020" y="1944316"/>
            <a:ext cx="208803" cy="166036"/>
          </a:xfrm>
          <a:prstGeom prst="rect">
            <a:avLst/>
          </a:prstGeom>
        </p:spPr>
      </p:pic>
      <p:sp>
        <p:nvSpPr>
          <p:cNvPr id="1511" name="TextBox 1510">
            <a:extLst>
              <a:ext uri="{FF2B5EF4-FFF2-40B4-BE49-F238E27FC236}">
                <a16:creationId xmlns:a16="http://schemas.microsoft.com/office/drawing/2014/main" id="{DAF588ED-5D3F-4E0C-8F1D-B91603A212C8}"/>
              </a:ext>
            </a:extLst>
          </p:cNvPr>
          <p:cNvSpPr txBox="1"/>
          <p:nvPr/>
        </p:nvSpPr>
        <p:spPr>
          <a:xfrm>
            <a:off x="5669976" y="1257575"/>
            <a:ext cx="1785042" cy="4154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Estimate Interactions</a:t>
            </a:r>
          </a:p>
          <a:p>
            <a:pPr algn="ctr"/>
            <a:r>
              <a:rPr lang="en-US" sz="105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ROR &amp; DDP 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1518" name="Straight Arrow Connector 1517">
            <a:extLst>
              <a:ext uri="{FF2B5EF4-FFF2-40B4-BE49-F238E27FC236}">
                <a16:creationId xmlns:a16="http://schemas.microsoft.com/office/drawing/2014/main" id="{B734EE84-BC59-10B7-1E84-5E4BC59E622A}"/>
              </a:ext>
            </a:extLst>
          </p:cNvPr>
          <p:cNvCxnSpPr>
            <a:cxnSpLocks/>
          </p:cNvCxnSpPr>
          <p:nvPr/>
        </p:nvCxnSpPr>
        <p:spPr>
          <a:xfrm>
            <a:off x="10275462" y="1818635"/>
            <a:ext cx="0" cy="25136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1" name="Straight Arrow Connector 1540">
            <a:extLst>
              <a:ext uri="{FF2B5EF4-FFF2-40B4-BE49-F238E27FC236}">
                <a16:creationId xmlns:a16="http://schemas.microsoft.com/office/drawing/2014/main" id="{EBB72DAD-57CB-1796-A287-AEFCE1EA028E}"/>
              </a:ext>
            </a:extLst>
          </p:cNvPr>
          <p:cNvCxnSpPr>
            <a:cxnSpLocks/>
            <a:stCxn id="1156" idx="3"/>
            <a:endCxn id="1511" idx="1"/>
          </p:cNvCxnSpPr>
          <p:nvPr/>
        </p:nvCxnSpPr>
        <p:spPr>
          <a:xfrm flipV="1">
            <a:off x="5402383" y="1465324"/>
            <a:ext cx="267593" cy="387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5" name="Straight Arrow Connector 1544">
            <a:extLst>
              <a:ext uri="{FF2B5EF4-FFF2-40B4-BE49-F238E27FC236}">
                <a16:creationId xmlns:a16="http://schemas.microsoft.com/office/drawing/2014/main" id="{82ABD5DB-B82B-DD94-8C60-8827BC498B19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8480444" y="1183366"/>
            <a:ext cx="360061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8" name="TextBox 1547">
            <a:extLst>
              <a:ext uri="{FF2B5EF4-FFF2-40B4-BE49-F238E27FC236}">
                <a16:creationId xmlns:a16="http://schemas.microsoft.com/office/drawing/2014/main" id="{029089C5-7A4F-350C-1872-E1D17C7187E8}"/>
              </a:ext>
            </a:extLst>
          </p:cNvPr>
          <p:cNvSpPr txBox="1"/>
          <p:nvPr/>
        </p:nvSpPr>
        <p:spPr>
          <a:xfrm>
            <a:off x="7684092" y="1060719"/>
            <a:ext cx="737263" cy="253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95 % CI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1549" name="Connector: Elbow 1548">
            <a:extLst>
              <a:ext uri="{FF2B5EF4-FFF2-40B4-BE49-F238E27FC236}">
                <a16:creationId xmlns:a16="http://schemas.microsoft.com/office/drawing/2014/main" id="{2C705089-4EAD-8F9D-9895-FEEFD5B3367A}"/>
              </a:ext>
            </a:extLst>
          </p:cNvPr>
          <p:cNvCxnSpPr>
            <a:cxnSpLocks/>
            <a:stCxn id="1511" idx="3"/>
            <a:endCxn id="1548" idx="2"/>
          </p:cNvCxnSpPr>
          <p:nvPr/>
        </p:nvCxnSpPr>
        <p:spPr>
          <a:xfrm flipV="1">
            <a:off x="7455018" y="1314635"/>
            <a:ext cx="597706" cy="150689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934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16FE2-EF6D-378F-1BAE-8B9B76EBE8FB}"/>
              </a:ext>
            </a:extLst>
          </p:cNvPr>
          <p:cNvSpPr/>
          <p:nvPr/>
        </p:nvSpPr>
        <p:spPr>
          <a:xfrm>
            <a:off x="225079" y="306087"/>
            <a:ext cx="10934169" cy="335580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7D4D46-AC43-CA31-11BE-C1904481AADF}"/>
              </a:ext>
            </a:extLst>
          </p:cNvPr>
          <p:cNvSpPr/>
          <p:nvPr/>
        </p:nvSpPr>
        <p:spPr>
          <a:xfrm>
            <a:off x="331884" y="785717"/>
            <a:ext cx="4111327" cy="2781727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B38566-24BC-C66E-E1F4-F4516B933EE5}"/>
              </a:ext>
            </a:extLst>
          </p:cNvPr>
          <p:cNvSpPr/>
          <p:nvPr/>
        </p:nvSpPr>
        <p:spPr>
          <a:xfrm rot="16200000">
            <a:off x="-188308" y="1313960"/>
            <a:ext cx="1473975" cy="4137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4C86F7-113A-A9E3-C7D0-C9781CDA4530}"/>
              </a:ext>
            </a:extLst>
          </p:cNvPr>
          <p:cNvSpPr txBox="1"/>
          <p:nvPr/>
        </p:nvSpPr>
        <p:spPr>
          <a:xfrm rot="16200000">
            <a:off x="-47554" y="1291024"/>
            <a:ext cx="1190741" cy="415498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Ads Supported Profiles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5CD3AA-EFA1-E802-212D-4F707C709B09}"/>
              </a:ext>
            </a:extLst>
          </p:cNvPr>
          <p:cNvSpPr txBox="1"/>
          <p:nvPr/>
        </p:nvSpPr>
        <p:spPr>
          <a:xfrm>
            <a:off x="954853" y="873251"/>
            <a:ext cx="1136932" cy="230832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Strong Synergic 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018AE5-5F6F-C0A1-E271-ADCB7B75C4A4}"/>
              </a:ext>
            </a:extLst>
          </p:cNvPr>
          <p:cNvSpPr txBox="1"/>
          <p:nvPr/>
        </p:nvSpPr>
        <p:spPr>
          <a:xfrm>
            <a:off x="225080" y="308026"/>
            <a:ext cx="10934168" cy="3077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Whitney-Semibold" panose="02000603040000020004" pitchFamily="2" charset="0"/>
              </a:rPr>
              <a:t>                           What gameplay characteristics characterize the genre contexts underlying recurring monetization–success relationships?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89E7D44-1622-2A47-8129-FF1D93DAB9C2}"/>
              </a:ext>
            </a:extLst>
          </p:cNvPr>
          <p:cNvSpPr/>
          <p:nvPr/>
        </p:nvSpPr>
        <p:spPr>
          <a:xfrm>
            <a:off x="1542638" y="1278935"/>
            <a:ext cx="618186" cy="575256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29915E7-1F4B-2051-79A8-0D31BBAFA88D}"/>
              </a:ext>
            </a:extLst>
          </p:cNvPr>
          <p:cNvSpPr/>
          <p:nvPr/>
        </p:nvSpPr>
        <p:spPr>
          <a:xfrm>
            <a:off x="862204" y="1414163"/>
            <a:ext cx="618186" cy="575256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FB8749D-F105-6581-00F9-2D78C159EC34}"/>
              </a:ext>
            </a:extLst>
          </p:cNvPr>
          <p:cNvSpPr/>
          <p:nvPr/>
        </p:nvSpPr>
        <p:spPr>
          <a:xfrm>
            <a:off x="3465413" y="1228077"/>
            <a:ext cx="618186" cy="575256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8F80E87-6163-298C-221E-942B915471D2}"/>
              </a:ext>
            </a:extLst>
          </p:cNvPr>
          <p:cNvSpPr/>
          <p:nvPr/>
        </p:nvSpPr>
        <p:spPr>
          <a:xfrm>
            <a:off x="2944990" y="1400069"/>
            <a:ext cx="618186" cy="575256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A6E4ED-AE81-6465-B9B8-0834E28F9B1A}"/>
              </a:ext>
            </a:extLst>
          </p:cNvPr>
          <p:cNvSpPr txBox="1"/>
          <p:nvPr/>
        </p:nvSpPr>
        <p:spPr>
          <a:xfrm>
            <a:off x="862204" y="1490958"/>
            <a:ext cx="608843" cy="230832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Casual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816D10-01D3-1BAE-69FE-AF2909724C28}"/>
              </a:ext>
            </a:extLst>
          </p:cNvPr>
          <p:cNvSpPr txBox="1"/>
          <p:nvPr/>
        </p:nvSpPr>
        <p:spPr>
          <a:xfrm>
            <a:off x="1554127" y="1414163"/>
            <a:ext cx="608843" cy="230832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Puzzle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5F90AC-29E4-46DD-5F34-70340C5D1B4C}"/>
              </a:ext>
            </a:extLst>
          </p:cNvPr>
          <p:cNvSpPr txBox="1"/>
          <p:nvPr/>
        </p:nvSpPr>
        <p:spPr>
          <a:xfrm>
            <a:off x="2944990" y="1485450"/>
            <a:ext cx="608843" cy="230832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RPG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96D901-60A7-2696-0B63-2CC73A890FF8}"/>
              </a:ext>
            </a:extLst>
          </p:cNvPr>
          <p:cNvSpPr txBox="1"/>
          <p:nvPr/>
        </p:nvSpPr>
        <p:spPr>
          <a:xfrm>
            <a:off x="3403165" y="1395503"/>
            <a:ext cx="756318" cy="230832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Strategy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4542414-EB63-810A-9F38-3661A4CA0D15}"/>
              </a:ext>
            </a:extLst>
          </p:cNvPr>
          <p:cNvSpPr/>
          <p:nvPr/>
        </p:nvSpPr>
        <p:spPr>
          <a:xfrm>
            <a:off x="945917" y="1721790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367A448-887E-B9D7-9C59-5B22AA10B54F}"/>
              </a:ext>
            </a:extLst>
          </p:cNvPr>
          <p:cNvSpPr/>
          <p:nvPr/>
        </p:nvSpPr>
        <p:spPr>
          <a:xfrm>
            <a:off x="1098317" y="1874190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73A70C0-B607-F95A-32E1-3BE1EA2FA293}"/>
              </a:ext>
            </a:extLst>
          </p:cNvPr>
          <p:cNvSpPr/>
          <p:nvPr/>
        </p:nvSpPr>
        <p:spPr>
          <a:xfrm>
            <a:off x="1121927" y="1743252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6318FEA-72C4-4819-D8CA-D12BC383A088}"/>
              </a:ext>
            </a:extLst>
          </p:cNvPr>
          <p:cNvSpPr/>
          <p:nvPr/>
        </p:nvSpPr>
        <p:spPr>
          <a:xfrm>
            <a:off x="1263596" y="1799061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29E2093-4423-CCA3-AC93-8C232B4FDC32}"/>
              </a:ext>
            </a:extLst>
          </p:cNvPr>
          <p:cNvSpPr/>
          <p:nvPr/>
        </p:nvSpPr>
        <p:spPr>
          <a:xfrm>
            <a:off x="1643527" y="1634262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82BF555-4A94-A062-F195-50FB2C44DE22}"/>
              </a:ext>
            </a:extLst>
          </p:cNvPr>
          <p:cNvSpPr/>
          <p:nvPr/>
        </p:nvSpPr>
        <p:spPr>
          <a:xfrm>
            <a:off x="1817388" y="1681007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B09EE7A-14C7-ECD9-6B41-D707F5777082}"/>
              </a:ext>
            </a:extLst>
          </p:cNvPr>
          <p:cNvSpPr/>
          <p:nvPr/>
        </p:nvSpPr>
        <p:spPr>
          <a:xfrm>
            <a:off x="1971938" y="1606374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3D5C37B-ECE3-19DB-B2B9-184EC082BCC8}"/>
              </a:ext>
            </a:extLst>
          </p:cNvPr>
          <p:cNvSpPr/>
          <p:nvPr/>
        </p:nvSpPr>
        <p:spPr>
          <a:xfrm>
            <a:off x="3305599" y="1773460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089AA74-1B5E-649F-8D08-E84CBB10C520}"/>
              </a:ext>
            </a:extLst>
          </p:cNvPr>
          <p:cNvSpPr/>
          <p:nvPr/>
        </p:nvSpPr>
        <p:spPr>
          <a:xfrm>
            <a:off x="3181103" y="1820204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63AEBD-348F-4548-D310-96B1DFC13A47}"/>
              </a:ext>
            </a:extLst>
          </p:cNvPr>
          <p:cNvSpPr/>
          <p:nvPr/>
        </p:nvSpPr>
        <p:spPr>
          <a:xfrm>
            <a:off x="3059511" y="1746608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85A8AEA-C7D6-3731-81EC-55568CAA51F7}"/>
              </a:ext>
            </a:extLst>
          </p:cNvPr>
          <p:cNvSpPr/>
          <p:nvPr/>
        </p:nvSpPr>
        <p:spPr>
          <a:xfrm>
            <a:off x="3579181" y="1643207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7072B6F-96D0-077F-EC4F-070B76EBEC6C}"/>
              </a:ext>
            </a:extLst>
          </p:cNvPr>
          <p:cNvSpPr/>
          <p:nvPr/>
        </p:nvSpPr>
        <p:spPr>
          <a:xfrm>
            <a:off x="3699380" y="1663099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6A903F3-D2DF-BF12-48BF-0D8208871FE2}"/>
              </a:ext>
            </a:extLst>
          </p:cNvPr>
          <p:cNvSpPr/>
          <p:nvPr/>
        </p:nvSpPr>
        <p:spPr>
          <a:xfrm>
            <a:off x="3813147" y="1616354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76" name="TextBox 1375">
            <a:extLst>
              <a:ext uri="{FF2B5EF4-FFF2-40B4-BE49-F238E27FC236}">
                <a16:creationId xmlns:a16="http://schemas.microsoft.com/office/drawing/2014/main" id="{DB005782-A045-2304-CDA6-31EF2D200C56}"/>
              </a:ext>
            </a:extLst>
          </p:cNvPr>
          <p:cNvSpPr txBox="1"/>
          <p:nvPr/>
        </p:nvSpPr>
        <p:spPr>
          <a:xfrm>
            <a:off x="1898954" y="3317410"/>
            <a:ext cx="284898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Each dot represents game in that profile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CB7ACF9-D192-7BC7-34E8-0EE32B9ED43D}"/>
              </a:ext>
            </a:extLst>
          </p:cNvPr>
          <p:cNvSpPr/>
          <p:nvPr/>
        </p:nvSpPr>
        <p:spPr>
          <a:xfrm>
            <a:off x="2091785" y="3389766"/>
            <a:ext cx="81566" cy="93489"/>
          </a:xfrm>
          <a:prstGeom prst="ellipse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77" name="Rectangle 1376">
            <a:extLst>
              <a:ext uri="{FF2B5EF4-FFF2-40B4-BE49-F238E27FC236}">
                <a16:creationId xmlns:a16="http://schemas.microsoft.com/office/drawing/2014/main" id="{D3A16185-12D4-D355-9508-B6937A4B3D7D}"/>
              </a:ext>
            </a:extLst>
          </p:cNvPr>
          <p:cNvSpPr/>
          <p:nvPr/>
        </p:nvSpPr>
        <p:spPr>
          <a:xfrm rot="16200000">
            <a:off x="-113649" y="2709382"/>
            <a:ext cx="1309612" cy="4065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78" name="TextBox 1377">
            <a:extLst>
              <a:ext uri="{FF2B5EF4-FFF2-40B4-BE49-F238E27FC236}">
                <a16:creationId xmlns:a16="http://schemas.microsoft.com/office/drawing/2014/main" id="{1BEA9614-EE9A-994B-5FDB-533BDA7C4D02}"/>
              </a:ext>
            </a:extLst>
          </p:cNvPr>
          <p:cNvSpPr txBox="1"/>
          <p:nvPr/>
        </p:nvSpPr>
        <p:spPr>
          <a:xfrm rot="16200000">
            <a:off x="-5257" y="2728822"/>
            <a:ext cx="1109597" cy="415498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IAP Supported Profiles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79" name="TextBox 1378">
            <a:extLst>
              <a:ext uri="{FF2B5EF4-FFF2-40B4-BE49-F238E27FC236}">
                <a16:creationId xmlns:a16="http://schemas.microsoft.com/office/drawing/2014/main" id="{21623187-F344-FE84-C91D-8CA0489682C8}"/>
              </a:ext>
            </a:extLst>
          </p:cNvPr>
          <p:cNvSpPr txBox="1"/>
          <p:nvPr/>
        </p:nvSpPr>
        <p:spPr>
          <a:xfrm>
            <a:off x="2931784" y="873251"/>
            <a:ext cx="1295716" cy="230832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Strong Antagonistic 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80" name="TextBox 1379">
            <a:extLst>
              <a:ext uri="{FF2B5EF4-FFF2-40B4-BE49-F238E27FC236}">
                <a16:creationId xmlns:a16="http://schemas.microsoft.com/office/drawing/2014/main" id="{A023B844-D525-23E2-BF3F-A51263F903D8}"/>
              </a:ext>
            </a:extLst>
          </p:cNvPr>
          <p:cNvSpPr txBox="1"/>
          <p:nvPr/>
        </p:nvSpPr>
        <p:spPr>
          <a:xfrm>
            <a:off x="1030331" y="2200765"/>
            <a:ext cx="1136932" cy="230832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Strong Synergic 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81" name="Oval 1380">
            <a:extLst>
              <a:ext uri="{FF2B5EF4-FFF2-40B4-BE49-F238E27FC236}">
                <a16:creationId xmlns:a16="http://schemas.microsoft.com/office/drawing/2014/main" id="{BDEA7AE7-FC76-A0D3-AF42-2A090B6F1F6B}"/>
              </a:ext>
            </a:extLst>
          </p:cNvPr>
          <p:cNvSpPr/>
          <p:nvPr/>
        </p:nvSpPr>
        <p:spPr>
          <a:xfrm>
            <a:off x="1566989" y="2566147"/>
            <a:ext cx="686798" cy="488599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82" name="Oval 1381">
            <a:extLst>
              <a:ext uri="{FF2B5EF4-FFF2-40B4-BE49-F238E27FC236}">
                <a16:creationId xmlns:a16="http://schemas.microsoft.com/office/drawing/2014/main" id="{5F10C17D-F0FB-9E1A-85C9-3DACEA36F212}"/>
              </a:ext>
            </a:extLst>
          </p:cNvPr>
          <p:cNvSpPr/>
          <p:nvPr/>
        </p:nvSpPr>
        <p:spPr>
          <a:xfrm>
            <a:off x="945917" y="2544452"/>
            <a:ext cx="452907" cy="451118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83" name="Oval 1382">
            <a:extLst>
              <a:ext uri="{FF2B5EF4-FFF2-40B4-BE49-F238E27FC236}">
                <a16:creationId xmlns:a16="http://schemas.microsoft.com/office/drawing/2014/main" id="{6902F31C-BE3F-FC76-1546-87C169E9E000}"/>
              </a:ext>
            </a:extLst>
          </p:cNvPr>
          <p:cNvSpPr/>
          <p:nvPr/>
        </p:nvSpPr>
        <p:spPr>
          <a:xfrm>
            <a:off x="1179883" y="2927041"/>
            <a:ext cx="584543" cy="556214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84" name="TextBox 1383">
            <a:extLst>
              <a:ext uri="{FF2B5EF4-FFF2-40B4-BE49-F238E27FC236}">
                <a16:creationId xmlns:a16="http://schemas.microsoft.com/office/drawing/2014/main" id="{0DFC92B0-8D24-AFE3-3952-FF5AE85ED54A}"/>
              </a:ext>
            </a:extLst>
          </p:cNvPr>
          <p:cNvSpPr txBox="1"/>
          <p:nvPr/>
        </p:nvSpPr>
        <p:spPr>
          <a:xfrm>
            <a:off x="859391" y="2544452"/>
            <a:ext cx="608843" cy="230832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RPG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85" name="TextBox 1384">
            <a:extLst>
              <a:ext uri="{FF2B5EF4-FFF2-40B4-BE49-F238E27FC236}">
                <a16:creationId xmlns:a16="http://schemas.microsoft.com/office/drawing/2014/main" id="{C4F149A2-798B-0562-7FFC-86FE7A13B11B}"/>
              </a:ext>
            </a:extLst>
          </p:cNvPr>
          <p:cNvSpPr txBox="1"/>
          <p:nvPr/>
        </p:nvSpPr>
        <p:spPr>
          <a:xfrm>
            <a:off x="1121927" y="2984077"/>
            <a:ext cx="725510" cy="230832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Strategy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86" name="TextBox 1385">
            <a:extLst>
              <a:ext uri="{FF2B5EF4-FFF2-40B4-BE49-F238E27FC236}">
                <a16:creationId xmlns:a16="http://schemas.microsoft.com/office/drawing/2014/main" id="{AE648D77-27BF-296F-3176-76D4E253C1A9}"/>
              </a:ext>
            </a:extLst>
          </p:cNvPr>
          <p:cNvSpPr txBox="1"/>
          <p:nvPr/>
        </p:nvSpPr>
        <p:spPr>
          <a:xfrm>
            <a:off x="1542638" y="2638607"/>
            <a:ext cx="781208" cy="230832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Simulation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87" name="Oval 1386">
            <a:extLst>
              <a:ext uri="{FF2B5EF4-FFF2-40B4-BE49-F238E27FC236}">
                <a16:creationId xmlns:a16="http://schemas.microsoft.com/office/drawing/2014/main" id="{26596C5C-4021-BA95-2699-DEC31E9F7E5E}"/>
              </a:ext>
            </a:extLst>
          </p:cNvPr>
          <p:cNvSpPr/>
          <p:nvPr/>
        </p:nvSpPr>
        <p:spPr>
          <a:xfrm>
            <a:off x="991056" y="2742624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88" name="Oval 1387">
            <a:extLst>
              <a:ext uri="{FF2B5EF4-FFF2-40B4-BE49-F238E27FC236}">
                <a16:creationId xmlns:a16="http://schemas.microsoft.com/office/drawing/2014/main" id="{00C1D865-D634-427E-9D9B-41A0552D0C0A}"/>
              </a:ext>
            </a:extLst>
          </p:cNvPr>
          <p:cNvSpPr/>
          <p:nvPr/>
        </p:nvSpPr>
        <p:spPr>
          <a:xfrm>
            <a:off x="1116941" y="2851614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89" name="Oval 1388">
            <a:extLst>
              <a:ext uri="{FF2B5EF4-FFF2-40B4-BE49-F238E27FC236}">
                <a16:creationId xmlns:a16="http://schemas.microsoft.com/office/drawing/2014/main" id="{63ACA0A7-1E34-F047-D8D2-D1C27F227C42}"/>
              </a:ext>
            </a:extLst>
          </p:cNvPr>
          <p:cNvSpPr/>
          <p:nvPr/>
        </p:nvSpPr>
        <p:spPr>
          <a:xfrm>
            <a:off x="1198507" y="2742624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90" name="Oval 1389">
            <a:extLst>
              <a:ext uri="{FF2B5EF4-FFF2-40B4-BE49-F238E27FC236}">
                <a16:creationId xmlns:a16="http://schemas.microsoft.com/office/drawing/2014/main" id="{B2EE69AC-F3C6-1AD1-82CF-9F7350E4BA1F}"/>
              </a:ext>
            </a:extLst>
          </p:cNvPr>
          <p:cNvSpPr/>
          <p:nvPr/>
        </p:nvSpPr>
        <p:spPr>
          <a:xfrm>
            <a:off x="1682860" y="2833552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91" name="Oval 1390">
            <a:extLst>
              <a:ext uri="{FF2B5EF4-FFF2-40B4-BE49-F238E27FC236}">
                <a16:creationId xmlns:a16="http://schemas.microsoft.com/office/drawing/2014/main" id="{D280F26B-992E-B071-BF36-BC1AA55D1FB7}"/>
              </a:ext>
            </a:extLst>
          </p:cNvPr>
          <p:cNvSpPr/>
          <p:nvPr/>
        </p:nvSpPr>
        <p:spPr>
          <a:xfrm>
            <a:off x="1792335" y="2874335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92" name="Oval 1391">
            <a:extLst>
              <a:ext uri="{FF2B5EF4-FFF2-40B4-BE49-F238E27FC236}">
                <a16:creationId xmlns:a16="http://schemas.microsoft.com/office/drawing/2014/main" id="{D2704CA2-4C33-287C-61C0-693BF25A4161}"/>
              </a:ext>
            </a:extLst>
          </p:cNvPr>
          <p:cNvSpPr/>
          <p:nvPr/>
        </p:nvSpPr>
        <p:spPr>
          <a:xfrm>
            <a:off x="1910388" y="2844284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93" name="Oval 1392">
            <a:extLst>
              <a:ext uri="{FF2B5EF4-FFF2-40B4-BE49-F238E27FC236}">
                <a16:creationId xmlns:a16="http://schemas.microsoft.com/office/drawing/2014/main" id="{080378D7-4EDB-FF92-4995-614B69446C96}"/>
              </a:ext>
            </a:extLst>
          </p:cNvPr>
          <p:cNvSpPr/>
          <p:nvPr/>
        </p:nvSpPr>
        <p:spPr>
          <a:xfrm>
            <a:off x="1323017" y="3205722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94" name="Oval 1393">
            <a:extLst>
              <a:ext uri="{FF2B5EF4-FFF2-40B4-BE49-F238E27FC236}">
                <a16:creationId xmlns:a16="http://schemas.microsoft.com/office/drawing/2014/main" id="{C9B39F08-06DB-897A-9973-223EF4BB9031}"/>
              </a:ext>
            </a:extLst>
          </p:cNvPr>
          <p:cNvSpPr/>
          <p:nvPr/>
        </p:nvSpPr>
        <p:spPr>
          <a:xfrm>
            <a:off x="1398824" y="3330070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95" name="Oval 1394">
            <a:extLst>
              <a:ext uri="{FF2B5EF4-FFF2-40B4-BE49-F238E27FC236}">
                <a16:creationId xmlns:a16="http://schemas.microsoft.com/office/drawing/2014/main" id="{472DC1F7-243C-F845-7863-B0A9F2E803E4}"/>
              </a:ext>
            </a:extLst>
          </p:cNvPr>
          <p:cNvSpPr/>
          <p:nvPr/>
        </p:nvSpPr>
        <p:spPr>
          <a:xfrm>
            <a:off x="1485423" y="3205722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96" name="TextBox 1395">
            <a:extLst>
              <a:ext uri="{FF2B5EF4-FFF2-40B4-BE49-F238E27FC236}">
                <a16:creationId xmlns:a16="http://schemas.microsoft.com/office/drawing/2014/main" id="{BBB4E80D-B6A3-B2B8-B674-7EBE568EC1B5}"/>
              </a:ext>
            </a:extLst>
          </p:cNvPr>
          <p:cNvSpPr txBox="1"/>
          <p:nvPr/>
        </p:nvSpPr>
        <p:spPr>
          <a:xfrm>
            <a:off x="2931784" y="2179300"/>
            <a:ext cx="1295716" cy="230832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Strong Antagonistic 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97" name="Oval 1396">
            <a:extLst>
              <a:ext uri="{FF2B5EF4-FFF2-40B4-BE49-F238E27FC236}">
                <a16:creationId xmlns:a16="http://schemas.microsoft.com/office/drawing/2014/main" id="{4025B339-6F5E-6A22-8DCE-FC450EC08524}"/>
              </a:ext>
            </a:extLst>
          </p:cNvPr>
          <p:cNvSpPr/>
          <p:nvPr/>
        </p:nvSpPr>
        <p:spPr>
          <a:xfrm>
            <a:off x="3619686" y="2544452"/>
            <a:ext cx="607814" cy="516022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1398" name="Oval 1397">
            <a:extLst>
              <a:ext uri="{FF2B5EF4-FFF2-40B4-BE49-F238E27FC236}">
                <a16:creationId xmlns:a16="http://schemas.microsoft.com/office/drawing/2014/main" id="{7EE64839-465E-3253-C0FC-21A870B80CAB}"/>
              </a:ext>
            </a:extLst>
          </p:cNvPr>
          <p:cNvSpPr/>
          <p:nvPr/>
        </p:nvSpPr>
        <p:spPr>
          <a:xfrm>
            <a:off x="3181103" y="2711143"/>
            <a:ext cx="479644" cy="541324"/>
          </a:xfrm>
          <a:prstGeom prst="ellips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99" name="TextBox 1398">
            <a:extLst>
              <a:ext uri="{FF2B5EF4-FFF2-40B4-BE49-F238E27FC236}">
                <a16:creationId xmlns:a16="http://schemas.microsoft.com/office/drawing/2014/main" id="{384376D2-5768-29E6-35E9-6371D851B573}"/>
              </a:ext>
            </a:extLst>
          </p:cNvPr>
          <p:cNvSpPr txBox="1"/>
          <p:nvPr/>
        </p:nvSpPr>
        <p:spPr>
          <a:xfrm>
            <a:off x="3104969" y="2843169"/>
            <a:ext cx="608843" cy="230832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Casual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00" name="TextBox 1399">
            <a:extLst>
              <a:ext uri="{FF2B5EF4-FFF2-40B4-BE49-F238E27FC236}">
                <a16:creationId xmlns:a16="http://schemas.microsoft.com/office/drawing/2014/main" id="{425A8CB9-D126-65C2-7597-C1E13D829A90}"/>
              </a:ext>
            </a:extLst>
          </p:cNvPr>
          <p:cNvSpPr txBox="1"/>
          <p:nvPr/>
        </p:nvSpPr>
        <p:spPr>
          <a:xfrm>
            <a:off x="3629029" y="2764738"/>
            <a:ext cx="608843" cy="230832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Puzzle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01" name="Oval 1400">
            <a:extLst>
              <a:ext uri="{FF2B5EF4-FFF2-40B4-BE49-F238E27FC236}">
                <a16:creationId xmlns:a16="http://schemas.microsoft.com/office/drawing/2014/main" id="{985CA446-6F64-505F-702B-B20F70EE5931}"/>
              </a:ext>
            </a:extLst>
          </p:cNvPr>
          <p:cNvSpPr/>
          <p:nvPr/>
        </p:nvSpPr>
        <p:spPr>
          <a:xfrm rot="806182">
            <a:off x="3380210" y="2772935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02" name="Oval 1401">
            <a:extLst>
              <a:ext uri="{FF2B5EF4-FFF2-40B4-BE49-F238E27FC236}">
                <a16:creationId xmlns:a16="http://schemas.microsoft.com/office/drawing/2014/main" id="{F18C9953-092A-884A-BB6C-A975FF3C4658}"/>
              </a:ext>
            </a:extLst>
          </p:cNvPr>
          <p:cNvSpPr/>
          <p:nvPr/>
        </p:nvSpPr>
        <p:spPr>
          <a:xfrm>
            <a:off x="3409391" y="3072640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03" name="Oval 1402">
            <a:extLst>
              <a:ext uri="{FF2B5EF4-FFF2-40B4-BE49-F238E27FC236}">
                <a16:creationId xmlns:a16="http://schemas.microsoft.com/office/drawing/2014/main" id="{06A0CDA1-ABE4-D69B-0B29-616DBC3D97B2}"/>
              </a:ext>
            </a:extLst>
          </p:cNvPr>
          <p:cNvSpPr/>
          <p:nvPr/>
        </p:nvSpPr>
        <p:spPr>
          <a:xfrm>
            <a:off x="4045502" y="2632612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04" name="Oval 1403">
            <a:extLst>
              <a:ext uri="{FF2B5EF4-FFF2-40B4-BE49-F238E27FC236}">
                <a16:creationId xmlns:a16="http://schemas.microsoft.com/office/drawing/2014/main" id="{91F20089-E4A6-0995-AD61-2C47C3284999}"/>
              </a:ext>
            </a:extLst>
          </p:cNvPr>
          <p:cNvSpPr/>
          <p:nvPr/>
        </p:nvSpPr>
        <p:spPr>
          <a:xfrm>
            <a:off x="3897340" y="2618066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05" name="Oval 1404">
            <a:extLst>
              <a:ext uri="{FF2B5EF4-FFF2-40B4-BE49-F238E27FC236}">
                <a16:creationId xmlns:a16="http://schemas.microsoft.com/office/drawing/2014/main" id="{36E42744-4656-D6E3-4E91-C8209A7B3A83}"/>
              </a:ext>
            </a:extLst>
          </p:cNvPr>
          <p:cNvSpPr/>
          <p:nvPr/>
        </p:nvSpPr>
        <p:spPr>
          <a:xfrm>
            <a:off x="3738504" y="2679357"/>
            <a:ext cx="81566" cy="9348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1406" name="Straight Connector 1405">
            <a:extLst>
              <a:ext uri="{FF2B5EF4-FFF2-40B4-BE49-F238E27FC236}">
                <a16:creationId xmlns:a16="http://schemas.microsoft.com/office/drawing/2014/main" id="{D5F485D0-8711-410F-C34B-6F9B2244A2C9}"/>
              </a:ext>
            </a:extLst>
          </p:cNvPr>
          <p:cNvCxnSpPr>
            <a:cxnSpLocks/>
          </p:cNvCxnSpPr>
          <p:nvPr/>
        </p:nvCxnSpPr>
        <p:spPr>
          <a:xfrm>
            <a:off x="2516295" y="972545"/>
            <a:ext cx="0" cy="23630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1" name="Straight Connector 1410">
            <a:extLst>
              <a:ext uri="{FF2B5EF4-FFF2-40B4-BE49-F238E27FC236}">
                <a16:creationId xmlns:a16="http://schemas.microsoft.com/office/drawing/2014/main" id="{51A9CE2F-9A19-CC6B-6B39-7ACA688F6565}"/>
              </a:ext>
            </a:extLst>
          </p:cNvPr>
          <p:cNvCxnSpPr>
            <a:cxnSpLocks/>
          </p:cNvCxnSpPr>
          <p:nvPr/>
        </p:nvCxnSpPr>
        <p:spPr>
          <a:xfrm>
            <a:off x="862204" y="2106970"/>
            <a:ext cx="34708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2" name="Left Brace 1411">
            <a:extLst>
              <a:ext uri="{FF2B5EF4-FFF2-40B4-BE49-F238E27FC236}">
                <a16:creationId xmlns:a16="http://schemas.microsoft.com/office/drawing/2014/main" id="{76AECFBD-BEB8-EF25-66DC-836C8B1FE74F}"/>
              </a:ext>
            </a:extLst>
          </p:cNvPr>
          <p:cNvSpPr/>
          <p:nvPr/>
        </p:nvSpPr>
        <p:spPr>
          <a:xfrm rot="10800000">
            <a:off x="4479223" y="1839847"/>
            <a:ext cx="156727" cy="1583784"/>
          </a:xfrm>
          <a:prstGeom prst="leftBrace">
            <a:avLst>
              <a:gd name="adj1" fmla="val 8333"/>
              <a:gd name="adj2" fmla="val 52063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13" name="Rectangle 1412">
            <a:extLst>
              <a:ext uri="{FF2B5EF4-FFF2-40B4-BE49-F238E27FC236}">
                <a16:creationId xmlns:a16="http://schemas.microsoft.com/office/drawing/2014/main" id="{9EC6F668-138C-8DFE-4BA2-9617D28645AC}"/>
              </a:ext>
            </a:extLst>
          </p:cNvPr>
          <p:cNvSpPr/>
          <p:nvPr/>
        </p:nvSpPr>
        <p:spPr>
          <a:xfrm>
            <a:off x="4692200" y="758102"/>
            <a:ext cx="3629864" cy="2809342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14" name="Rectangle 1413">
            <a:extLst>
              <a:ext uri="{FF2B5EF4-FFF2-40B4-BE49-F238E27FC236}">
                <a16:creationId xmlns:a16="http://schemas.microsoft.com/office/drawing/2014/main" id="{5B73FBCE-2505-21DA-53E6-E2FA59E291A1}"/>
              </a:ext>
            </a:extLst>
          </p:cNvPr>
          <p:cNvSpPr/>
          <p:nvPr/>
        </p:nvSpPr>
        <p:spPr>
          <a:xfrm>
            <a:off x="4692200" y="757632"/>
            <a:ext cx="3629864" cy="4435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15" name="TextBox 1414">
            <a:extLst>
              <a:ext uri="{FF2B5EF4-FFF2-40B4-BE49-F238E27FC236}">
                <a16:creationId xmlns:a16="http://schemas.microsoft.com/office/drawing/2014/main" id="{5BFC3DB0-92CA-5920-EFCF-4D01B0C39A04}"/>
              </a:ext>
            </a:extLst>
          </p:cNvPr>
          <p:cNvSpPr txBox="1"/>
          <p:nvPr/>
        </p:nvSpPr>
        <p:spPr>
          <a:xfrm>
            <a:off x="4788849" y="785718"/>
            <a:ext cx="3513731" cy="253916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</a:rPr>
              <a:t>Analyze Each Game to Characterize Gameplay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18" name="Left Brace 1417">
            <a:extLst>
              <a:ext uri="{FF2B5EF4-FFF2-40B4-BE49-F238E27FC236}">
                <a16:creationId xmlns:a16="http://schemas.microsoft.com/office/drawing/2014/main" id="{2A5B448E-188E-755F-0E5E-E43E09B7C44A}"/>
              </a:ext>
            </a:extLst>
          </p:cNvPr>
          <p:cNvSpPr/>
          <p:nvPr/>
        </p:nvSpPr>
        <p:spPr>
          <a:xfrm rot="10800000">
            <a:off x="7076904" y="1479866"/>
            <a:ext cx="158160" cy="723854"/>
          </a:xfrm>
          <a:prstGeom prst="leftBrace">
            <a:avLst>
              <a:gd name="adj1" fmla="val 8333"/>
              <a:gd name="adj2" fmla="val 52063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19" name="TextBox 1418">
            <a:extLst>
              <a:ext uri="{FF2B5EF4-FFF2-40B4-BE49-F238E27FC236}">
                <a16:creationId xmlns:a16="http://schemas.microsoft.com/office/drawing/2014/main" id="{7C5D44B1-7CDF-3197-8AE4-CF5D7A6F1102}"/>
              </a:ext>
            </a:extLst>
          </p:cNvPr>
          <p:cNvSpPr txBox="1"/>
          <p:nvPr/>
        </p:nvSpPr>
        <p:spPr>
          <a:xfrm>
            <a:off x="7327737" y="1505713"/>
            <a:ext cx="9748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…. </a:t>
            </a:r>
          </a:p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Within each profile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455" name="Picture 1454">
            <a:extLst>
              <a:ext uri="{FF2B5EF4-FFF2-40B4-BE49-F238E27FC236}">
                <a16:creationId xmlns:a16="http://schemas.microsoft.com/office/drawing/2014/main" id="{2ABD0BDE-0321-1286-D0BF-522E94F8B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849" y="1319325"/>
            <a:ext cx="2288055" cy="1062276"/>
          </a:xfrm>
          <a:prstGeom prst="rect">
            <a:avLst/>
          </a:prstGeom>
        </p:spPr>
      </p:pic>
      <p:pic>
        <p:nvPicPr>
          <p:cNvPr id="1457" name="Picture 1456">
            <a:extLst>
              <a:ext uri="{FF2B5EF4-FFF2-40B4-BE49-F238E27FC236}">
                <a16:creationId xmlns:a16="http://schemas.microsoft.com/office/drawing/2014/main" id="{8E638F8A-3689-BF63-3839-25AB2DC1EF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16" r="2518"/>
          <a:stretch/>
        </p:blipFill>
        <p:spPr>
          <a:xfrm>
            <a:off x="8384147" y="972545"/>
            <a:ext cx="2674184" cy="1203164"/>
          </a:xfrm>
          <a:prstGeom prst="rect">
            <a:avLst/>
          </a:prstGeom>
        </p:spPr>
      </p:pic>
      <p:sp>
        <p:nvSpPr>
          <p:cNvPr id="1458" name="Rectangle 1457">
            <a:extLst>
              <a:ext uri="{FF2B5EF4-FFF2-40B4-BE49-F238E27FC236}">
                <a16:creationId xmlns:a16="http://schemas.microsoft.com/office/drawing/2014/main" id="{06A76AD4-4EA3-D10F-DE35-ABC1EAB65492}"/>
              </a:ext>
            </a:extLst>
          </p:cNvPr>
          <p:cNvSpPr/>
          <p:nvPr/>
        </p:nvSpPr>
        <p:spPr>
          <a:xfrm rot="10800000">
            <a:off x="4851027" y="2711144"/>
            <a:ext cx="3378564" cy="7124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459" name="TextBox 1458">
            <a:extLst>
              <a:ext uri="{FF2B5EF4-FFF2-40B4-BE49-F238E27FC236}">
                <a16:creationId xmlns:a16="http://schemas.microsoft.com/office/drawing/2014/main" id="{A7E89BD4-20E5-A759-C15F-5A0E62D54F20}"/>
              </a:ext>
            </a:extLst>
          </p:cNvPr>
          <p:cNvSpPr txBox="1"/>
          <p:nvPr/>
        </p:nvSpPr>
        <p:spPr>
          <a:xfrm>
            <a:off x="4855335" y="2711555"/>
            <a:ext cx="14209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Extract Gameplay Info: </a:t>
            </a:r>
            <a:endParaRPr lang="fi-FI" sz="90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60" name="TextBox 1459">
            <a:extLst>
              <a:ext uri="{FF2B5EF4-FFF2-40B4-BE49-F238E27FC236}">
                <a16:creationId xmlns:a16="http://schemas.microsoft.com/office/drawing/2014/main" id="{F0C07859-175F-AEC7-BE0C-9B7D92F1A6E6}"/>
              </a:ext>
            </a:extLst>
          </p:cNvPr>
          <p:cNvSpPr txBox="1"/>
          <p:nvPr/>
        </p:nvSpPr>
        <p:spPr>
          <a:xfrm>
            <a:off x="4893961" y="2892011"/>
            <a:ext cx="3335630" cy="507831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r>
              <a:rPr lang="en-US" sz="900" dirty="0">
                <a:latin typeface="Segoe UI Variable Small Semibol" pitchFamily="2" charset="0"/>
              </a:rPr>
              <a:t>i. Organization of Play (</a:t>
            </a:r>
            <a:r>
              <a:rPr lang="fi-FI" sz="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What</a:t>
            </a:r>
            <a:r>
              <a:rPr lang="fi-FI" sz="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the </a:t>
            </a:r>
            <a:r>
              <a:rPr lang="fi-FI" sz="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player</a:t>
            </a:r>
            <a:r>
              <a:rPr lang="fi-FI" sz="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i-FI" sz="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does</a:t>
            </a:r>
            <a:r>
              <a:rPr lang="fi-FI" sz="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  <a:endParaRPr lang="en-US" sz="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fi-FI" sz="900" dirty="0">
                <a:latin typeface="Segoe UI Variable Small Semibol" pitchFamily="2" charset="0"/>
              </a:rPr>
              <a:t>ii. Progression &amp; Persistence (</a:t>
            </a:r>
            <a:r>
              <a:rPr lang="en-US" sz="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What develops or carries forward))</a:t>
            </a:r>
          </a:p>
          <a:p>
            <a:r>
              <a:rPr lang="fi-FI" sz="900" dirty="0">
                <a:latin typeface="Segoe UI Variable Small Semibol" pitchFamily="2" charset="0"/>
              </a:rPr>
              <a:t>iii. </a:t>
            </a:r>
            <a:r>
              <a:rPr lang="fi-FI" sz="900" dirty="0" err="1">
                <a:latin typeface="Segoe UI Variable Small Semibol" pitchFamily="2" charset="0"/>
              </a:rPr>
              <a:t>Overall</a:t>
            </a:r>
            <a:r>
              <a:rPr lang="fi-FI" sz="900" dirty="0">
                <a:latin typeface="Segoe UI Variable Small Semibol" pitchFamily="2" charset="0"/>
              </a:rPr>
              <a:t> </a:t>
            </a:r>
            <a:r>
              <a:rPr lang="fi-FI" sz="900" dirty="0" err="1">
                <a:latin typeface="Segoe UI Variable Small Semibol" pitchFamily="2" charset="0"/>
              </a:rPr>
              <a:t>Form</a:t>
            </a:r>
            <a:r>
              <a:rPr lang="fi-FI" sz="900" dirty="0">
                <a:latin typeface="Segoe UI Variable Small Semibol" pitchFamily="2" charset="0"/>
              </a:rPr>
              <a:t> of Play (</a:t>
            </a:r>
            <a:r>
              <a:rPr lang="en-US" sz="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How these elements operate together)</a:t>
            </a:r>
            <a:endParaRPr lang="fi-FI" sz="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1461" name="Connector: Elbow 1460">
            <a:extLst>
              <a:ext uri="{FF2B5EF4-FFF2-40B4-BE49-F238E27FC236}">
                <a16:creationId xmlns:a16="http://schemas.microsoft.com/office/drawing/2014/main" id="{CF34B25E-EFE8-3F17-0A78-8B489A947111}"/>
              </a:ext>
            </a:extLst>
          </p:cNvPr>
          <p:cNvCxnSpPr>
            <a:cxnSpLocks/>
            <a:stCxn id="1419" idx="2"/>
            <a:endCxn id="1459" idx="0"/>
          </p:cNvCxnSpPr>
          <p:nvPr/>
        </p:nvCxnSpPr>
        <p:spPr>
          <a:xfrm rot="5400000">
            <a:off x="6341485" y="1237880"/>
            <a:ext cx="698011" cy="2249338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5" name="Connector: Elbow 1464">
            <a:extLst>
              <a:ext uri="{FF2B5EF4-FFF2-40B4-BE49-F238E27FC236}">
                <a16:creationId xmlns:a16="http://schemas.microsoft.com/office/drawing/2014/main" id="{3E09EFA9-13B9-D465-F403-21C75DFBA011}"/>
              </a:ext>
            </a:extLst>
          </p:cNvPr>
          <p:cNvCxnSpPr>
            <a:cxnSpLocks/>
            <a:endCxn id="1457" idx="2"/>
          </p:cNvCxnSpPr>
          <p:nvPr/>
        </p:nvCxnSpPr>
        <p:spPr>
          <a:xfrm flipV="1">
            <a:off x="8229591" y="2175709"/>
            <a:ext cx="1491648" cy="657843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69" name="TextBox 1468">
            <a:extLst>
              <a:ext uri="{FF2B5EF4-FFF2-40B4-BE49-F238E27FC236}">
                <a16:creationId xmlns:a16="http://schemas.microsoft.com/office/drawing/2014/main" id="{20541FEA-628C-14C6-D74B-79012F748E47}"/>
              </a:ext>
            </a:extLst>
          </p:cNvPr>
          <p:cNvSpPr txBox="1"/>
          <p:nvPr/>
        </p:nvSpPr>
        <p:spPr>
          <a:xfrm>
            <a:off x="8354095" y="3017222"/>
            <a:ext cx="2734288" cy="55399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Output 4: Synthesis of Recurring Characteristics</a:t>
            </a:r>
          </a:p>
          <a:p>
            <a:pPr algn="ctr"/>
            <a:r>
              <a:rPr lang="en-US" sz="1000" b="1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(Genre – to – Gameplay)</a:t>
            </a:r>
          </a:p>
        </p:txBody>
      </p:sp>
      <p:sp>
        <p:nvSpPr>
          <p:cNvPr id="1605" name="Rectangle 1604">
            <a:extLst>
              <a:ext uri="{FF2B5EF4-FFF2-40B4-BE49-F238E27FC236}">
                <a16:creationId xmlns:a16="http://schemas.microsoft.com/office/drawing/2014/main" id="{23A7EF2B-48FD-805F-CF0D-CFB705107A8C}"/>
              </a:ext>
            </a:extLst>
          </p:cNvPr>
          <p:cNvSpPr/>
          <p:nvPr/>
        </p:nvSpPr>
        <p:spPr>
          <a:xfrm>
            <a:off x="172874" y="200044"/>
            <a:ext cx="781979" cy="3900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Stage 4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1606" name="Arrow: Down 1605">
            <a:extLst>
              <a:ext uri="{FF2B5EF4-FFF2-40B4-BE49-F238E27FC236}">
                <a16:creationId xmlns:a16="http://schemas.microsoft.com/office/drawing/2014/main" id="{6D3EFFE4-531E-CA93-CFEC-3406A856744D}"/>
              </a:ext>
            </a:extLst>
          </p:cNvPr>
          <p:cNvSpPr/>
          <p:nvPr/>
        </p:nvSpPr>
        <p:spPr>
          <a:xfrm>
            <a:off x="10805063" y="3661890"/>
            <a:ext cx="192252" cy="248991"/>
          </a:xfrm>
          <a:prstGeom prst="down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607" name="Rectangle 1606">
            <a:extLst>
              <a:ext uri="{FF2B5EF4-FFF2-40B4-BE49-F238E27FC236}">
                <a16:creationId xmlns:a16="http://schemas.microsoft.com/office/drawing/2014/main" id="{65EBF44B-4184-443C-99C3-EBACDCD6C9E4}"/>
              </a:ext>
            </a:extLst>
          </p:cNvPr>
          <p:cNvSpPr/>
          <p:nvPr/>
        </p:nvSpPr>
        <p:spPr>
          <a:xfrm>
            <a:off x="3190063" y="4865629"/>
            <a:ext cx="1516916" cy="448017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608" name="Rectangle 1607">
            <a:extLst>
              <a:ext uri="{FF2B5EF4-FFF2-40B4-BE49-F238E27FC236}">
                <a16:creationId xmlns:a16="http://schemas.microsoft.com/office/drawing/2014/main" id="{CAABD6E5-E632-9067-8226-9783AACF5F60}"/>
              </a:ext>
            </a:extLst>
          </p:cNvPr>
          <p:cNvSpPr/>
          <p:nvPr/>
        </p:nvSpPr>
        <p:spPr>
          <a:xfrm>
            <a:off x="248306" y="3947233"/>
            <a:ext cx="10934168" cy="285710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609" name="TextBox 1608">
            <a:extLst>
              <a:ext uri="{FF2B5EF4-FFF2-40B4-BE49-F238E27FC236}">
                <a16:creationId xmlns:a16="http://schemas.microsoft.com/office/drawing/2014/main" id="{0EDAC5BB-28D9-A520-1104-26170C60AF74}"/>
              </a:ext>
            </a:extLst>
          </p:cNvPr>
          <p:cNvSpPr txBox="1"/>
          <p:nvPr/>
        </p:nvSpPr>
        <p:spPr>
          <a:xfrm>
            <a:off x="248306" y="3947491"/>
            <a:ext cx="10934168" cy="3077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Whitney-Semibold" panose="02000603040000020004" pitchFamily="2" charset="0"/>
              </a:rPr>
              <a:t>                                           What national characteristics are associated with cross-market variations?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1610" name="Rectangle 1609">
            <a:extLst>
              <a:ext uri="{FF2B5EF4-FFF2-40B4-BE49-F238E27FC236}">
                <a16:creationId xmlns:a16="http://schemas.microsoft.com/office/drawing/2014/main" id="{541A2134-7BFE-6573-3498-612BE9F368A6}"/>
              </a:ext>
            </a:extLst>
          </p:cNvPr>
          <p:cNvSpPr/>
          <p:nvPr/>
        </p:nvSpPr>
        <p:spPr>
          <a:xfrm>
            <a:off x="1112590" y="4328442"/>
            <a:ext cx="1661840" cy="1376901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611" name="Rectangle 1610">
            <a:extLst>
              <a:ext uri="{FF2B5EF4-FFF2-40B4-BE49-F238E27FC236}">
                <a16:creationId xmlns:a16="http://schemas.microsoft.com/office/drawing/2014/main" id="{A9CB1E71-17F6-5C2A-38D8-8B2BF5A69D6D}"/>
              </a:ext>
            </a:extLst>
          </p:cNvPr>
          <p:cNvSpPr/>
          <p:nvPr/>
        </p:nvSpPr>
        <p:spPr>
          <a:xfrm>
            <a:off x="1108298" y="4328442"/>
            <a:ext cx="1666132" cy="2882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612" name="TextBox 1611">
            <a:extLst>
              <a:ext uri="{FF2B5EF4-FFF2-40B4-BE49-F238E27FC236}">
                <a16:creationId xmlns:a16="http://schemas.microsoft.com/office/drawing/2014/main" id="{696ACC9B-6B51-B72B-23A4-55CCB1D39827}"/>
              </a:ext>
            </a:extLst>
          </p:cNvPr>
          <p:cNvSpPr txBox="1"/>
          <p:nvPr/>
        </p:nvSpPr>
        <p:spPr>
          <a:xfrm>
            <a:off x="1104007" y="4345613"/>
            <a:ext cx="1661837" cy="253916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Country Interaction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13" name="Rectangle 1612">
            <a:extLst>
              <a:ext uri="{FF2B5EF4-FFF2-40B4-BE49-F238E27FC236}">
                <a16:creationId xmlns:a16="http://schemas.microsoft.com/office/drawing/2014/main" id="{607DB6B0-7068-5558-3D6B-0D7525C0E318}"/>
              </a:ext>
            </a:extLst>
          </p:cNvPr>
          <p:cNvSpPr/>
          <p:nvPr/>
        </p:nvSpPr>
        <p:spPr>
          <a:xfrm>
            <a:off x="1125470" y="5978201"/>
            <a:ext cx="1657546" cy="783209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614" name="Rectangle 1613">
            <a:extLst>
              <a:ext uri="{FF2B5EF4-FFF2-40B4-BE49-F238E27FC236}">
                <a16:creationId xmlns:a16="http://schemas.microsoft.com/office/drawing/2014/main" id="{273B4965-638B-78F1-C9AB-71EA8D13519B}"/>
              </a:ext>
            </a:extLst>
          </p:cNvPr>
          <p:cNvSpPr/>
          <p:nvPr/>
        </p:nvSpPr>
        <p:spPr>
          <a:xfrm>
            <a:off x="1129764" y="5978202"/>
            <a:ext cx="1661837" cy="2852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615" name="TextBox 1614">
            <a:extLst>
              <a:ext uri="{FF2B5EF4-FFF2-40B4-BE49-F238E27FC236}">
                <a16:creationId xmlns:a16="http://schemas.microsoft.com/office/drawing/2014/main" id="{A78787DB-F046-48E8-A5C7-34249B962B87}"/>
              </a:ext>
            </a:extLst>
          </p:cNvPr>
          <p:cNvSpPr txBox="1"/>
          <p:nvPr/>
        </p:nvSpPr>
        <p:spPr>
          <a:xfrm>
            <a:off x="1134055" y="5978201"/>
            <a:ext cx="1657546" cy="253916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</a:rPr>
              <a:t>National Indicators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616" name="Picture 1615">
            <a:extLst>
              <a:ext uri="{FF2B5EF4-FFF2-40B4-BE49-F238E27FC236}">
                <a16:creationId xmlns:a16="http://schemas.microsoft.com/office/drawing/2014/main" id="{848AA013-44BC-6FAE-D170-464CB128B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5277" y="5407705"/>
            <a:ext cx="1362370" cy="963628"/>
          </a:xfrm>
          <a:prstGeom prst="rect">
            <a:avLst/>
          </a:prstGeom>
        </p:spPr>
      </p:pic>
      <p:sp>
        <p:nvSpPr>
          <p:cNvPr id="1617" name="Left Brace 1616">
            <a:extLst>
              <a:ext uri="{FF2B5EF4-FFF2-40B4-BE49-F238E27FC236}">
                <a16:creationId xmlns:a16="http://schemas.microsoft.com/office/drawing/2014/main" id="{B830ADE8-DD66-3AF4-2C6C-C783191289BC}"/>
              </a:ext>
            </a:extLst>
          </p:cNvPr>
          <p:cNvSpPr/>
          <p:nvPr/>
        </p:nvSpPr>
        <p:spPr>
          <a:xfrm rot="10800000">
            <a:off x="2848584" y="4769622"/>
            <a:ext cx="240428" cy="1493806"/>
          </a:xfrm>
          <a:prstGeom prst="leftBrace">
            <a:avLst>
              <a:gd name="adj1" fmla="val 8333"/>
              <a:gd name="adj2" fmla="val 52063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1618" name="Picture 1617">
            <a:extLst>
              <a:ext uri="{FF2B5EF4-FFF2-40B4-BE49-F238E27FC236}">
                <a16:creationId xmlns:a16="http://schemas.microsoft.com/office/drawing/2014/main" id="{A1211A5B-F873-1362-3CA8-50227C126F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220" y="6362520"/>
            <a:ext cx="1488801" cy="328954"/>
          </a:xfrm>
          <a:prstGeom prst="rect">
            <a:avLst/>
          </a:prstGeom>
        </p:spPr>
      </p:pic>
      <p:sp>
        <p:nvSpPr>
          <p:cNvPr id="1619" name="TextBox 1618">
            <a:extLst>
              <a:ext uri="{FF2B5EF4-FFF2-40B4-BE49-F238E27FC236}">
                <a16:creationId xmlns:a16="http://schemas.microsoft.com/office/drawing/2014/main" id="{88025915-30A1-5EF1-3F2B-1E786FD8739A}"/>
              </a:ext>
            </a:extLst>
          </p:cNvPr>
          <p:cNvSpPr txBox="1"/>
          <p:nvPr/>
        </p:nvSpPr>
        <p:spPr>
          <a:xfrm>
            <a:off x="3089012" y="4898148"/>
            <a:ext cx="17317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</a:rPr>
              <a:t>Benjamini–Hochberg FDR correction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20" name="TextBox 1619">
            <a:extLst>
              <a:ext uri="{FF2B5EF4-FFF2-40B4-BE49-F238E27FC236}">
                <a16:creationId xmlns:a16="http://schemas.microsoft.com/office/drawing/2014/main" id="{3A1CF76A-038C-3D98-EC74-D2812FAAAD45}"/>
              </a:ext>
            </a:extLst>
          </p:cNvPr>
          <p:cNvSpPr txBox="1"/>
          <p:nvPr/>
        </p:nvSpPr>
        <p:spPr>
          <a:xfrm>
            <a:off x="3230339" y="6427772"/>
            <a:ext cx="14918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1050" dirty="0">
                <a:latin typeface="Segoe UI Variable Small Semibol" pitchFamily="2" charset="0"/>
              </a:rPr>
              <a:t>Significance: q&lt;0.05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21" name="Rectangle 1620">
            <a:extLst>
              <a:ext uri="{FF2B5EF4-FFF2-40B4-BE49-F238E27FC236}">
                <a16:creationId xmlns:a16="http://schemas.microsoft.com/office/drawing/2014/main" id="{14EBFCA6-EF6E-6E05-8E54-0769FF71BA25}"/>
              </a:ext>
            </a:extLst>
          </p:cNvPr>
          <p:cNvSpPr/>
          <p:nvPr/>
        </p:nvSpPr>
        <p:spPr>
          <a:xfrm>
            <a:off x="3230339" y="6453021"/>
            <a:ext cx="1536742" cy="220155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622" name="Rectangle 1621">
            <a:extLst>
              <a:ext uri="{FF2B5EF4-FFF2-40B4-BE49-F238E27FC236}">
                <a16:creationId xmlns:a16="http://schemas.microsoft.com/office/drawing/2014/main" id="{F6555B37-62FF-692F-D6C8-B8733F2A3145}"/>
              </a:ext>
            </a:extLst>
          </p:cNvPr>
          <p:cNvSpPr/>
          <p:nvPr/>
        </p:nvSpPr>
        <p:spPr>
          <a:xfrm>
            <a:off x="3148636" y="4342240"/>
            <a:ext cx="1672076" cy="4017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623" name="TextBox 1622">
            <a:extLst>
              <a:ext uri="{FF2B5EF4-FFF2-40B4-BE49-F238E27FC236}">
                <a16:creationId xmlns:a16="http://schemas.microsoft.com/office/drawing/2014/main" id="{6C791087-CF4F-E335-A50F-42C5C6BE4A90}"/>
              </a:ext>
            </a:extLst>
          </p:cNvPr>
          <p:cNvSpPr txBox="1"/>
          <p:nvPr/>
        </p:nvSpPr>
        <p:spPr>
          <a:xfrm>
            <a:off x="3089012" y="4328449"/>
            <a:ext cx="1672076" cy="415498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egoe UI Variable Small Semibol" pitchFamily="2" charset="0"/>
              </a:rPr>
              <a:t>Spearman’s rank correlation (ρ)</a:t>
            </a:r>
            <a:endParaRPr lang="fi-FI" sz="1050" dirty="0">
              <a:latin typeface="Segoe UI Variable Small Semibol" pitchFamily="2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24" name="Rectangle 1623">
            <a:extLst>
              <a:ext uri="{FF2B5EF4-FFF2-40B4-BE49-F238E27FC236}">
                <a16:creationId xmlns:a16="http://schemas.microsoft.com/office/drawing/2014/main" id="{7C5F6430-6E05-2D7D-CC6B-5E5542C2BA88}"/>
              </a:ext>
            </a:extLst>
          </p:cNvPr>
          <p:cNvSpPr/>
          <p:nvPr/>
        </p:nvSpPr>
        <p:spPr>
          <a:xfrm>
            <a:off x="3148636" y="4342239"/>
            <a:ext cx="1672076" cy="2397706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1625" name="Picture 1624">
            <a:extLst>
              <a:ext uri="{FF2B5EF4-FFF2-40B4-BE49-F238E27FC236}">
                <a16:creationId xmlns:a16="http://schemas.microsoft.com/office/drawing/2014/main" id="{CB2FA2C5-B048-B1C3-FDA1-C0944A13595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55" r="2011"/>
          <a:stretch/>
        </p:blipFill>
        <p:spPr>
          <a:xfrm>
            <a:off x="5399648" y="4345613"/>
            <a:ext cx="3157468" cy="1919785"/>
          </a:xfrm>
          <a:prstGeom prst="rect">
            <a:avLst/>
          </a:prstGeom>
        </p:spPr>
      </p:pic>
      <p:pic>
        <p:nvPicPr>
          <p:cNvPr id="1626" name="Picture 1625">
            <a:extLst>
              <a:ext uri="{FF2B5EF4-FFF2-40B4-BE49-F238E27FC236}">
                <a16:creationId xmlns:a16="http://schemas.microsoft.com/office/drawing/2014/main" id="{BFBDAB19-428E-3E4D-BB28-4FE303EFE1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6885" y="4634931"/>
            <a:ext cx="1648959" cy="1018896"/>
          </a:xfrm>
          <a:prstGeom prst="rect">
            <a:avLst/>
          </a:prstGeom>
        </p:spPr>
      </p:pic>
      <p:cxnSp>
        <p:nvCxnSpPr>
          <p:cNvPr id="1627" name="Connector: Elbow 1626">
            <a:extLst>
              <a:ext uri="{FF2B5EF4-FFF2-40B4-BE49-F238E27FC236}">
                <a16:creationId xmlns:a16="http://schemas.microsoft.com/office/drawing/2014/main" id="{C6F7B2C2-CA89-4BC6-9733-88BC5799FC5B}"/>
              </a:ext>
            </a:extLst>
          </p:cNvPr>
          <p:cNvCxnSpPr>
            <a:cxnSpLocks/>
            <a:stCxn id="1621" idx="3"/>
            <a:endCxn id="1625" idx="2"/>
          </p:cNvCxnSpPr>
          <p:nvPr/>
        </p:nvCxnSpPr>
        <p:spPr>
          <a:xfrm flipV="1">
            <a:off x="4767081" y="6265398"/>
            <a:ext cx="2211301" cy="297701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8" name="Rectangle 1627">
            <a:extLst>
              <a:ext uri="{FF2B5EF4-FFF2-40B4-BE49-F238E27FC236}">
                <a16:creationId xmlns:a16="http://schemas.microsoft.com/office/drawing/2014/main" id="{B9727150-95DA-FB02-41A7-644C96C264D1}"/>
              </a:ext>
            </a:extLst>
          </p:cNvPr>
          <p:cNvSpPr/>
          <p:nvPr/>
        </p:nvSpPr>
        <p:spPr>
          <a:xfrm>
            <a:off x="172874" y="3865267"/>
            <a:ext cx="781979" cy="3900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Whitney-Semibold" panose="02000603040000020004" pitchFamily="2" charset="0"/>
              </a:rPr>
              <a:t>Stage 5</a:t>
            </a:r>
            <a:endParaRPr lang="fi-FI" sz="1400" dirty="0">
              <a:latin typeface="Whitney-Semibold" panose="02000603040000020004" pitchFamily="2" charset="0"/>
            </a:endParaRPr>
          </a:p>
        </p:txBody>
      </p:sp>
      <p:sp>
        <p:nvSpPr>
          <p:cNvPr id="1629" name="TextBox 1628">
            <a:extLst>
              <a:ext uri="{FF2B5EF4-FFF2-40B4-BE49-F238E27FC236}">
                <a16:creationId xmlns:a16="http://schemas.microsoft.com/office/drawing/2014/main" id="{79EAA721-BA38-AC2E-3E68-4646A3FA2B39}"/>
              </a:ext>
            </a:extLst>
          </p:cNvPr>
          <p:cNvSpPr txBox="1"/>
          <p:nvPr/>
        </p:nvSpPr>
        <p:spPr>
          <a:xfrm>
            <a:off x="8634989" y="6361300"/>
            <a:ext cx="2524259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Output 5: National – Context</a:t>
            </a:r>
          </a:p>
          <a:p>
            <a:pPr algn="ctr"/>
            <a:r>
              <a:rPr lang="en-US" sz="1000" b="1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patterns of monetization interaction</a:t>
            </a:r>
          </a:p>
        </p:txBody>
      </p:sp>
      <p:sp>
        <p:nvSpPr>
          <p:cNvPr id="1630" name="Arrow: Down 1629">
            <a:extLst>
              <a:ext uri="{FF2B5EF4-FFF2-40B4-BE49-F238E27FC236}">
                <a16:creationId xmlns:a16="http://schemas.microsoft.com/office/drawing/2014/main" id="{2804AFF5-A0F3-F6B2-8DE4-E6DFEA9A7CF6}"/>
              </a:ext>
            </a:extLst>
          </p:cNvPr>
          <p:cNvSpPr/>
          <p:nvPr/>
        </p:nvSpPr>
        <p:spPr>
          <a:xfrm>
            <a:off x="10782355" y="34344"/>
            <a:ext cx="192252" cy="248991"/>
          </a:xfrm>
          <a:prstGeom prst="down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13381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8700</TotalTime>
  <Words>2497</Words>
  <Application>Microsoft Office PowerPoint</Application>
  <PresentationFormat>Widescreen</PresentationFormat>
  <Paragraphs>443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Arial</vt:lpstr>
      <vt:lpstr>Calibri</vt:lpstr>
      <vt:lpstr>Microsoft Sans Serif</vt:lpstr>
      <vt:lpstr>Segoe UI Variable Small Semibol</vt:lpstr>
      <vt:lpstr>Whitney-Semibold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Raheela Chand</cp:lastModifiedBy>
  <cp:revision>441</cp:revision>
  <dcterms:created xsi:type="dcterms:W3CDTF">2013-01-27T09:14:16Z</dcterms:created>
  <dcterms:modified xsi:type="dcterms:W3CDTF">2026-09-25T12:59:18Z</dcterms:modified>
  <cp:category/>
</cp:coreProperties>
</file>